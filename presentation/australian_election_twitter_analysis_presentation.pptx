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0"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4" r:id="rId29"/>
    <p:sldId id="285" r:id="rId30"/>
    <p:sldId id="286" r:id="rId31"/>
    <p:sldId id="287" r:id="rId32"/>
    <p:sldId id="288" r:id="rId33"/>
    <p:sldId id="289" r:id="rId34"/>
    <p:sldId id="290" r:id="rId35"/>
    <p:sldId id="291" r:id="rId36"/>
    <p:sldId id="292" r:id="rId37"/>
    <p:sldId id="293" r:id="rId38"/>
    <p:sldId id="294" r:id="rId39"/>
    <p:sldId id="296" r:id="rId40"/>
    <p:sldId id="305" r:id="rId41"/>
    <p:sldId id="306" r:id="rId42"/>
    <p:sldId id="307" r:id="rId43"/>
    <p:sldId id="308" r:id="rId44"/>
    <p:sldId id="303" r:id="rId45"/>
    <p:sldId id="304" r:id="rId46"/>
    <p:sldId id="302" r:id="rId47"/>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E4A231A-A65A-4421-94C1-2A1DC2CE3528}">
  <a:tblStyle styleId="{8E4A231A-A65A-4421-94C1-2A1DC2CE352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9" d="100"/>
          <a:sy n="119" d="100"/>
        </p:scale>
        <p:origin x="418"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
        <p:cNvGrpSpPr/>
        <p:nvPr/>
      </p:nvGrpSpPr>
      <p:grpSpPr>
        <a:xfrm>
          <a:off x="0" y="0"/>
          <a:ext cx="0" cy="0"/>
          <a:chOff x="0" y="0"/>
          <a:chExt cx="0" cy="0"/>
        </a:xfrm>
      </p:grpSpPr>
      <p:sp>
        <p:nvSpPr>
          <p:cNvPr id="14" name="Google Shape;1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 name="Google Shape;1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 name="Google Shape;16;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
        <p:cNvGrpSpPr/>
        <p:nvPr/>
      </p:nvGrpSpPr>
      <p:grpSpPr>
        <a:xfrm>
          <a:off x="0" y="0"/>
          <a:ext cx="0" cy="0"/>
          <a:chOff x="0" y="0"/>
          <a:chExt cx="0" cy="0"/>
        </a:xfrm>
      </p:grpSpPr>
      <p:sp>
        <p:nvSpPr>
          <p:cNvPr id="27" name="Google Shape;2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 name="Google Shape;28;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9" name="Google Shape;29;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 name="Google Shape;7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d87a27f94c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 name="Google Shape;90;g3d87a27f94c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g3d87a27f94c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d87a27f94c_0_2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g3d87a27f94c_0_20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g3d87a27f94c_0_20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2" name="Google Shape;182;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9" name="Google Shape;329;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0" name="Google Shape;330;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6" name="Google Shape;386;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7" name="Google Shape;387;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8" name="Google Shape;408;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9" name="Google Shape;409;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8" name="Google Shape;418;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9" name="Google Shape;419;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3d87a27f94c_0_2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3" name="Google Shape;433;g3d87a27f94c_0_2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34" name="Google Shape;434;g3d87a27f94c_0_27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7" name="Google Shape;447;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8" name="Google Shape;448;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3" name="Google Shape;463;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4" name="Google Shape;464;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4" name="Google Shape;47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5" name="Google Shape;475;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8" name="Google Shape;498;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9" name="Google Shape;499;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7" name="Google Shape;507;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8" name="Google Shape;508;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5" name="Google Shape;535;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6" name="Google Shape;536;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4" name="Google Shape;554;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5" name="Google Shape;555;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6" name="Google Shape;586;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7" name="Google Shape;587;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5" name="Google Shape;595;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96" name="Google Shape;596;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1" name="Google Shape;611;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12" name="Google Shape;612;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3" name="Google Shape;623;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4" name="Google Shape;624;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3" name="Google Shape;633;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34" name="Google Shape;634;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5" name="Google Shape;655;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56" name="Google Shape;656;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1" name="Google Shape;691;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92" name="Google Shape;692;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3d87a27f94c_0_3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1" name="Google Shape;711;g3d87a27f94c_0_3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12" name="Google Shape;712;g3d87a27f94c_0_36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g3d87a27f94c_0_3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6" name="Google Shape;726;g3d87a27f94c_0_38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27" name="Google Shape;727;g3d87a27f94c_0_38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9" name="Google Shape;739;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0" name="Google Shape;740;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9" name="Google Shape;749;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0" name="Google Shape;750;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6" name="Google Shape;786;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7" name="Google Shape;787;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0" name="Google Shape;800;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1" name="Google Shape;801;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g3d87a27f94c_0_4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0" name="Google Shape;810;g3d87a27f94c_0_4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1" name="Google Shape;811;g3d87a27f94c_0_4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g3d87a27f94c_0_4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9" name="Google Shape;819;g3d87a27f94c_0_4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0" name="Google Shape;820;g3d87a27f94c_0_4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8" name="Google Shape;828;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29" name="Google Shape;829;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5"/>
        <p:cNvGrpSpPr/>
        <p:nvPr/>
      </p:nvGrpSpPr>
      <p:grpSpPr>
        <a:xfrm>
          <a:off x="0" y="0"/>
          <a:ext cx="0" cy="0"/>
          <a:chOff x="0" y="0"/>
          <a:chExt cx="0" cy="0"/>
        </a:xfrm>
      </p:grpSpPr>
      <p:sp>
        <p:nvSpPr>
          <p:cNvPr id="836" name="Google Shape;836;g3d87a27f94c_0_4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7" name="Google Shape;837;g3d87a27f94c_0_4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8" name="Google Shape;838;g3d87a27f94c_0_4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g3d87a27f94c_0_4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5" name="Google Shape;855;g3d87a27f94c_0_4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6" name="Google Shape;856;g3d87a27f94c_0_45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a:extLst>
            <a:ext uri="{FF2B5EF4-FFF2-40B4-BE49-F238E27FC236}">
              <a16:creationId xmlns:a16="http://schemas.microsoft.com/office/drawing/2014/main" id="{DEB64F8B-C0DC-BDCF-2E55-B0BB59160143}"/>
            </a:ext>
          </a:extLst>
        </p:cNvPr>
        <p:cNvGrpSpPr/>
        <p:nvPr/>
      </p:nvGrpSpPr>
      <p:grpSpPr>
        <a:xfrm>
          <a:off x="0" y="0"/>
          <a:ext cx="0" cy="0"/>
          <a:chOff x="0" y="0"/>
          <a:chExt cx="0" cy="0"/>
        </a:xfrm>
      </p:grpSpPr>
      <p:sp>
        <p:nvSpPr>
          <p:cNvPr id="854" name="Google Shape;854;g3d87a27f94c_0_451:notes">
            <a:extLst>
              <a:ext uri="{FF2B5EF4-FFF2-40B4-BE49-F238E27FC236}">
                <a16:creationId xmlns:a16="http://schemas.microsoft.com/office/drawing/2014/main" id="{81D85441-9C45-DDB2-9760-6B778B76005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5" name="Google Shape;855;g3d87a27f94c_0_451:notes">
            <a:extLst>
              <a:ext uri="{FF2B5EF4-FFF2-40B4-BE49-F238E27FC236}">
                <a16:creationId xmlns:a16="http://schemas.microsoft.com/office/drawing/2014/main" id="{18BB6CAF-24FF-3A3A-30C6-789EA788B149}"/>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6" name="Google Shape;856;g3d87a27f94c_0_451:notes">
            <a:extLst>
              <a:ext uri="{FF2B5EF4-FFF2-40B4-BE49-F238E27FC236}">
                <a16:creationId xmlns:a16="http://schemas.microsoft.com/office/drawing/2014/main" id="{4B550481-B6D1-ED33-2175-D214A3FB96CC}"/>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extLst>
      <p:ext uri="{BB962C8B-B14F-4D97-AF65-F5344CB8AC3E}">
        <p14:creationId xmlns:p14="http://schemas.microsoft.com/office/powerpoint/2010/main" val="21522898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a:extLst>
            <a:ext uri="{FF2B5EF4-FFF2-40B4-BE49-F238E27FC236}">
              <a16:creationId xmlns:a16="http://schemas.microsoft.com/office/drawing/2014/main" id="{0565203F-068F-C125-A45B-E4AD00075D6B}"/>
            </a:ext>
          </a:extLst>
        </p:cNvPr>
        <p:cNvGrpSpPr/>
        <p:nvPr/>
      </p:nvGrpSpPr>
      <p:grpSpPr>
        <a:xfrm>
          <a:off x="0" y="0"/>
          <a:ext cx="0" cy="0"/>
          <a:chOff x="0" y="0"/>
          <a:chExt cx="0" cy="0"/>
        </a:xfrm>
      </p:grpSpPr>
      <p:sp>
        <p:nvSpPr>
          <p:cNvPr id="854" name="Google Shape;854;g3d87a27f94c_0_451:notes">
            <a:extLst>
              <a:ext uri="{FF2B5EF4-FFF2-40B4-BE49-F238E27FC236}">
                <a16:creationId xmlns:a16="http://schemas.microsoft.com/office/drawing/2014/main" id="{CC17D009-5CA6-7984-CA54-232F4F7696B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5" name="Google Shape;855;g3d87a27f94c_0_451:notes">
            <a:extLst>
              <a:ext uri="{FF2B5EF4-FFF2-40B4-BE49-F238E27FC236}">
                <a16:creationId xmlns:a16="http://schemas.microsoft.com/office/drawing/2014/main" id="{6C1248E4-3E3A-6635-4B0D-B24405A449F2}"/>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6" name="Google Shape;856;g3d87a27f94c_0_451:notes">
            <a:extLst>
              <a:ext uri="{FF2B5EF4-FFF2-40B4-BE49-F238E27FC236}">
                <a16:creationId xmlns:a16="http://schemas.microsoft.com/office/drawing/2014/main" id="{091B70D9-7B0E-25E3-3DDC-A116B793BBC7}"/>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extLst>
      <p:ext uri="{BB962C8B-B14F-4D97-AF65-F5344CB8AC3E}">
        <p14:creationId xmlns:p14="http://schemas.microsoft.com/office/powerpoint/2010/main" val="26778686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a:extLst>
            <a:ext uri="{FF2B5EF4-FFF2-40B4-BE49-F238E27FC236}">
              <a16:creationId xmlns:a16="http://schemas.microsoft.com/office/drawing/2014/main" id="{84BCAB5F-2D25-EEFE-FD56-E0C378928170}"/>
            </a:ext>
          </a:extLst>
        </p:cNvPr>
        <p:cNvGrpSpPr/>
        <p:nvPr/>
      </p:nvGrpSpPr>
      <p:grpSpPr>
        <a:xfrm>
          <a:off x="0" y="0"/>
          <a:ext cx="0" cy="0"/>
          <a:chOff x="0" y="0"/>
          <a:chExt cx="0" cy="0"/>
        </a:xfrm>
      </p:grpSpPr>
      <p:sp>
        <p:nvSpPr>
          <p:cNvPr id="854" name="Google Shape;854;g3d87a27f94c_0_451:notes">
            <a:extLst>
              <a:ext uri="{FF2B5EF4-FFF2-40B4-BE49-F238E27FC236}">
                <a16:creationId xmlns:a16="http://schemas.microsoft.com/office/drawing/2014/main" id="{7715D81E-85BE-402F-257E-9F15EC6AE4F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5" name="Google Shape;855;g3d87a27f94c_0_451:notes">
            <a:extLst>
              <a:ext uri="{FF2B5EF4-FFF2-40B4-BE49-F238E27FC236}">
                <a16:creationId xmlns:a16="http://schemas.microsoft.com/office/drawing/2014/main" id="{97F26904-AAFB-8F40-7668-C87662E90780}"/>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6" name="Google Shape;856;g3d87a27f94c_0_451:notes">
            <a:extLst>
              <a:ext uri="{FF2B5EF4-FFF2-40B4-BE49-F238E27FC236}">
                <a16:creationId xmlns:a16="http://schemas.microsoft.com/office/drawing/2014/main" id="{36EFBDF6-4870-95E5-F433-45CCB586D80F}"/>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a:p>
        </p:txBody>
      </p:sp>
    </p:spTree>
    <p:extLst>
      <p:ext uri="{BB962C8B-B14F-4D97-AF65-F5344CB8AC3E}">
        <p14:creationId xmlns:p14="http://schemas.microsoft.com/office/powerpoint/2010/main" val="84447456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a:extLst>
            <a:ext uri="{FF2B5EF4-FFF2-40B4-BE49-F238E27FC236}">
              <a16:creationId xmlns:a16="http://schemas.microsoft.com/office/drawing/2014/main" id="{70EB7A28-1AB7-13D7-87A2-DE7D6F535FC9}"/>
            </a:ext>
          </a:extLst>
        </p:cNvPr>
        <p:cNvGrpSpPr/>
        <p:nvPr/>
      </p:nvGrpSpPr>
      <p:grpSpPr>
        <a:xfrm>
          <a:off x="0" y="0"/>
          <a:ext cx="0" cy="0"/>
          <a:chOff x="0" y="0"/>
          <a:chExt cx="0" cy="0"/>
        </a:xfrm>
      </p:grpSpPr>
      <p:sp>
        <p:nvSpPr>
          <p:cNvPr id="854" name="Google Shape;854;g3d87a27f94c_0_451:notes">
            <a:extLst>
              <a:ext uri="{FF2B5EF4-FFF2-40B4-BE49-F238E27FC236}">
                <a16:creationId xmlns:a16="http://schemas.microsoft.com/office/drawing/2014/main" id="{91694573-7A0D-66ED-84CC-5CCF9C3281C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5" name="Google Shape;855;g3d87a27f94c_0_451:notes">
            <a:extLst>
              <a:ext uri="{FF2B5EF4-FFF2-40B4-BE49-F238E27FC236}">
                <a16:creationId xmlns:a16="http://schemas.microsoft.com/office/drawing/2014/main" id="{E307D83D-192C-3709-2061-8ECB49C7E138}"/>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6" name="Google Shape;856;g3d87a27f94c_0_451:notes">
            <a:extLst>
              <a:ext uri="{FF2B5EF4-FFF2-40B4-BE49-F238E27FC236}">
                <a16:creationId xmlns:a16="http://schemas.microsoft.com/office/drawing/2014/main" id="{FE8CED58-15B7-2F03-8DE1-D3D765A11614}"/>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43</a:t>
            </a:fld>
            <a:endParaRPr/>
          </a:p>
        </p:txBody>
      </p:sp>
    </p:spTree>
    <p:extLst>
      <p:ext uri="{BB962C8B-B14F-4D97-AF65-F5344CB8AC3E}">
        <p14:creationId xmlns:p14="http://schemas.microsoft.com/office/powerpoint/2010/main" val="26127418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8"/>
        <p:cNvGrpSpPr/>
        <p:nvPr/>
      </p:nvGrpSpPr>
      <p:grpSpPr>
        <a:xfrm>
          <a:off x="0" y="0"/>
          <a:ext cx="0" cy="0"/>
          <a:chOff x="0" y="0"/>
          <a:chExt cx="0" cy="0"/>
        </a:xfrm>
      </p:grpSpPr>
      <p:sp>
        <p:nvSpPr>
          <p:cNvPr id="1059" name="Google Shape;1059;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0" name="Google Shape;1060;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1" name="Google Shape;1061;p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3"/>
          <p:cNvSpPr txBox="1">
            <a:spLocks noGrp="1"/>
          </p:cNvSpPr>
          <p:nvPr>
            <p:ph type="sldNum" idx="12"/>
          </p:nvPr>
        </p:nvSpPr>
        <p:spPr>
          <a:xfrm>
            <a:off x="8472458" y="4663217"/>
            <a:ext cx="548700" cy="393600"/>
          </a:xfrm>
          <a:prstGeom prst="rect">
            <a:avLst/>
          </a:prstGeom>
          <a:noFill/>
          <a:ln>
            <a:noFill/>
          </a:ln>
        </p:spPr>
        <p:txBody>
          <a:bodyPr spcFirstLastPara="1" wrap="square" lIns="68575" tIns="68575" rIns="68575" bIns="68575" anchor="ctr" anchorCtr="0">
            <a:noAutofit/>
          </a:bodyPr>
          <a:lstStyle>
            <a:lvl1pPr lvl="0">
              <a:buNone/>
              <a:defRPr sz="1100"/>
            </a:lvl1pPr>
            <a:lvl2pPr lvl="1">
              <a:buNone/>
              <a:defRPr sz="1100"/>
            </a:lvl2pPr>
            <a:lvl3pPr lvl="2">
              <a:buNone/>
              <a:defRPr sz="1100"/>
            </a:lvl3pPr>
            <a:lvl4pPr lvl="3">
              <a:buNone/>
              <a:defRPr sz="1100"/>
            </a:lvl4pPr>
            <a:lvl5pPr lvl="4">
              <a:buNone/>
              <a:defRPr sz="1100"/>
            </a:lvl5pPr>
            <a:lvl6pPr lvl="5">
              <a:buNone/>
              <a:defRPr sz="1100"/>
            </a:lvl6pPr>
            <a:lvl7pPr lvl="6">
              <a:buNone/>
              <a:defRPr sz="1100"/>
            </a:lvl7pPr>
            <a:lvl8pPr lvl="7">
              <a:buNone/>
              <a:defRPr sz="1100"/>
            </a:lvl8pPr>
            <a:lvl9pPr lvl="8">
              <a:buNone/>
              <a:defRPr sz="1100"/>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4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4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image" Target="../media/image44.png"/></Relationships>
</file>

<file path=ppt/slides/_rels/slide44.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 Id="rId9" Type="http://schemas.openxmlformats.org/officeDocument/2006/relationships/image" Target="../media/image52.png"/></Relationships>
</file>

<file path=ppt/slides/_rels/slide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17"/>
        <p:cNvGrpSpPr/>
        <p:nvPr/>
      </p:nvGrpSpPr>
      <p:grpSpPr>
        <a:xfrm>
          <a:off x="0" y="0"/>
          <a:ext cx="0" cy="0"/>
          <a:chOff x="0" y="0"/>
          <a:chExt cx="0" cy="0"/>
        </a:xfrm>
      </p:grpSpPr>
      <p:sp>
        <p:nvSpPr>
          <p:cNvPr id="18" name="Google Shape;18;p4"/>
          <p:cNvSpPr/>
          <p:nvPr/>
        </p:nvSpPr>
        <p:spPr>
          <a:xfrm>
            <a:off x="5669280" y="-914400"/>
            <a:ext cx="5029200" cy="5029200"/>
          </a:xfrm>
          <a:prstGeom prst="ellipse">
            <a:avLst/>
          </a:prstGeom>
          <a:solidFill>
            <a:srgbClr val="0077A8">
              <a:alpha val="14117"/>
            </a:srgbClr>
          </a:solidFill>
          <a:ln w="12700" cap="flat" cmpd="sng">
            <a:solidFill>
              <a:srgbClr val="0077A8">
                <a:alpha val="14117"/>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4"/>
          <p:cNvSpPr/>
          <p:nvPr/>
        </p:nvSpPr>
        <p:spPr>
          <a:xfrm>
            <a:off x="-1371600" y="2560320"/>
            <a:ext cx="3657600" cy="3657600"/>
          </a:xfrm>
          <a:prstGeom prst="ellipse">
            <a:avLst/>
          </a:prstGeom>
          <a:solidFill>
            <a:srgbClr val="00C2D4">
              <a:alpha val="7843"/>
            </a:srgbClr>
          </a:solidFill>
          <a:ln w="12700" cap="flat" cmpd="sng">
            <a:solidFill>
              <a:srgbClr val="00C2D4">
                <a:alpha val="784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p:nvPr/>
        </p:nvSpPr>
        <p:spPr>
          <a:xfrm>
            <a:off x="548640" y="1371600"/>
            <a:ext cx="82296" cy="2377440"/>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p:nvPr/>
        </p:nvSpPr>
        <p:spPr>
          <a:xfrm>
            <a:off x="749808" y="1280160"/>
            <a:ext cx="6858000" cy="69494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3300"/>
              <a:buFont typeface="Calibri"/>
              <a:buNone/>
            </a:pPr>
            <a:r>
              <a:rPr lang="en-US" sz="3300" b="1" i="0" u="none" strike="noStrike" cap="none">
                <a:solidFill>
                  <a:srgbClr val="FFFFFF"/>
                </a:solidFill>
                <a:latin typeface="Calibri"/>
                <a:ea typeface="Calibri"/>
                <a:cs typeface="Calibri"/>
                <a:sym typeface="Calibri"/>
              </a:rPr>
              <a:t>Australian Election 2019</a:t>
            </a:r>
            <a:endParaRPr sz="3300" b="0" i="0" u="none" strike="noStrike" cap="none">
              <a:solidFill>
                <a:schemeClr val="dk1"/>
              </a:solidFill>
              <a:latin typeface="Calibri"/>
              <a:ea typeface="Calibri"/>
              <a:cs typeface="Calibri"/>
              <a:sym typeface="Calibri"/>
            </a:endParaRPr>
          </a:p>
        </p:txBody>
      </p:sp>
      <p:sp>
        <p:nvSpPr>
          <p:cNvPr id="22" name="Google Shape;22;p4"/>
          <p:cNvSpPr/>
          <p:nvPr/>
        </p:nvSpPr>
        <p:spPr>
          <a:xfrm>
            <a:off x="749808" y="1938528"/>
            <a:ext cx="6858000" cy="69494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2D4"/>
              </a:buClr>
              <a:buSzPts val="3300"/>
              <a:buFont typeface="Calibri"/>
              <a:buNone/>
            </a:pPr>
            <a:r>
              <a:rPr lang="en-US" sz="3300" b="0" i="0" u="none" strike="noStrike" cap="none">
                <a:solidFill>
                  <a:srgbClr val="00C2D4"/>
                </a:solidFill>
                <a:latin typeface="Calibri"/>
                <a:ea typeface="Calibri"/>
                <a:cs typeface="Calibri"/>
                <a:sym typeface="Calibri"/>
              </a:rPr>
              <a:t>Tweets Analysis</a:t>
            </a:r>
            <a:endParaRPr sz="3300" b="0" i="0" u="none" strike="noStrike" cap="none">
              <a:solidFill>
                <a:schemeClr val="dk1"/>
              </a:solidFill>
              <a:latin typeface="Calibri"/>
              <a:ea typeface="Calibri"/>
              <a:cs typeface="Calibri"/>
              <a:sym typeface="Calibri"/>
            </a:endParaRPr>
          </a:p>
        </p:txBody>
      </p:sp>
      <p:sp>
        <p:nvSpPr>
          <p:cNvPr id="23" name="Google Shape;23;p4"/>
          <p:cNvSpPr/>
          <p:nvPr/>
        </p:nvSpPr>
        <p:spPr>
          <a:xfrm>
            <a:off x="749808" y="2743200"/>
            <a:ext cx="6858000" cy="38404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90AA"/>
              </a:buClr>
              <a:buSzPts val="1300"/>
              <a:buFont typeface="Calibri"/>
              <a:buNone/>
            </a:pPr>
            <a:r>
              <a:rPr lang="en-US" sz="1300" b="0" i="1" u="none" strike="noStrike" cap="none" dirty="0">
                <a:solidFill>
                  <a:srgbClr val="6B90AA"/>
                </a:solidFill>
                <a:latin typeface="Calibri"/>
                <a:ea typeface="Calibri"/>
                <a:cs typeface="Calibri"/>
                <a:sym typeface="Calibri"/>
              </a:rPr>
              <a:t>OPIM 5671 — Data Mining &amp; Time Series Forecasting</a:t>
            </a:r>
            <a:endParaRPr sz="1300" b="0" i="0" u="none" strike="noStrike" cap="none" dirty="0">
              <a:solidFill>
                <a:schemeClr val="dk1"/>
              </a:solidFill>
              <a:latin typeface="Calibri"/>
              <a:ea typeface="Calibri"/>
              <a:cs typeface="Calibri"/>
              <a:sym typeface="Calibri"/>
            </a:endParaRPr>
          </a:p>
        </p:txBody>
      </p:sp>
      <p:sp>
        <p:nvSpPr>
          <p:cNvPr id="24" name="Google Shape;24;p4"/>
          <p:cNvSpPr/>
          <p:nvPr/>
        </p:nvSpPr>
        <p:spPr>
          <a:xfrm>
            <a:off x="749808" y="3200400"/>
            <a:ext cx="5486400" cy="32004"/>
          </a:xfrm>
          <a:prstGeom prst="rect">
            <a:avLst/>
          </a:prstGeom>
          <a:solidFill>
            <a:srgbClr val="0077A8"/>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4"/>
          <p:cNvSpPr/>
          <p:nvPr/>
        </p:nvSpPr>
        <p:spPr>
          <a:xfrm>
            <a:off x="749808" y="3291840"/>
            <a:ext cx="6858000" cy="32918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90AA"/>
              </a:buClr>
              <a:buSzPts val="1100"/>
              <a:buFont typeface="Calibri"/>
              <a:buNone/>
            </a:pPr>
            <a:r>
              <a:rPr lang="en-US" sz="1100" b="0" i="0" u="none" strike="noStrike" cap="none" dirty="0">
                <a:solidFill>
                  <a:srgbClr val="6B90AA"/>
                </a:solidFill>
                <a:latin typeface="Calibri"/>
                <a:ea typeface="Calibri"/>
                <a:cs typeface="Calibri"/>
                <a:sym typeface="Calibri"/>
              </a:rPr>
              <a:t>Group 1|  Spring 2026</a:t>
            </a:r>
            <a:endParaRPr sz="11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30"/>
        <p:cNvGrpSpPr/>
        <p:nvPr/>
      </p:nvGrpSpPr>
      <p:grpSpPr>
        <a:xfrm>
          <a:off x="0" y="0"/>
          <a:ext cx="0" cy="0"/>
          <a:chOff x="0" y="0"/>
          <a:chExt cx="0" cy="0"/>
        </a:xfrm>
      </p:grpSpPr>
      <p:sp>
        <p:nvSpPr>
          <p:cNvPr id="31" name="Google Shape;31;p5"/>
          <p:cNvSpPr/>
          <p:nvPr/>
        </p:nvSpPr>
        <p:spPr>
          <a:xfrm>
            <a:off x="0" y="0"/>
            <a:ext cx="9144000" cy="621792"/>
          </a:xfrm>
          <a:prstGeom prst="rect">
            <a:avLst/>
          </a:prstGeom>
          <a:solidFill>
            <a:srgbClr val="112236"/>
          </a:solidFill>
          <a:ln w="12700" cap="flat" cmpd="sng">
            <a:solidFill>
              <a:srgbClr val="1122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5"/>
          <p:cNvSpPr/>
          <p:nvPr/>
        </p:nvSpPr>
        <p:spPr>
          <a:xfrm>
            <a:off x="0" y="0"/>
            <a:ext cx="128016" cy="621792"/>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5"/>
          <p:cNvSpPr/>
          <p:nvPr/>
        </p:nvSpPr>
        <p:spPr>
          <a:xfrm>
            <a:off x="219456" y="0"/>
            <a:ext cx="877824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TABLE OF CONTENTS</a:t>
            </a:r>
            <a:endParaRPr sz="2000" b="0" i="0" u="none" strike="noStrike" cap="none">
              <a:solidFill>
                <a:schemeClr val="dk1"/>
              </a:solidFill>
              <a:latin typeface="Calibri"/>
              <a:ea typeface="Calibri"/>
              <a:cs typeface="Calibri"/>
              <a:sym typeface="Calibri"/>
            </a:endParaRPr>
          </a:p>
        </p:txBody>
      </p:sp>
      <p:sp>
        <p:nvSpPr>
          <p:cNvPr id="34" name="Google Shape;34;p5"/>
          <p:cNvSpPr/>
          <p:nvPr/>
        </p:nvSpPr>
        <p:spPr>
          <a:xfrm>
            <a:off x="274320" y="749808"/>
            <a:ext cx="4297680" cy="749808"/>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a:off x="274320" y="749808"/>
            <a:ext cx="502920" cy="749808"/>
          </a:xfrm>
          <a:prstGeom prst="rect">
            <a:avLst/>
          </a:prstGeom>
          <a:solidFill>
            <a:srgbClr val="6B90AA"/>
          </a:solidFill>
          <a:ln w="12700" cap="flat" cmpd="sng">
            <a:solidFill>
              <a:srgbClr val="6B90A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5"/>
          <p:cNvSpPr/>
          <p:nvPr/>
        </p:nvSpPr>
        <p:spPr>
          <a:xfrm>
            <a:off x="274320" y="749808"/>
            <a:ext cx="502920" cy="74980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400"/>
              <a:buFont typeface="Calibri"/>
              <a:buNone/>
            </a:pPr>
            <a:endParaRPr sz="1400" b="0" i="0" u="none" strike="noStrike" cap="none" dirty="0">
              <a:solidFill>
                <a:schemeClr val="dk1"/>
              </a:solidFill>
              <a:latin typeface="Calibri"/>
              <a:ea typeface="Calibri"/>
              <a:cs typeface="Calibri"/>
              <a:sym typeface="Calibri"/>
            </a:endParaRPr>
          </a:p>
        </p:txBody>
      </p:sp>
      <p:sp>
        <p:nvSpPr>
          <p:cNvPr id="37" name="Google Shape;37;p5"/>
          <p:cNvSpPr/>
          <p:nvPr/>
        </p:nvSpPr>
        <p:spPr>
          <a:xfrm>
            <a:off x="868680" y="969264"/>
            <a:ext cx="3566160" cy="34747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Quick Overview</a:t>
            </a:r>
            <a:endParaRPr sz="1200" b="1">
              <a:solidFill>
                <a:srgbClr val="FFFFFF"/>
              </a:solidFill>
              <a:latin typeface="Calibri"/>
              <a:ea typeface="Calibri"/>
              <a:cs typeface="Calibri"/>
              <a:sym typeface="Calibri"/>
            </a:endParaRPr>
          </a:p>
        </p:txBody>
      </p:sp>
      <p:sp>
        <p:nvSpPr>
          <p:cNvPr id="38" name="Google Shape;38;p5"/>
          <p:cNvSpPr/>
          <p:nvPr/>
        </p:nvSpPr>
        <p:spPr>
          <a:xfrm>
            <a:off x="274320" y="1591056"/>
            <a:ext cx="4297680" cy="749808"/>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5"/>
          <p:cNvSpPr/>
          <p:nvPr/>
        </p:nvSpPr>
        <p:spPr>
          <a:xfrm>
            <a:off x="274320" y="1591056"/>
            <a:ext cx="502920" cy="749808"/>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5"/>
          <p:cNvSpPr/>
          <p:nvPr/>
        </p:nvSpPr>
        <p:spPr>
          <a:xfrm>
            <a:off x="274320" y="1591056"/>
            <a:ext cx="502920" cy="74980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400"/>
              <a:buFont typeface="Calibri"/>
              <a:buNone/>
            </a:pPr>
            <a:endParaRPr sz="1400" b="0" i="0" u="none" strike="noStrike" cap="none" dirty="0">
              <a:solidFill>
                <a:schemeClr val="dk1"/>
              </a:solidFill>
              <a:latin typeface="Calibri"/>
              <a:ea typeface="Calibri"/>
              <a:cs typeface="Calibri"/>
              <a:sym typeface="Calibri"/>
            </a:endParaRPr>
          </a:p>
        </p:txBody>
      </p:sp>
      <p:sp>
        <p:nvSpPr>
          <p:cNvPr id="41" name="Google Shape;41;p5"/>
          <p:cNvSpPr/>
          <p:nvPr/>
        </p:nvSpPr>
        <p:spPr>
          <a:xfrm>
            <a:off x="868680" y="1810512"/>
            <a:ext cx="3566160" cy="34747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dirty="0">
                <a:solidFill>
                  <a:srgbClr val="FFFFFF"/>
                </a:solidFill>
                <a:latin typeface="Calibri"/>
                <a:ea typeface="Calibri"/>
                <a:cs typeface="Calibri"/>
                <a:sym typeface="Calibri"/>
              </a:rPr>
              <a:t>Data Processing</a:t>
            </a:r>
            <a:endParaRPr sz="1200" b="0" i="0" u="none" strike="noStrike" cap="none" dirty="0">
              <a:solidFill>
                <a:schemeClr val="dk1"/>
              </a:solidFill>
              <a:latin typeface="Calibri"/>
              <a:ea typeface="Calibri"/>
              <a:cs typeface="Calibri"/>
              <a:sym typeface="Calibri"/>
            </a:endParaRPr>
          </a:p>
        </p:txBody>
      </p:sp>
      <p:sp>
        <p:nvSpPr>
          <p:cNvPr id="42" name="Google Shape;42;p5"/>
          <p:cNvSpPr/>
          <p:nvPr/>
        </p:nvSpPr>
        <p:spPr>
          <a:xfrm>
            <a:off x="274320" y="2432304"/>
            <a:ext cx="4297680" cy="749808"/>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5"/>
          <p:cNvSpPr/>
          <p:nvPr/>
        </p:nvSpPr>
        <p:spPr>
          <a:xfrm>
            <a:off x="274320" y="2432304"/>
            <a:ext cx="502920" cy="749808"/>
          </a:xfrm>
          <a:prstGeom prst="rect">
            <a:avLst/>
          </a:prstGeom>
          <a:solidFill>
            <a:srgbClr val="F5A623"/>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5"/>
          <p:cNvSpPr/>
          <p:nvPr/>
        </p:nvSpPr>
        <p:spPr>
          <a:xfrm>
            <a:off x="274320" y="2432304"/>
            <a:ext cx="502920" cy="74980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400"/>
              <a:buFont typeface="Calibri"/>
              <a:buNone/>
            </a:pPr>
            <a:endParaRPr sz="1400" b="0" i="0" u="none" strike="noStrike" cap="none" dirty="0">
              <a:solidFill>
                <a:schemeClr val="dk1"/>
              </a:solidFill>
              <a:latin typeface="Calibri"/>
              <a:ea typeface="Calibri"/>
              <a:cs typeface="Calibri"/>
              <a:sym typeface="Calibri"/>
            </a:endParaRPr>
          </a:p>
        </p:txBody>
      </p:sp>
      <p:sp>
        <p:nvSpPr>
          <p:cNvPr id="45" name="Google Shape;45;p5"/>
          <p:cNvSpPr/>
          <p:nvPr/>
        </p:nvSpPr>
        <p:spPr>
          <a:xfrm>
            <a:off x="868680" y="2651760"/>
            <a:ext cx="3566160" cy="34747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Feature Generation</a:t>
            </a:r>
            <a:endParaRPr sz="1200" b="0" i="0" u="none" strike="noStrike" cap="none">
              <a:solidFill>
                <a:schemeClr val="dk1"/>
              </a:solidFill>
              <a:latin typeface="Calibri"/>
              <a:ea typeface="Calibri"/>
              <a:cs typeface="Calibri"/>
              <a:sym typeface="Calibri"/>
            </a:endParaRPr>
          </a:p>
        </p:txBody>
      </p:sp>
      <p:sp>
        <p:nvSpPr>
          <p:cNvPr id="46" name="Google Shape;46;p5"/>
          <p:cNvSpPr/>
          <p:nvPr/>
        </p:nvSpPr>
        <p:spPr>
          <a:xfrm>
            <a:off x="274320" y="3273552"/>
            <a:ext cx="4297680" cy="749808"/>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5"/>
          <p:cNvSpPr/>
          <p:nvPr/>
        </p:nvSpPr>
        <p:spPr>
          <a:xfrm>
            <a:off x="274320" y="3273552"/>
            <a:ext cx="502920" cy="749808"/>
          </a:xfrm>
          <a:prstGeom prst="rect">
            <a:avLst/>
          </a:prstGeom>
          <a:solidFill>
            <a:srgbClr val="06C17A"/>
          </a:solidFill>
          <a:ln w="12700" cap="flat" cmpd="sng">
            <a:solidFill>
              <a:srgbClr val="06C17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5"/>
          <p:cNvSpPr/>
          <p:nvPr/>
        </p:nvSpPr>
        <p:spPr>
          <a:xfrm>
            <a:off x="274320" y="3273552"/>
            <a:ext cx="502920" cy="74980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400"/>
              <a:buFont typeface="Calibri"/>
              <a:buNone/>
            </a:pPr>
            <a:endParaRPr sz="1400" b="0" i="0" u="none" strike="noStrike" cap="none" dirty="0">
              <a:solidFill>
                <a:schemeClr val="dk1"/>
              </a:solidFill>
              <a:latin typeface="Calibri"/>
              <a:ea typeface="Calibri"/>
              <a:cs typeface="Calibri"/>
              <a:sym typeface="Calibri"/>
            </a:endParaRPr>
          </a:p>
        </p:txBody>
      </p:sp>
      <p:sp>
        <p:nvSpPr>
          <p:cNvPr id="49" name="Google Shape;49;p5"/>
          <p:cNvSpPr/>
          <p:nvPr/>
        </p:nvSpPr>
        <p:spPr>
          <a:xfrm>
            <a:off x="868680" y="3493008"/>
            <a:ext cx="3566160" cy="34747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Exploratory Data Analysis</a:t>
            </a:r>
            <a:endParaRPr sz="1200" b="0" i="0" u="none" strike="noStrike" cap="none">
              <a:solidFill>
                <a:schemeClr val="dk1"/>
              </a:solidFill>
              <a:latin typeface="Calibri"/>
              <a:ea typeface="Calibri"/>
              <a:cs typeface="Calibri"/>
              <a:sym typeface="Calibri"/>
            </a:endParaRPr>
          </a:p>
        </p:txBody>
      </p:sp>
      <p:sp>
        <p:nvSpPr>
          <p:cNvPr id="50" name="Google Shape;50;p5"/>
          <p:cNvSpPr/>
          <p:nvPr/>
        </p:nvSpPr>
        <p:spPr>
          <a:xfrm>
            <a:off x="274320" y="4114800"/>
            <a:ext cx="4297680" cy="749808"/>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a:off x="274320" y="4114800"/>
            <a:ext cx="502920" cy="749808"/>
          </a:xfrm>
          <a:prstGeom prst="rect">
            <a:avLst/>
          </a:prstGeom>
          <a:solidFill>
            <a:srgbClr val="00AACC"/>
          </a:solidFill>
          <a:ln w="12700" cap="flat" cmpd="sng">
            <a:solidFill>
              <a:srgbClr val="00AA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5"/>
          <p:cNvSpPr/>
          <p:nvPr/>
        </p:nvSpPr>
        <p:spPr>
          <a:xfrm>
            <a:off x="274320" y="4114800"/>
            <a:ext cx="502920" cy="74980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400"/>
              <a:buFont typeface="Calibri"/>
              <a:buNone/>
            </a:pPr>
            <a:endParaRPr sz="1400" b="0" i="0" u="none" strike="noStrike" cap="none" dirty="0">
              <a:solidFill>
                <a:schemeClr val="dk1"/>
              </a:solidFill>
              <a:latin typeface="Calibri"/>
              <a:ea typeface="Calibri"/>
              <a:cs typeface="Calibri"/>
              <a:sym typeface="Calibri"/>
            </a:endParaRPr>
          </a:p>
        </p:txBody>
      </p:sp>
      <p:sp>
        <p:nvSpPr>
          <p:cNvPr id="53" name="Google Shape;53;p5"/>
          <p:cNvSpPr/>
          <p:nvPr/>
        </p:nvSpPr>
        <p:spPr>
          <a:xfrm>
            <a:off x="868680" y="4334256"/>
            <a:ext cx="3566160" cy="34747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dirty="0">
                <a:solidFill>
                  <a:srgbClr val="FFFFFF"/>
                </a:solidFill>
                <a:latin typeface="Calibri"/>
                <a:ea typeface="Calibri"/>
                <a:cs typeface="Calibri"/>
                <a:sym typeface="Calibri"/>
              </a:rPr>
              <a:t>Sentiment Analysis</a:t>
            </a:r>
            <a:endParaRPr sz="1200" b="0" i="0" u="none" strike="noStrike" cap="none" dirty="0">
              <a:solidFill>
                <a:schemeClr val="dk1"/>
              </a:solidFill>
              <a:latin typeface="Calibri"/>
              <a:ea typeface="Calibri"/>
              <a:cs typeface="Calibri"/>
              <a:sym typeface="Calibri"/>
            </a:endParaRPr>
          </a:p>
        </p:txBody>
      </p:sp>
      <p:sp>
        <p:nvSpPr>
          <p:cNvPr id="54" name="Google Shape;54;p5"/>
          <p:cNvSpPr/>
          <p:nvPr/>
        </p:nvSpPr>
        <p:spPr>
          <a:xfrm>
            <a:off x="4754880" y="749808"/>
            <a:ext cx="4297680" cy="749808"/>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5"/>
          <p:cNvSpPr/>
          <p:nvPr/>
        </p:nvSpPr>
        <p:spPr>
          <a:xfrm>
            <a:off x="4754880" y="749808"/>
            <a:ext cx="502920" cy="749808"/>
          </a:xfrm>
          <a:prstGeom prst="rect">
            <a:avLst/>
          </a:prstGeom>
          <a:solidFill>
            <a:srgbClr val="FF8C00"/>
          </a:solidFill>
          <a:ln w="12700" cap="flat" cmpd="sng">
            <a:solidFill>
              <a:srgbClr val="FF8C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5"/>
          <p:cNvSpPr/>
          <p:nvPr/>
        </p:nvSpPr>
        <p:spPr>
          <a:xfrm>
            <a:off x="4754880" y="749808"/>
            <a:ext cx="502920" cy="74980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400"/>
              <a:buFont typeface="Calibri"/>
              <a:buNone/>
            </a:pPr>
            <a:endParaRPr sz="1400" b="0" i="0" u="none" strike="noStrike" cap="none" dirty="0">
              <a:solidFill>
                <a:schemeClr val="dk1"/>
              </a:solidFill>
              <a:latin typeface="Calibri"/>
              <a:ea typeface="Calibri"/>
              <a:cs typeface="Calibri"/>
              <a:sym typeface="Calibri"/>
            </a:endParaRPr>
          </a:p>
        </p:txBody>
      </p:sp>
      <p:sp>
        <p:nvSpPr>
          <p:cNvPr id="57" name="Google Shape;57;p5"/>
          <p:cNvSpPr/>
          <p:nvPr/>
        </p:nvSpPr>
        <p:spPr>
          <a:xfrm>
            <a:off x="5349240" y="969264"/>
            <a:ext cx="3566160" cy="34747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Topic Modeling (LDA)</a:t>
            </a:r>
            <a:endParaRPr sz="1200" b="0" i="0" u="none" strike="noStrike" cap="none">
              <a:solidFill>
                <a:schemeClr val="dk1"/>
              </a:solidFill>
              <a:latin typeface="Calibri"/>
              <a:ea typeface="Calibri"/>
              <a:cs typeface="Calibri"/>
              <a:sym typeface="Calibri"/>
            </a:endParaRPr>
          </a:p>
        </p:txBody>
      </p:sp>
      <p:sp>
        <p:nvSpPr>
          <p:cNvPr id="58" name="Google Shape;58;p5"/>
          <p:cNvSpPr/>
          <p:nvPr/>
        </p:nvSpPr>
        <p:spPr>
          <a:xfrm>
            <a:off x="4754880" y="1591056"/>
            <a:ext cx="4297680" cy="749808"/>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4754880" y="1591056"/>
            <a:ext cx="502920" cy="749808"/>
          </a:xfrm>
          <a:prstGeom prst="rect">
            <a:avLst/>
          </a:prstGeom>
          <a:solidFill>
            <a:srgbClr val="E8445A"/>
          </a:solidFill>
          <a:ln w="12700" cap="flat" cmpd="sng">
            <a:solidFill>
              <a:srgbClr val="E8445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p:nvPr/>
        </p:nvSpPr>
        <p:spPr>
          <a:xfrm>
            <a:off x="4754880" y="1591056"/>
            <a:ext cx="502920" cy="74980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400"/>
              <a:buFont typeface="Calibri"/>
              <a:buNone/>
            </a:pPr>
            <a:endParaRPr sz="1400" b="0" i="0" u="none" strike="noStrike" cap="none" dirty="0">
              <a:solidFill>
                <a:schemeClr val="dk1"/>
              </a:solidFill>
              <a:latin typeface="Calibri"/>
              <a:ea typeface="Calibri"/>
              <a:cs typeface="Calibri"/>
              <a:sym typeface="Calibri"/>
            </a:endParaRPr>
          </a:p>
        </p:txBody>
      </p:sp>
      <p:sp>
        <p:nvSpPr>
          <p:cNvPr id="61" name="Google Shape;61;p5"/>
          <p:cNvSpPr/>
          <p:nvPr/>
        </p:nvSpPr>
        <p:spPr>
          <a:xfrm>
            <a:off x="5349240" y="1810512"/>
            <a:ext cx="3566160" cy="34747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Predictive Modeling</a:t>
            </a:r>
            <a:endParaRPr sz="1200" b="0" i="0" u="none" strike="noStrike" cap="none">
              <a:solidFill>
                <a:schemeClr val="dk1"/>
              </a:solidFill>
              <a:latin typeface="Calibri"/>
              <a:ea typeface="Calibri"/>
              <a:cs typeface="Calibri"/>
              <a:sym typeface="Calibri"/>
            </a:endParaRPr>
          </a:p>
        </p:txBody>
      </p:sp>
      <p:sp>
        <p:nvSpPr>
          <p:cNvPr id="62" name="Google Shape;62;p5"/>
          <p:cNvSpPr/>
          <p:nvPr/>
        </p:nvSpPr>
        <p:spPr>
          <a:xfrm>
            <a:off x="4754880" y="2432304"/>
            <a:ext cx="4297680" cy="749808"/>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5"/>
          <p:cNvSpPr/>
          <p:nvPr/>
        </p:nvSpPr>
        <p:spPr>
          <a:xfrm>
            <a:off x="4754880" y="2432304"/>
            <a:ext cx="502920" cy="749808"/>
          </a:xfrm>
          <a:prstGeom prst="rect">
            <a:avLst/>
          </a:prstGeom>
          <a:solidFill>
            <a:srgbClr val="9B59B6"/>
          </a:solidFill>
          <a:ln w="12700" cap="flat" cmpd="sng">
            <a:solidFill>
              <a:srgbClr val="9B59B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5"/>
          <p:cNvSpPr/>
          <p:nvPr/>
        </p:nvSpPr>
        <p:spPr>
          <a:xfrm>
            <a:off x="4754880" y="2432304"/>
            <a:ext cx="502920" cy="74980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400"/>
              <a:buFont typeface="Calibri"/>
              <a:buNone/>
            </a:pPr>
            <a:endParaRPr sz="1400" b="0" i="0" u="none" strike="noStrike" cap="none" dirty="0">
              <a:solidFill>
                <a:schemeClr val="dk1"/>
              </a:solidFill>
              <a:latin typeface="Calibri"/>
              <a:ea typeface="Calibri"/>
              <a:cs typeface="Calibri"/>
              <a:sym typeface="Calibri"/>
            </a:endParaRPr>
          </a:p>
        </p:txBody>
      </p:sp>
      <p:sp>
        <p:nvSpPr>
          <p:cNvPr id="65" name="Google Shape;65;p5"/>
          <p:cNvSpPr/>
          <p:nvPr/>
        </p:nvSpPr>
        <p:spPr>
          <a:xfrm>
            <a:off x="5349240" y="2651760"/>
            <a:ext cx="3566160" cy="34747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Novel Insights &amp; Temporal Analysis</a:t>
            </a:r>
            <a:endParaRPr sz="1200" b="0" i="0" u="none" strike="noStrike" cap="none">
              <a:solidFill>
                <a:schemeClr val="dk1"/>
              </a:solidFill>
              <a:latin typeface="Calibri"/>
              <a:ea typeface="Calibri"/>
              <a:cs typeface="Calibri"/>
              <a:sym typeface="Calibri"/>
            </a:endParaRPr>
          </a:p>
        </p:txBody>
      </p:sp>
      <p:sp>
        <p:nvSpPr>
          <p:cNvPr id="66" name="Google Shape;66;p5"/>
          <p:cNvSpPr/>
          <p:nvPr/>
        </p:nvSpPr>
        <p:spPr>
          <a:xfrm>
            <a:off x="4754880" y="3273552"/>
            <a:ext cx="4297680" cy="749808"/>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5"/>
          <p:cNvSpPr/>
          <p:nvPr/>
        </p:nvSpPr>
        <p:spPr>
          <a:xfrm>
            <a:off x="4754880" y="3273552"/>
            <a:ext cx="502920" cy="749808"/>
          </a:xfrm>
          <a:prstGeom prst="rect">
            <a:avLst/>
          </a:prstGeom>
          <a:solidFill>
            <a:srgbClr val="E67E22"/>
          </a:solidFill>
          <a:ln w="12700" cap="flat" cmpd="sng">
            <a:solidFill>
              <a:srgbClr val="E67E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5"/>
          <p:cNvSpPr/>
          <p:nvPr/>
        </p:nvSpPr>
        <p:spPr>
          <a:xfrm>
            <a:off x="4754880" y="3273552"/>
            <a:ext cx="502920" cy="74980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400"/>
              <a:buFont typeface="Calibri"/>
              <a:buNone/>
            </a:pPr>
            <a:endParaRPr sz="1400" b="0" i="0" u="none" strike="noStrike" cap="none" dirty="0">
              <a:solidFill>
                <a:schemeClr val="dk1"/>
              </a:solidFill>
              <a:latin typeface="Calibri"/>
              <a:ea typeface="Calibri"/>
              <a:cs typeface="Calibri"/>
              <a:sym typeface="Calibri"/>
            </a:endParaRPr>
          </a:p>
        </p:txBody>
      </p:sp>
      <p:sp>
        <p:nvSpPr>
          <p:cNvPr id="69" name="Google Shape;69;p5"/>
          <p:cNvSpPr/>
          <p:nvPr/>
        </p:nvSpPr>
        <p:spPr>
          <a:xfrm>
            <a:off x="5349240" y="3493008"/>
            <a:ext cx="3566160" cy="34747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Transformer Models (BERT vs LLaMA)</a:t>
            </a:r>
            <a:endParaRPr sz="1200" b="0" i="0" u="none" strike="noStrike" cap="none">
              <a:solidFill>
                <a:schemeClr val="dk1"/>
              </a:solidFill>
              <a:latin typeface="Calibri"/>
              <a:ea typeface="Calibri"/>
              <a:cs typeface="Calibri"/>
              <a:sym typeface="Calibri"/>
            </a:endParaRPr>
          </a:p>
        </p:txBody>
      </p:sp>
      <p:sp>
        <p:nvSpPr>
          <p:cNvPr id="70" name="Google Shape;70;p5"/>
          <p:cNvSpPr/>
          <p:nvPr/>
        </p:nvSpPr>
        <p:spPr>
          <a:xfrm>
            <a:off x="4754880" y="4114800"/>
            <a:ext cx="4297680" cy="749808"/>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5"/>
          <p:cNvSpPr/>
          <p:nvPr/>
        </p:nvSpPr>
        <p:spPr>
          <a:xfrm>
            <a:off x="4754880" y="4114800"/>
            <a:ext cx="502920" cy="749808"/>
          </a:xfrm>
          <a:prstGeom prst="rect">
            <a:avLst/>
          </a:prstGeom>
          <a:solidFill>
            <a:srgbClr val="6B90AA"/>
          </a:solidFill>
          <a:ln w="12700" cap="flat" cmpd="sng">
            <a:solidFill>
              <a:srgbClr val="6B90A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5"/>
          <p:cNvSpPr/>
          <p:nvPr/>
        </p:nvSpPr>
        <p:spPr>
          <a:xfrm>
            <a:off x="4754880" y="4114800"/>
            <a:ext cx="502920" cy="74980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1400"/>
              <a:buFont typeface="Calibri"/>
              <a:buNone/>
            </a:pPr>
            <a:endParaRPr sz="1400" b="0" i="0" u="none" strike="noStrike" cap="none" dirty="0">
              <a:solidFill>
                <a:schemeClr val="dk1"/>
              </a:solidFill>
              <a:latin typeface="Calibri"/>
              <a:ea typeface="Calibri"/>
              <a:cs typeface="Calibri"/>
              <a:sym typeface="Calibri"/>
            </a:endParaRPr>
          </a:p>
        </p:txBody>
      </p:sp>
      <p:sp>
        <p:nvSpPr>
          <p:cNvPr id="73" name="Google Shape;73;p5"/>
          <p:cNvSpPr/>
          <p:nvPr/>
        </p:nvSpPr>
        <p:spPr>
          <a:xfrm>
            <a:off x="5349240" y="4334256"/>
            <a:ext cx="3566160" cy="34747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Summary &amp; Conclusions</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78"/>
        <p:cNvGrpSpPr/>
        <p:nvPr/>
      </p:nvGrpSpPr>
      <p:grpSpPr>
        <a:xfrm>
          <a:off x="0" y="0"/>
          <a:ext cx="0" cy="0"/>
          <a:chOff x="0" y="0"/>
          <a:chExt cx="0" cy="0"/>
        </a:xfrm>
      </p:grpSpPr>
      <p:sp>
        <p:nvSpPr>
          <p:cNvPr id="79" name="Google Shape;79;p6"/>
          <p:cNvSpPr/>
          <p:nvPr/>
        </p:nvSpPr>
        <p:spPr>
          <a:xfrm>
            <a:off x="0" y="0"/>
            <a:ext cx="9144000" cy="621792"/>
          </a:xfrm>
          <a:prstGeom prst="rect">
            <a:avLst/>
          </a:prstGeom>
          <a:solidFill>
            <a:srgbClr val="112236"/>
          </a:solidFill>
          <a:ln w="12700" cap="flat" cmpd="sng">
            <a:solidFill>
              <a:srgbClr val="1122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6"/>
          <p:cNvSpPr/>
          <p:nvPr/>
        </p:nvSpPr>
        <p:spPr>
          <a:xfrm>
            <a:off x="0" y="0"/>
            <a:ext cx="128016" cy="621792"/>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6"/>
          <p:cNvSpPr/>
          <p:nvPr/>
        </p:nvSpPr>
        <p:spPr>
          <a:xfrm>
            <a:off x="219456" y="0"/>
            <a:ext cx="877824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a:solidFill>
                  <a:srgbClr val="FFFFFF"/>
                </a:solidFill>
                <a:latin typeface="Calibri"/>
                <a:ea typeface="Calibri"/>
                <a:cs typeface="Calibri"/>
                <a:sym typeface="Calibri"/>
              </a:rPr>
              <a:t>2019 Australian Election — Quick Overview</a:t>
            </a:r>
            <a:endParaRPr sz="2000" b="1">
              <a:solidFill>
                <a:srgbClr val="FFFFFF"/>
              </a:solidFill>
              <a:latin typeface="Calibri"/>
              <a:ea typeface="Calibri"/>
              <a:cs typeface="Calibri"/>
              <a:sym typeface="Calibri"/>
            </a:endParaRPr>
          </a:p>
        </p:txBody>
      </p:sp>
      <p:sp>
        <p:nvSpPr>
          <p:cNvPr id="82" name="Google Shape;82;p6"/>
          <p:cNvSpPr/>
          <p:nvPr/>
        </p:nvSpPr>
        <p:spPr>
          <a:xfrm>
            <a:off x="256032" y="749808"/>
            <a:ext cx="2029968" cy="50292"/>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6"/>
          <p:cNvSpPr/>
          <p:nvPr/>
        </p:nvSpPr>
        <p:spPr>
          <a:xfrm>
            <a:off x="2468880" y="749808"/>
            <a:ext cx="2029968" cy="50292"/>
          </a:xfrm>
          <a:prstGeom prst="rect">
            <a:avLst/>
          </a:prstGeom>
          <a:solidFill>
            <a:srgbClr val="F5A623"/>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6"/>
          <p:cNvSpPr/>
          <p:nvPr/>
        </p:nvSpPr>
        <p:spPr>
          <a:xfrm>
            <a:off x="4681728" y="749808"/>
            <a:ext cx="2029968" cy="50292"/>
          </a:xfrm>
          <a:prstGeom prst="rect">
            <a:avLst/>
          </a:prstGeom>
          <a:solidFill>
            <a:srgbClr val="06C17A"/>
          </a:solidFill>
          <a:ln w="12700" cap="flat" cmpd="sng">
            <a:solidFill>
              <a:srgbClr val="06C17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6"/>
          <p:cNvSpPr/>
          <p:nvPr/>
        </p:nvSpPr>
        <p:spPr>
          <a:xfrm>
            <a:off x="6894576" y="749808"/>
            <a:ext cx="2029968" cy="50292"/>
          </a:xfrm>
          <a:prstGeom prst="rect">
            <a:avLst/>
          </a:prstGeom>
          <a:solidFill>
            <a:srgbClr val="FF8C00"/>
          </a:solidFill>
          <a:ln w="12700" cap="flat" cmpd="sng">
            <a:solidFill>
              <a:srgbClr val="FF8C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6"/>
          <p:cNvSpPr/>
          <p:nvPr/>
        </p:nvSpPr>
        <p:spPr>
          <a:xfrm>
            <a:off x="109650" y="1026025"/>
            <a:ext cx="8924700" cy="3934800"/>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6"/>
          <p:cNvSpPr txBox="1"/>
          <p:nvPr/>
        </p:nvSpPr>
        <p:spPr>
          <a:xfrm>
            <a:off x="256025" y="1197525"/>
            <a:ext cx="7718400" cy="2616600"/>
          </a:xfrm>
          <a:prstGeom prst="rect">
            <a:avLst/>
          </a:prstGeom>
          <a:noFill/>
          <a:ln>
            <a:noFill/>
          </a:ln>
        </p:spPr>
        <p:txBody>
          <a:bodyPr spcFirstLastPara="1" wrap="square" lIns="45700" tIns="45700" rIns="45700" bIns="45700" anchor="t" anchorCtr="0">
            <a:spAutoFit/>
          </a:bodyPr>
          <a:lstStyle/>
          <a:p>
            <a:pPr marL="0" marR="0" lvl="0" indent="0" algn="l" rtl="0">
              <a:lnSpc>
                <a:spcPct val="200000"/>
              </a:lnSpc>
              <a:spcBef>
                <a:spcPts val="0"/>
              </a:spcBef>
              <a:spcAft>
                <a:spcPts val="0"/>
              </a:spcAft>
              <a:buClr>
                <a:srgbClr val="1F2A3C"/>
              </a:buClr>
              <a:buSzPts val="2000"/>
              <a:buFont typeface="Calibri"/>
              <a:buNone/>
            </a:pPr>
            <a:r>
              <a:rPr lang="en-US" sz="1600" b="1" i="0" u="none" strike="noStrike" cap="none">
                <a:solidFill>
                  <a:schemeClr val="lt1"/>
                </a:solidFill>
                <a:latin typeface="Calibri"/>
                <a:ea typeface="Calibri"/>
                <a:cs typeface="Calibri"/>
                <a:sym typeface="Calibri"/>
              </a:rPr>
              <a:t>•  Federal election held 18 May 2019 — a decisive national moment.</a:t>
            </a:r>
            <a:endParaRPr sz="1600" b="1">
              <a:solidFill>
                <a:schemeClr val="lt1"/>
              </a:solidFill>
              <a:latin typeface="Calibri"/>
              <a:ea typeface="Calibri"/>
              <a:cs typeface="Calibri"/>
              <a:sym typeface="Calibri"/>
            </a:endParaRPr>
          </a:p>
          <a:p>
            <a:pPr marL="0" marR="0" lvl="0" indent="0" algn="l" rtl="0">
              <a:lnSpc>
                <a:spcPct val="200000"/>
              </a:lnSpc>
              <a:spcBef>
                <a:spcPts val="600"/>
              </a:spcBef>
              <a:spcAft>
                <a:spcPts val="0"/>
              </a:spcAft>
              <a:buClr>
                <a:srgbClr val="1F2A3C"/>
              </a:buClr>
              <a:buSzPts val="2000"/>
              <a:buFont typeface="Calibri"/>
              <a:buNone/>
            </a:pPr>
            <a:r>
              <a:rPr lang="en-US" sz="1600" b="1" i="0" u="none" strike="noStrike" cap="none">
                <a:solidFill>
                  <a:schemeClr val="lt1"/>
                </a:solidFill>
                <a:latin typeface="Calibri"/>
                <a:ea typeface="Calibri"/>
                <a:cs typeface="Calibri"/>
                <a:sym typeface="Calibri"/>
              </a:rPr>
              <a:t>•  Two major parties: Liberal/National Coalition vs. Labor.</a:t>
            </a:r>
            <a:endParaRPr sz="1600" b="1">
              <a:solidFill>
                <a:schemeClr val="lt1"/>
              </a:solidFill>
              <a:latin typeface="Calibri"/>
              <a:ea typeface="Calibri"/>
              <a:cs typeface="Calibri"/>
              <a:sym typeface="Calibri"/>
            </a:endParaRPr>
          </a:p>
          <a:p>
            <a:pPr marL="0" marR="0" lvl="0" indent="0" algn="l" rtl="0">
              <a:lnSpc>
                <a:spcPct val="200000"/>
              </a:lnSpc>
              <a:spcBef>
                <a:spcPts val="600"/>
              </a:spcBef>
              <a:spcAft>
                <a:spcPts val="0"/>
              </a:spcAft>
              <a:buClr>
                <a:srgbClr val="1F2A3C"/>
              </a:buClr>
              <a:buSzPts val="2000"/>
              <a:buFont typeface="Calibri"/>
              <a:buNone/>
            </a:pPr>
            <a:r>
              <a:rPr lang="en-US" sz="1600" b="1" i="0" u="none" strike="noStrike" cap="none">
                <a:solidFill>
                  <a:schemeClr val="lt1"/>
                </a:solidFill>
                <a:latin typeface="Calibri"/>
                <a:ea typeface="Calibri"/>
                <a:cs typeface="Calibri"/>
                <a:sym typeface="Calibri"/>
              </a:rPr>
              <a:t>•  Leaders: Scott Morrison (Coalition) and Bill Shorten (Labor).</a:t>
            </a:r>
            <a:endParaRPr sz="1600" b="1">
              <a:solidFill>
                <a:schemeClr val="lt1"/>
              </a:solidFill>
              <a:latin typeface="Calibri"/>
              <a:ea typeface="Calibri"/>
              <a:cs typeface="Calibri"/>
              <a:sym typeface="Calibri"/>
            </a:endParaRPr>
          </a:p>
          <a:p>
            <a:pPr marL="0" marR="0" lvl="0" indent="0" algn="l" rtl="0">
              <a:lnSpc>
                <a:spcPct val="200000"/>
              </a:lnSpc>
              <a:spcBef>
                <a:spcPts val="600"/>
              </a:spcBef>
              <a:spcAft>
                <a:spcPts val="0"/>
              </a:spcAft>
              <a:buClr>
                <a:srgbClr val="1F2A3C"/>
              </a:buClr>
              <a:buSzPts val="2000"/>
              <a:buFont typeface="Calibri"/>
              <a:buNone/>
            </a:pPr>
            <a:r>
              <a:rPr lang="en-US" sz="1600" b="1" i="0" u="none" strike="noStrike" cap="none">
                <a:solidFill>
                  <a:schemeClr val="lt1"/>
                </a:solidFill>
                <a:latin typeface="Calibri"/>
                <a:ea typeface="Calibri"/>
                <a:cs typeface="Calibri"/>
                <a:sym typeface="Calibri"/>
              </a:rPr>
              <a:t>•  Campaign dominated by climate policy, tax reform, and economic management.</a:t>
            </a:r>
            <a:endParaRPr sz="1600" b="1">
              <a:solidFill>
                <a:schemeClr val="lt1"/>
              </a:solidFill>
              <a:latin typeface="Calibri"/>
              <a:ea typeface="Calibri"/>
              <a:cs typeface="Calibri"/>
              <a:sym typeface="Calibri"/>
            </a:endParaRPr>
          </a:p>
          <a:p>
            <a:pPr marL="0" marR="0" lvl="0" indent="0" algn="l" rtl="0">
              <a:lnSpc>
                <a:spcPct val="200000"/>
              </a:lnSpc>
              <a:spcBef>
                <a:spcPts val="600"/>
              </a:spcBef>
              <a:spcAft>
                <a:spcPts val="0"/>
              </a:spcAft>
              <a:buClr>
                <a:srgbClr val="1F2A3C"/>
              </a:buClr>
              <a:buSzPts val="2000"/>
              <a:buFont typeface="Calibri"/>
              <a:buNone/>
            </a:pPr>
            <a:r>
              <a:rPr lang="en-US" sz="1600" b="1" i="0" u="none" strike="noStrike" cap="none">
                <a:solidFill>
                  <a:schemeClr val="lt1"/>
                </a:solidFill>
                <a:latin typeface="Calibri"/>
                <a:ea typeface="Calibri"/>
                <a:cs typeface="Calibri"/>
                <a:sym typeface="Calibri"/>
              </a:rPr>
              <a:t>•  Twitter emerged as a primary forum for public discourse and political messaging.</a:t>
            </a:r>
            <a:endParaRPr sz="1600" b="1">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92"/>
        <p:cNvGrpSpPr/>
        <p:nvPr/>
      </p:nvGrpSpPr>
      <p:grpSpPr>
        <a:xfrm>
          <a:off x="0" y="0"/>
          <a:ext cx="0" cy="0"/>
          <a:chOff x="0" y="0"/>
          <a:chExt cx="0" cy="0"/>
        </a:xfrm>
      </p:grpSpPr>
      <p:sp>
        <p:nvSpPr>
          <p:cNvPr id="93" name="Google Shape;93;p7"/>
          <p:cNvSpPr/>
          <p:nvPr/>
        </p:nvSpPr>
        <p:spPr>
          <a:xfrm>
            <a:off x="0" y="0"/>
            <a:ext cx="9144000" cy="621900"/>
          </a:xfrm>
          <a:prstGeom prst="rect">
            <a:avLst/>
          </a:prstGeom>
          <a:solidFill>
            <a:srgbClr val="112236"/>
          </a:solidFill>
          <a:ln w="12700" cap="flat" cmpd="sng">
            <a:solidFill>
              <a:srgbClr val="1122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7"/>
          <p:cNvSpPr/>
          <p:nvPr/>
        </p:nvSpPr>
        <p:spPr>
          <a:xfrm>
            <a:off x="0" y="0"/>
            <a:ext cx="128100" cy="621900"/>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7"/>
          <p:cNvSpPr/>
          <p:nvPr/>
        </p:nvSpPr>
        <p:spPr>
          <a:xfrm>
            <a:off x="219456" y="0"/>
            <a:ext cx="8778300" cy="621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DATASET OVERVIEW — Australian Election 2019 Tweets</a:t>
            </a:r>
            <a:endParaRPr sz="2000" b="0" i="0" u="none" strike="noStrike" cap="none">
              <a:solidFill>
                <a:schemeClr val="dk1"/>
              </a:solidFill>
              <a:latin typeface="Calibri"/>
              <a:ea typeface="Calibri"/>
              <a:cs typeface="Calibri"/>
              <a:sym typeface="Calibri"/>
            </a:endParaRPr>
          </a:p>
        </p:txBody>
      </p:sp>
      <p:sp>
        <p:nvSpPr>
          <p:cNvPr id="96" name="Google Shape;96;p7"/>
          <p:cNvSpPr/>
          <p:nvPr/>
        </p:nvSpPr>
        <p:spPr>
          <a:xfrm>
            <a:off x="256032" y="749808"/>
            <a:ext cx="2030100" cy="960000"/>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7"/>
          <p:cNvSpPr/>
          <p:nvPr/>
        </p:nvSpPr>
        <p:spPr>
          <a:xfrm>
            <a:off x="256032" y="749808"/>
            <a:ext cx="2030100" cy="50400"/>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7"/>
          <p:cNvSpPr/>
          <p:nvPr/>
        </p:nvSpPr>
        <p:spPr>
          <a:xfrm>
            <a:off x="256032" y="822960"/>
            <a:ext cx="2030100" cy="5028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2D4"/>
              </a:buClr>
              <a:buSzPts val="2000"/>
              <a:buFont typeface="Calibri"/>
              <a:buNone/>
            </a:pPr>
            <a:r>
              <a:rPr lang="en-US" sz="2000" b="1" i="0" u="none" strike="noStrike" cap="none">
                <a:solidFill>
                  <a:srgbClr val="00C2D4"/>
                </a:solidFill>
                <a:latin typeface="Calibri"/>
                <a:ea typeface="Calibri"/>
                <a:cs typeface="Calibri"/>
                <a:sym typeface="Calibri"/>
              </a:rPr>
              <a:t>183,379</a:t>
            </a:r>
            <a:endParaRPr sz="2000" b="0" i="0" u="none" strike="noStrike" cap="none">
              <a:solidFill>
                <a:schemeClr val="dk1"/>
              </a:solidFill>
              <a:latin typeface="Calibri"/>
              <a:ea typeface="Calibri"/>
              <a:cs typeface="Calibri"/>
              <a:sym typeface="Calibri"/>
            </a:endParaRPr>
          </a:p>
        </p:txBody>
      </p:sp>
      <p:sp>
        <p:nvSpPr>
          <p:cNvPr id="99" name="Google Shape;99;p7"/>
          <p:cNvSpPr/>
          <p:nvPr/>
        </p:nvSpPr>
        <p:spPr>
          <a:xfrm>
            <a:off x="256032" y="1298448"/>
            <a:ext cx="2030100" cy="274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B90AA"/>
              </a:buClr>
              <a:buSzPts val="950"/>
              <a:buFont typeface="Calibri"/>
              <a:buNone/>
            </a:pPr>
            <a:r>
              <a:rPr lang="en-US" sz="950" b="0" i="0" u="none" strike="noStrike" cap="none">
                <a:solidFill>
                  <a:srgbClr val="6B90AA"/>
                </a:solidFill>
                <a:latin typeface="Calibri"/>
                <a:ea typeface="Calibri"/>
                <a:cs typeface="Calibri"/>
                <a:sym typeface="Calibri"/>
              </a:rPr>
              <a:t>Total Tweets</a:t>
            </a:r>
            <a:endParaRPr sz="950" b="0" i="0" u="none" strike="noStrike" cap="none">
              <a:solidFill>
                <a:schemeClr val="dk1"/>
              </a:solidFill>
              <a:latin typeface="Calibri"/>
              <a:ea typeface="Calibri"/>
              <a:cs typeface="Calibri"/>
              <a:sym typeface="Calibri"/>
            </a:endParaRPr>
          </a:p>
        </p:txBody>
      </p:sp>
      <p:sp>
        <p:nvSpPr>
          <p:cNvPr id="100" name="Google Shape;100;p7"/>
          <p:cNvSpPr/>
          <p:nvPr/>
        </p:nvSpPr>
        <p:spPr>
          <a:xfrm>
            <a:off x="2468880" y="749808"/>
            <a:ext cx="2030100" cy="960000"/>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7"/>
          <p:cNvSpPr/>
          <p:nvPr/>
        </p:nvSpPr>
        <p:spPr>
          <a:xfrm>
            <a:off x="2468880" y="749808"/>
            <a:ext cx="2030100" cy="50400"/>
          </a:xfrm>
          <a:prstGeom prst="rect">
            <a:avLst/>
          </a:prstGeom>
          <a:solidFill>
            <a:srgbClr val="F5A623"/>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7"/>
          <p:cNvSpPr/>
          <p:nvPr/>
        </p:nvSpPr>
        <p:spPr>
          <a:xfrm>
            <a:off x="2468880" y="822960"/>
            <a:ext cx="2030100" cy="5028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5A623"/>
              </a:buClr>
              <a:buSzPts val="2000"/>
              <a:buFont typeface="Calibri"/>
              <a:buNone/>
            </a:pPr>
            <a:r>
              <a:rPr lang="en-US" sz="2000" b="1" i="0" u="none" strike="noStrike" cap="none">
                <a:solidFill>
                  <a:srgbClr val="F5A623"/>
                </a:solidFill>
                <a:latin typeface="Calibri"/>
                <a:ea typeface="Calibri"/>
                <a:cs typeface="Calibri"/>
                <a:sym typeface="Calibri"/>
              </a:rPr>
              <a:t>11</a:t>
            </a:r>
            <a:endParaRPr sz="2000" b="0" i="0" u="none" strike="noStrike" cap="none">
              <a:solidFill>
                <a:schemeClr val="dk1"/>
              </a:solidFill>
              <a:latin typeface="Calibri"/>
              <a:ea typeface="Calibri"/>
              <a:cs typeface="Calibri"/>
              <a:sym typeface="Calibri"/>
            </a:endParaRPr>
          </a:p>
        </p:txBody>
      </p:sp>
      <p:sp>
        <p:nvSpPr>
          <p:cNvPr id="103" name="Google Shape;103;p7"/>
          <p:cNvSpPr/>
          <p:nvPr/>
        </p:nvSpPr>
        <p:spPr>
          <a:xfrm>
            <a:off x="2468880" y="1298448"/>
            <a:ext cx="2030100" cy="274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B90AA"/>
              </a:buClr>
              <a:buSzPts val="950"/>
              <a:buFont typeface="Calibri"/>
              <a:buNone/>
            </a:pPr>
            <a:r>
              <a:rPr lang="en-US" sz="950" b="0" i="0" u="none" strike="noStrike" cap="none">
                <a:solidFill>
                  <a:srgbClr val="6B90AA"/>
                </a:solidFill>
                <a:latin typeface="Calibri"/>
                <a:ea typeface="Calibri"/>
                <a:cs typeface="Calibri"/>
                <a:sym typeface="Calibri"/>
              </a:rPr>
              <a:t>Columns</a:t>
            </a:r>
            <a:endParaRPr sz="950" b="0" i="0" u="none" strike="noStrike" cap="none">
              <a:solidFill>
                <a:schemeClr val="dk1"/>
              </a:solidFill>
              <a:latin typeface="Calibri"/>
              <a:ea typeface="Calibri"/>
              <a:cs typeface="Calibri"/>
              <a:sym typeface="Calibri"/>
            </a:endParaRPr>
          </a:p>
        </p:txBody>
      </p:sp>
      <p:sp>
        <p:nvSpPr>
          <p:cNvPr id="104" name="Google Shape;104;p7"/>
          <p:cNvSpPr/>
          <p:nvPr/>
        </p:nvSpPr>
        <p:spPr>
          <a:xfrm>
            <a:off x="4681728" y="749808"/>
            <a:ext cx="2030100" cy="960000"/>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7"/>
          <p:cNvSpPr/>
          <p:nvPr/>
        </p:nvSpPr>
        <p:spPr>
          <a:xfrm>
            <a:off x="4681728" y="749808"/>
            <a:ext cx="2030100" cy="50400"/>
          </a:xfrm>
          <a:prstGeom prst="rect">
            <a:avLst/>
          </a:prstGeom>
          <a:solidFill>
            <a:srgbClr val="06C17A"/>
          </a:solidFill>
          <a:ln w="12700" cap="flat" cmpd="sng">
            <a:solidFill>
              <a:srgbClr val="06C17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7"/>
          <p:cNvSpPr/>
          <p:nvPr/>
        </p:nvSpPr>
        <p:spPr>
          <a:xfrm>
            <a:off x="4681728" y="822960"/>
            <a:ext cx="2030100" cy="5028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6C17A"/>
              </a:buClr>
              <a:buSzPts val="2000"/>
              <a:buFont typeface="Calibri"/>
              <a:buNone/>
            </a:pPr>
            <a:r>
              <a:rPr lang="en-US" sz="2000" b="1" i="0" u="none" strike="noStrike" cap="none">
                <a:solidFill>
                  <a:srgbClr val="06C17A"/>
                </a:solidFill>
                <a:latin typeface="Calibri"/>
                <a:ea typeface="Calibri"/>
                <a:cs typeface="Calibri"/>
                <a:sym typeface="Calibri"/>
              </a:rPr>
              <a:t>10–20 May</a:t>
            </a:r>
            <a:endParaRPr sz="2000" b="0" i="0" u="none" strike="noStrike" cap="none">
              <a:solidFill>
                <a:schemeClr val="dk1"/>
              </a:solidFill>
              <a:latin typeface="Calibri"/>
              <a:ea typeface="Calibri"/>
              <a:cs typeface="Calibri"/>
              <a:sym typeface="Calibri"/>
            </a:endParaRPr>
          </a:p>
        </p:txBody>
      </p:sp>
      <p:sp>
        <p:nvSpPr>
          <p:cNvPr id="107" name="Google Shape;107;p7"/>
          <p:cNvSpPr/>
          <p:nvPr/>
        </p:nvSpPr>
        <p:spPr>
          <a:xfrm>
            <a:off x="4681728" y="1298448"/>
            <a:ext cx="2030100" cy="274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B90AA"/>
              </a:buClr>
              <a:buSzPts val="950"/>
              <a:buFont typeface="Calibri"/>
              <a:buNone/>
            </a:pPr>
            <a:r>
              <a:rPr lang="en-US" sz="950" b="0" i="0" u="none" strike="noStrike" cap="none">
                <a:solidFill>
                  <a:srgbClr val="6B90AA"/>
                </a:solidFill>
                <a:latin typeface="Calibri"/>
                <a:ea typeface="Calibri"/>
                <a:cs typeface="Calibri"/>
                <a:sym typeface="Calibri"/>
              </a:rPr>
              <a:t>Date Range</a:t>
            </a:r>
            <a:endParaRPr sz="950" b="0" i="0" u="none" strike="noStrike" cap="none">
              <a:solidFill>
                <a:schemeClr val="dk1"/>
              </a:solidFill>
              <a:latin typeface="Calibri"/>
              <a:ea typeface="Calibri"/>
              <a:cs typeface="Calibri"/>
              <a:sym typeface="Calibri"/>
            </a:endParaRPr>
          </a:p>
        </p:txBody>
      </p:sp>
      <p:sp>
        <p:nvSpPr>
          <p:cNvPr id="108" name="Google Shape;108;p7"/>
          <p:cNvSpPr/>
          <p:nvPr/>
        </p:nvSpPr>
        <p:spPr>
          <a:xfrm>
            <a:off x="6894576" y="749808"/>
            <a:ext cx="2030100" cy="960000"/>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7"/>
          <p:cNvSpPr/>
          <p:nvPr/>
        </p:nvSpPr>
        <p:spPr>
          <a:xfrm>
            <a:off x="6894576" y="749808"/>
            <a:ext cx="2030100" cy="50400"/>
          </a:xfrm>
          <a:prstGeom prst="rect">
            <a:avLst/>
          </a:prstGeom>
          <a:solidFill>
            <a:srgbClr val="FF8C00"/>
          </a:solidFill>
          <a:ln w="12700" cap="flat" cmpd="sng">
            <a:solidFill>
              <a:srgbClr val="FF8C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7"/>
          <p:cNvSpPr/>
          <p:nvPr/>
        </p:nvSpPr>
        <p:spPr>
          <a:xfrm>
            <a:off x="6894576" y="822960"/>
            <a:ext cx="2030100" cy="5028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8C00"/>
              </a:buClr>
              <a:buSzPts val="2000"/>
              <a:buFont typeface="Calibri"/>
              <a:buNone/>
            </a:pPr>
            <a:r>
              <a:rPr lang="en-US" sz="2000" b="1" i="0" u="none" strike="noStrike" cap="none">
                <a:solidFill>
                  <a:srgbClr val="FF8C00"/>
                </a:solidFill>
                <a:latin typeface="Calibri"/>
                <a:ea typeface="Calibri"/>
                <a:cs typeface="Calibri"/>
                <a:sym typeface="Calibri"/>
              </a:rPr>
              <a:t>Kaggle</a:t>
            </a:r>
            <a:endParaRPr sz="2000" b="0" i="0" u="none" strike="noStrike" cap="none">
              <a:solidFill>
                <a:schemeClr val="dk1"/>
              </a:solidFill>
              <a:latin typeface="Calibri"/>
              <a:ea typeface="Calibri"/>
              <a:cs typeface="Calibri"/>
              <a:sym typeface="Calibri"/>
            </a:endParaRPr>
          </a:p>
        </p:txBody>
      </p:sp>
      <p:sp>
        <p:nvSpPr>
          <p:cNvPr id="111" name="Google Shape;111;p7"/>
          <p:cNvSpPr/>
          <p:nvPr/>
        </p:nvSpPr>
        <p:spPr>
          <a:xfrm>
            <a:off x="6894576" y="1298448"/>
            <a:ext cx="2030100" cy="2742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B90AA"/>
              </a:buClr>
              <a:buSzPts val="950"/>
              <a:buFont typeface="Calibri"/>
              <a:buNone/>
            </a:pPr>
            <a:r>
              <a:rPr lang="en-US" sz="950" b="0" i="0" u="none" strike="noStrike" cap="none">
                <a:solidFill>
                  <a:srgbClr val="6B90AA"/>
                </a:solidFill>
                <a:latin typeface="Calibri"/>
                <a:ea typeface="Calibri"/>
                <a:cs typeface="Calibri"/>
                <a:sym typeface="Calibri"/>
              </a:rPr>
              <a:t>Source</a:t>
            </a:r>
            <a:endParaRPr sz="950" b="0" i="0" u="none" strike="noStrike" cap="none">
              <a:solidFill>
                <a:schemeClr val="dk1"/>
              </a:solidFill>
              <a:latin typeface="Calibri"/>
              <a:ea typeface="Calibri"/>
              <a:cs typeface="Calibri"/>
              <a:sym typeface="Calibri"/>
            </a:endParaRPr>
          </a:p>
        </p:txBody>
      </p:sp>
      <p:sp>
        <p:nvSpPr>
          <p:cNvPr id="112" name="Google Shape;112;p7"/>
          <p:cNvSpPr/>
          <p:nvPr/>
        </p:nvSpPr>
        <p:spPr>
          <a:xfrm>
            <a:off x="256032" y="1828800"/>
            <a:ext cx="4297800" cy="3108900"/>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7"/>
          <p:cNvSpPr/>
          <p:nvPr/>
        </p:nvSpPr>
        <p:spPr>
          <a:xfrm>
            <a:off x="402336" y="1901952"/>
            <a:ext cx="3931800" cy="320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A623"/>
              </a:buClr>
              <a:buSzPts val="1200"/>
              <a:buFont typeface="Calibri"/>
              <a:buNone/>
            </a:pPr>
            <a:r>
              <a:rPr lang="en-US" sz="1200" b="1" i="0" u="none" strike="noStrike" cap="none">
                <a:solidFill>
                  <a:srgbClr val="F5A623"/>
                </a:solidFill>
                <a:latin typeface="Calibri"/>
                <a:ea typeface="Calibri"/>
                <a:cs typeface="Calibri"/>
                <a:sym typeface="Calibri"/>
              </a:rPr>
              <a:t>Column Descriptions</a:t>
            </a:r>
            <a:endParaRPr sz="1200" b="0" i="0" u="none" strike="noStrike" cap="none">
              <a:solidFill>
                <a:schemeClr val="dk1"/>
              </a:solidFill>
              <a:latin typeface="Calibri"/>
              <a:ea typeface="Calibri"/>
              <a:cs typeface="Calibri"/>
              <a:sym typeface="Calibri"/>
            </a:endParaRPr>
          </a:p>
        </p:txBody>
      </p:sp>
      <p:sp>
        <p:nvSpPr>
          <p:cNvPr id="114" name="Google Shape;114;p7"/>
          <p:cNvSpPr/>
          <p:nvPr/>
        </p:nvSpPr>
        <p:spPr>
          <a:xfrm>
            <a:off x="402336" y="2286000"/>
            <a:ext cx="4041600" cy="255900"/>
          </a:xfrm>
          <a:prstGeom prst="rect">
            <a:avLst/>
          </a:prstGeom>
          <a:solidFill>
            <a:srgbClr val="162840"/>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7"/>
          <p:cNvSpPr/>
          <p:nvPr/>
        </p:nvSpPr>
        <p:spPr>
          <a:xfrm>
            <a:off x="475488" y="2286000"/>
            <a:ext cx="14631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2D4"/>
              </a:buClr>
              <a:buSzPts val="900"/>
              <a:buFont typeface="Calibri"/>
              <a:buNone/>
            </a:pPr>
            <a:r>
              <a:rPr lang="en-US" sz="900" b="1" i="0" u="none" strike="noStrike" cap="none">
                <a:solidFill>
                  <a:srgbClr val="00C2D4"/>
                </a:solidFill>
                <a:latin typeface="Calibri"/>
                <a:ea typeface="Calibri"/>
                <a:cs typeface="Calibri"/>
                <a:sym typeface="Calibri"/>
              </a:rPr>
              <a:t>created_at</a:t>
            </a:r>
            <a:endParaRPr sz="900" b="0" i="0" u="none" strike="noStrike" cap="none">
              <a:solidFill>
                <a:schemeClr val="dk1"/>
              </a:solidFill>
              <a:latin typeface="Calibri"/>
              <a:ea typeface="Calibri"/>
              <a:cs typeface="Calibri"/>
              <a:sym typeface="Calibri"/>
            </a:endParaRPr>
          </a:p>
        </p:txBody>
      </p:sp>
      <p:sp>
        <p:nvSpPr>
          <p:cNvPr id="116" name="Google Shape;116;p7"/>
          <p:cNvSpPr/>
          <p:nvPr/>
        </p:nvSpPr>
        <p:spPr>
          <a:xfrm>
            <a:off x="1993392" y="2286000"/>
            <a:ext cx="23958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E0EF"/>
              </a:buClr>
              <a:buSzPts val="900"/>
              <a:buFont typeface="Calibri"/>
              <a:buNone/>
            </a:pPr>
            <a:r>
              <a:rPr lang="en-US" sz="900" b="0" i="0" u="none" strike="noStrike" cap="none" dirty="0">
                <a:solidFill>
                  <a:srgbClr val="C8E0EF"/>
                </a:solidFill>
                <a:latin typeface="Calibri"/>
                <a:ea typeface="Calibri"/>
                <a:cs typeface="Calibri"/>
                <a:sym typeface="Calibri"/>
              </a:rPr>
              <a:t>Timestamp — tracks activity over time</a:t>
            </a:r>
            <a:endParaRPr sz="900" b="0" i="0" u="none" strike="noStrike" cap="none" dirty="0">
              <a:solidFill>
                <a:schemeClr val="dk1"/>
              </a:solidFill>
              <a:latin typeface="Calibri"/>
              <a:ea typeface="Calibri"/>
              <a:cs typeface="Calibri"/>
              <a:sym typeface="Calibri"/>
            </a:endParaRPr>
          </a:p>
        </p:txBody>
      </p:sp>
      <p:sp>
        <p:nvSpPr>
          <p:cNvPr id="117" name="Google Shape;117;p7"/>
          <p:cNvSpPr/>
          <p:nvPr/>
        </p:nvSpPr>
        <p:spPr>
          <a:xfrm>
            <a:off x="402336" y="2574036"/>
            <a:ext cx="4041600" cy="255900"/>
          </a:xfrm>
          <a:prstGeom prst="rect">
            <a:avLst/>
          </a:prstGeom>
          <a:solidFill>
            <a:srgbClr val="192D44"/>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7"/>
          <p:cNvSpPr/>
          <p:nvPr/>
        </p:nvSpPr>
        <p:spPr>
          <a:xfrm>
            <a:off x="475488" y="2574036"/>
            <a:ext cx="14631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2D4"/>
              </a:buClr>
              <a:buSzPts val="900"/>
              <a:buFont typeface="Calibri"/>
              <a:buNone/>
            </a:pPr>
            <a:r>
              <a:rPr lang="en-US" sz="900" b="1" i="0" u="none" strike="noStrike" cap="none">
                <a:solidFill>
                  <a:srgbClr val="00C2D4"/>
                </a:solidFill>
                <a:latin typeface="Calibri"/>
                <a:ea typeface="Calibri"/>
                <a:cs typeface="Calibri"/>
                <a:sym typeface="Calibri"/>
              </a:rPr>
              <a:t>full_text</a:t>
            </a:r>
            <a:endParaRPr sz="900" b="0" i="0" u="none" strike="noStrike" cap="none">
              <a:solidFill>
                <a:schemeClr val="dk1"/>
              </a:solidFill>
              <a:latin typeface="Calibri"/>
              <a:ea typeface="Calibri"/>
              <a:cs typeface="Calibri"/>
              <a:sym typeface="Calibri"/>
            </a:endParaRPr>
          </a:p>
        </p:txBody>
      </p:sp>
      <p:sp>
        <p:nvSpPr>
          <p:cNvPr id="119" name="Google Shape;119;p7"/>
          <p:cNvSpPr/>
          <p:nvPr/>
        </p:nvSpPr>
        <p:spPr>
          <a:xfrm>
            <a:off x="1993392" y="2574036"/>
            <a:ext cx="23958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E0EF"/>
              </a:buClr>
              <a:buSzPts val="900"/>
              <a:buFont typeface="Calibri"/>
              <a:buNone/>
            </a:pPr>
            <a:r>
              <a:rPr lang="en-US" sz="900" b="0" i="0" u="none" strike="noStrike" cap="none" dirty="0">
                <a:solidFill>
                  <a:srgbClr val="C8E0EF"/>
                </a:solidFill>
                <a:latin typeface="Calibri"/>
                <a:ea typeface="Calibri"/>
                <a:cs typeface="Calibri"/>
                <a:sym typeface="Calibri"/>
              </a:rPr>
              <a:t>Primary text for all NLP analysis</a:t>
            </a:r>
            <a:endParaRPr sz="900" b="0" i="0" u="none" strike="noStrike" cap="none" dirty="0">
              <a:solidFill>
                <a:schemeClr val="dk1"/>
              </a:solidFill>
              <a:latin typeface="Calibri"/>
              <a:ea typeface="Calibri"/>
              <a:cs typeface="Calibri"/>
              <a:sym typeface="Calibri"/>
            </a:endParaRPr>
          </a:p>
        </p:txBody>
      </p:sp>
      <p:sp>
        <p:nvSpPr>
          <p:cNvPr id="120" name="Google Shape;120;p7"/>
          <p:cNvSpPr/>
          <p:nvPr/>
        </p:nvSpPr>
        <p:spPr>
          <a:xfrm>
            <a:off x="402336" y="2862072"/>
            <a:ext cx="4041600" cy="255900"/>
          </a:xfrm>
          <a:prstGeom prst="rect">
            <a:avLst/>
          </a:prstGeom>
          <a:solidFill>
            <a:srgbClr val="162840"/>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7"/>
          <p:cNvSpPr/>
          <p:nvPr/>
        </p:nvSpPr>
        <p:spPr>
          <a:xfrm>
            <a:off x="475488" y="2862072"/>
            <a:ext cx="14631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2D4"/>
              </a:buClr>
              <a:buSzPts val="900"/>
              <a:buFont typeface="Calibri"/>
              <a:buNone/>
            </a:pPr>
            <a:r>
              <a:rPr lang="en-US" sz="900" b="1" i="0" u="none" strike="noStrike" cap="none">
                <a:solidFill>
                  <a:srgbClr val="00C2D4"/>
                </a:solidFill>
                <a:latin typeface="Calibri"/>
                <a:ea typeface="Calibri"/>
                <a:cs typeface="Calibri"/>
                <a:sym typeface="Calibri"/>
              </a:rPr>
              <a:t>retweet_count</a:t>
            </a:r>
            <a:endParaRPr sz="900" b="0" i="0" u="none" strike="noStrike" cap="none">
              <a:solidFill>
                <a:schemeClr val="dk1"/>
              </a:solidFill>
              <a:latin typeface="Calibri"/>
              <a:ea typeface="Calibri"/>
              <a:cs typeface="Calibri"/>
              <a:sym typeface="Calibri"/>
            </a:endParaRPr>
          </a:p>
        </p:txBody>
      </p:sp>
      <p:sp>
        <p:nvSpPr>
          <p:cNvPr id="122" name="Google Shape;122;p7"/>
          <p:cNvSpPr/>
          <p:nvPr/>
        </p:nvSpPr>
        <p:spPr>
          <a:xfrm>
            <a:off x="1993392" y="2862072"/>
            <a:ext cx="23958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E0EF"/>
              </a:buClr>
              <a:buSzPts val="900"/>
              <a:buFont typeface="Calibri"/>
              <a:buNone/>
            </a:pPr>
            <a:r>
              <a:rPr lang="en-US" sz="900" b="0" i="0" u="none" strike="noStrike" cap="none">
                <a:solidFill>
                  <a:srgbClr val="C8E0EF"/>
                </a:solidFill>
                <a:latin typeface="Calibri"/>
                <a:ea typeface="Calibri"/>
                <a:cs typeface="Calibri"/>
                <a:sym typeface="Calibri"/>
              </a:rPr>
              <a:t>Retweet engagement signal</a:t>
            </a:r>
            <a:endParaRPr sz="900" b="0" i="0" u="none" strike="noStrike" cap="none">
              <a:solidFill>
                <a:schemeClr val="dk1"/>
              </a:solidFill>
              <a:latin typeface="Calibri"/>
              <a:ea typeface="Calibri"/>
              <a:cs typeface="Calibri"/>
              <a:sym typeface="Calibri"/>
            </a:endParaRPr>
          </a:p>
        </p:txBody>
      </p:sp>
      <p:sp>
        <p:nvSpPr>
          <p:cNvPr id="123" name="Google Shape;123;p7"/>
          <p:cNvSpPr/>
          <p:nvPr/>
        </p:nvSpPr>
        <p:spPr>
          <a:xfrm>
            <a:off x="402336" y="3150108"/>
            <a:ext cx="4041600" cy="255900"/>
          </a:xfrm>
          <a:prstGeom prst="rect">
            <a:avLst/>
          </a:prstGeom>
          <a:solidFill>
            <a:srgbClr val="192D44"/>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7"/>
          <p:cNvSpPr/>
          <p:nvPr/>
        </p:nvSpPr>
        <p:spPr>
          <a:xfrm>
            <a:off x="475488" y="3150108"/>
            <a:ext cx="14631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2D4"/>
              </a:buClr>
              <a:buSzPts val="900"/>
              <a:buFont typeface="Calibri"/>
              <a:buNone/>
            </a:pPr>
            <a:r>
              <a:rPr lang="en-US" sz="900" b="1" i="0" u="none" strike="noStrike" cap="none">
                <a:solidFill>
                  <a:srgbClr val="00C2D4"/>
                </a:solidFill>
                <a:latin typeface="Calibri"/>
                <a:ea typeface="Calibri"/>
                <a:cs typeface="Calibri"/>
                <a:sym typeface="Calibri"/>
              </a:rPr>
              <a:t>favorite_count</a:t>
            </a:r>
            <a:endParaRPr sz="900" b="0" i="0" u="none" strike="noStrike" cap="none">
              <a:solidFill>
                <a:schemeClr val="dk1"/>
              </a:solidFill>
              <a:latin typeface="Calibri"/>
              <a:ea typeface="Calibri"/>
              <a:cs typeface="Calibri"/>
              <a:sym typeface="Calibri"/>
            </a:endParaRPr>
          </a:p>
        </p:txBody>
      </p:sp>
      <p:sp>
        <p:nvSpPr>
          <p:cNvPr id="125" name="Google Shape;125;p7"/>
          <p:cNvSpPr/>
          <p:nvPr/>
        </p:nvSpPr>
        <p:spPr>
          <a:xfrm>
            <a:off x="1993392" y="3150108"/>
            <a:ext cx="23958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E0EF"/>
              </a:buClr>
              <a:buSzPts val="900"/>
              <a:buFont typeface="Calibri"/>
              <a:buNone/>
            </a:pPr>
            <a:r>
              <a:rPr lang="en-US" sz="900" b="0" i="0" u="none" strike="noStrike" cap="none">
                <a:solidFill>
                  <a:srgbClr val="C8E0EF"/>
                </a:solidFill>
                <a:latin typeface="Calibri"/>
                <a:ea typeface="Calibri"/>
                <a:cs typeface="Calibri"/>
                <a:sym typeface="Calibri"/>
              </a:rPr>
              <a:t>Favorite/like engagement signal</a:t>
            </a:r>
            <a:endParaRPr sz="900" b="0" i="0" u="none" strike="noStrike" cap="none">
              <a:solidFill>
                <a:schemeClr val="dk1"/>
              </a:solidFill>
              <a:latin typeface="Calibri"/>
              <a:ea typeface="Calibri"/>
              <a:cs typeface="Calibri"/>
              <a:sym typeface="Calibri"/>
            </a:endParaRPr>
          </a:p>
        </p:txBody>
      </p:sp>
      <p:sp>
        <p:nvSpPr>
          <p:cNvPr id="126" name="Google Shape;126;p7"/>
          <p:cNvSpPr/>
          <p:nvPr/>
        </p:nvSpPr>
        <p:spPr>
          <a:xfrm>
            <a:off x="402336" y="3438144"/>
            <a:ext cx="4041600" cy="255900"/>
          </a:xfrm>
          <a:prstGeom prst="rect">
            <a:avLst/>
          </a:prstGeom>
          <a:solidFill>
            <a:srgbClr val="162840"/>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7"/>
          <p:cNvSpPr/>
          <p:nvPr/>
        </p:nvSpPr>
        <p:spPr>
          <a:xfrm>
            <a:off x="475488" y="3438144"/>
            <a:ext cx="14631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2D4"/>
              </a:buClr>
              <a:buSzPts val="900"/>
              <a:buFont typeface="Calibri"/>
              <a:buNone/>
            </a:pPr>
            <a:r>
              <a:rPr lang="en-US" sz="900" b="1" i="0" u="none" strike="noStrike" cap="none">
                <a:solidFill>
                  <a:srgbClr val="00C2D4"/>
                </a:solidFill>
                <a:latin typeface="Calibri"/>
                <a:ea typeface="Calibri"/>
                <a:cs typeface="Calibri"/>
                <a:sym typeface="Calibri"/>
              </a:rPr>
              <a:t>user_id / user_name</a:t>
            </a:r>
            <a:endParaRPr sz="900" b="0" i="0" u="none" strike="noStrike" cap="none">
              <a:solidFill>
                <a:schemeClr val="dk1"/>
              </a:solidFill>
              <a:latin typeface="Calibri"/>
              <a:ea typeface="Calibri"/>
              <a:cs typeface="Calibri"/>
              <a:sym typeface="Calibri"/>
            </a:endParaRPr>
          </a:p>
        </p:txBody>
      </p:sp>
      <p:sp>
        <p:nvSpPr>
          <p:cNvPr id="128" name="Google Shape;128;p7"/>
          <p:cNvSpPr/>
          <p:nvPr/>
        </p:nvSpPr>
        <p:spPr>
          <a:xfrm>
            <a:off x="1993392" y="3438144"/>
            <a:ext cx="23958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E0EF"/>
              </a:buClr>
              <a:buSzPts val="900"/>
              <a:buFont typeface="Calibri"/>
              <a:buNone/>
            </a:pPr>
            <a:r>
              <a:rPr lang="en-US" sz="900" b="0" i="0" u="none" strike="noStrike" cap="none">
                <a:solidFill>
                  <a:srgbClr val="C8E0EF"/>
                </a:solidFill>
                <a:latin typeface="Calibri"/>
                <a:ea typeface="Calibri"/>
                <a:cs typeface="Calibri"/>
                <a:sym typeface="Calibri"/>
              </a:rPr>
              <a:t>User identity &amp; linking</a:t>
            </a:r>
            <a:endParaRPr sz="900" b="0" i="0" u="none" strike="noStrike" cap="none">
              <a:solidFill>
                <a:schemeClr val="dk1"/>
              </a:solidFill>
              <a:latin typeface="Calibri"/>
              <a:ea typeface="Calibri"/>
              <a:cs typeface="Calibri"/>
              <a:sym typeface="Calibri"/>
            </a:endParaRPr>
          </a:p>
        </p:txBody>
      </p:sp>
      <p:sp>
        <p:nvSpPr>
          <p:cNvPr id="129" name="Google Shape;129;p7"/>
          <p:cNvSpPr/>
          <p:nvPr/>
        </p:nvSpPr>
        <p:spPr>
          <a:xfrm>
            <a:off x="402336" y="3726180"/>
            <a:ext cx="4041600" cy="255900"/>
          </a:xfrm>
          <a:prstGeom prst="rect">
            <a:avLst/>
          </a:prstGeom>
          <a:solidFill>
            <a:srgbClr val="192D44"/>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7"/>
          <p:cNvSpPr/>
          <p:nvPr/>
        </p:nvSpPr>
        <p:spPr>
          <a:xfrm>
            <a:off x="475488" y="3726180"/>
            <a:ext cx="14631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2D4"/>
              </a:buClr>
              <a:buSzPts val="900"/>
              <a:buFont typeface="Calibri"/>
              <a:buNone/>
            </a:pPr>
            <a:r>
              <a:rPr lang="en-US" sz="900" b="1" i="0" u="none" strike="noStrike" cap="none">
                <a:solidFill>
                  <a:srgbClr val="00C2D4"/>
                </a:solidFill>
                <a:latin typeface="Calibri"/>
                <a:ea typeface="Calibri"/>
                <a:cs typeface="Calibri"/>
                <a:sym typeface="Calibri"/>
              </a:rPr>
              <a:t>user_screen_name</a:t>
            </a:r>
            <a:endParaRPr sz="900" b="0" i="0" u="none" strike="noStrike" cap="none">
              <a:solidFill>
                <a:schemeClr val="dk1"/>
              </a:solidFill>
              <a:latin typeface="Calibri"/>
              <a:ea typeface="Calibri"/>
              <a:cs typeface="Calibri"/>
              <a:sym typeface="Calibri"/>
            </a:endParaRPr>
          </a:p>
        </p:txBody>
      </p:sp>
      <p:sp>
        <p:nvSpPr>
          <p:cNvPr id="131" name="Google Shape;131;p7"/>
          <p:cNvSpPr/>
          <p:nvPr/>
        </p:nvSpPr>
        <p:spPr>
          <a:xfrm>
            <a:off x="1993392" y="3726180"/>
            <a:ext cx="23958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E0EF"/>
              </a:buClr>
              <a:buSzPts val="900"/>
              <a:buFont typeface="Calibri"/>
              <a:buNone/>
            </a:pPr>
            <a:r>
              <a:rPr lang="en-US" sz="900" b="0" i="0" u="none" strike="noStrike" cap="none">
                <a:solidFill>
                  <a:srgbClr val="C8E0EF"/>
                </a:solidFill>
                <a:latin typeface="Calibri"/>
                <a:ea typeface="Calibri"/>
                <a:cs typeface="Calibri"/>
                <a:sym typeface="Calibri"/>
              </a:rPr>
              <a:t>Used for influencer identification</a:t>
            </a:r>
            <a:endParaRPr sz="900" b="0" i="0" u="none" strike="noStrike" cap="none">
              <a:solidFill>
                <a:schemeClr val="dk1"/>
              </a:solidFill>
              <a:latin typeface="Calibri"/>
              <a:ea typeface="Calibri"/>
              <a:cs typeface="Calibri"/>
              <a:sym typeface="Calibri"/>
            </a:endParaRPr>
          </a:p>
        </p:txBody>
      </p:sp>
      <p:sp>
        <p:nvSpPr>
          <p:cNvPr id="132" name="Google Shape;132;p7"/>
          <p:cNvSpPr/>
          <p:nvPr/>
        </p:nvSpPr>
        <p:spPr>
          <a:xfrm>
            <a:off x="402336" y="4014216"/>
            <a:ext cx="4041600" cy="255900"/>
          </a:xfrm>
          <a:prstGeom prst="rect">
            <a:avLst/>
          </a:prstGeom>
          <a:solidFill>
            <a:srgbClr val="162840"/>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7"/>
          <p:cNvSpPr/>
          <p:nvPr/>
        </p:nvSpPr>
        <p:spPr>
          <a:xfrm>
            <a:off x="475488" y="4014216"/>
            <a:ext cx="14631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2D4"/>
              </a:buClr>
              <a:buSzPts val="900"/>
              <a:buFont typeface="Calibri"/>
              <a:buNone/>
            </a:pPr>
            <a:r>
              <a:rPr lang="en-US" sz="900" b="1" i="0" u="none" strike="noStrike" cap="none">
                <a:solidFill>
                  <a:srgbClr val="00C2D4"/>
                </a:solidFill>
                <a:latin typeface="Calibri"/>
                <a:ea typeface="Calibri"/>
                <a:cs typeface="Calibri"/>
                <a:sym typeface="Calibri"/>
              </a:rPr>
              <a:t>user_description</a:t>
            </a:r>
            <a:endParaRPr sz="900" b="0" i="0" u="none" strike="noStrike" cap="none">
              <a:solidFill>
                <a:schemeClr val="dk1"/>
              </a:solidFill>
              <a:latin typeface="Calibri"/>
              <a:ea typeface="Calibri"/>
              <a:cs typeface="Calibri"/>
              <a:sym typeface="Calibri"/>
            </a:endParaRPr>
          </a:p>
        </p:txBody>
      </p:sp>
      <p:sp>
        <p:nvSpPr>
          <p:cNvPr id="134" name="Google Shape;134;p7"/>
          <p:cNvSpPr/>
          <p:nvPr/>
        </p:nvSpPr>
        <p:spPr>
          <a:xfrm>
            <a:off x="1993392" y="4014216"/>
            <a:ext cx="23958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E0EF"/>
              </a:buClr>
              <a:buSzPts val="900"/>
              <a:buFont typeface="Calibri"/>
              <a:buNone/>
            </a:pPr>
            <a:r>
              <a:rPr lang="en-US" sz="900" b="0" i="0" u="none" strike="noStrike" cap="none">
                <a:solidFill>
                  <a:srgbClr val="C8E0EF"/>
                </a:solidFill>
                <a:latin typeface="Calibri"/>
                <a:ea typeface="Calibri"/>
                <a:cs typeface="Calibri"/>
                <a:sym typeface="Calibri"/>
              </a:rPr>
              <a:t>Demographic/ideological context</a:t>
            </a:r>
            <a:endParaRPr sz="900" b="0" i="0" u="none" strike="noStrike" cap="none">
              <a:solidFill>
                <a:schemeClr val="dk1"/>
              </a:solidFill>
              <a:latin typeface="Calibri"/>
              <a:ea typeface="Calibri"/>
              <a:cs typeface="Calibri"/>
              <a:sym typeface="Calibri"/>
            </a:endParaRPr>
          </a:p>
        </p:txBody>
      </p:sp>
      <p:sp>
        <p:nvSpPr>
          <p:cNvPr id="135" name="Google Shape;135;p7"/>
          <p:cNvSpPr/>
          <p:nvPr/>
        </p:nvSpPr>
        <p:spPr>
          <a:xfrm>
            <a:off x="402336" y="4302252"/>
            <a:ext cx="4041600" cy="255900"/>
          </a:xfrm>
          <a:prstGeom prst="rect">
            <a:avLst/>
          </a:prstGeom>
          <a:solidFill>
            <a:srgbClr val="192D44"/>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7"/>
          <p:cNvSpPr/>
          <p:nvPr/>
        </p:nvSpPr>
        <p:spPr>
          <a:xfrm>
            <a:off x="475488" y="4302252"/>
            <a:ext cx="14631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2D4"/>
              </a:buClr>
              <a:buSzPts val="900"/>
              <a:buFont typeface="Calibri"/>
              <a:buNone/>
            </a:pPr>
            <a:r>
              <a:rPr lang="en-US" sz="900" b="1" i="0" u="none" strike="noStrike" cap="none">
                <a:solidFill>
                  <a:srgbClr val="00C2D4"/>
                </a:solidFill>
                <a:latin typeface="Calibri"/>
                <a:ea typeface="Calibri"/>
                <a:cs typeface="Calibri"/>
                <a:sym typeface="Calibri"/>
              </a:rPr>
              <a:t>user_location</a:t>
            </a:r>
            <a:endParaRPr sz="900" b="0" i="0" u="none" strike="noStrike" cap="none">
              <a:solidFill>
                <a:schemeClr val="dk1"/>
              </a:solidFill>
              <a:latin typeface="Calibri"/>
              <a:ea typeface="Calibri"/>
              <a:cs typeface="Calibri"/>
              <a:sym typeface="Calibri"/>
            </a:endParaRPr>
          </a:p>
        </p:txBody>
      </p:sp>
      <p:sp>
        <p:nvSpPr>
          <p:cNvPr id="137" name="Google Shape;137;p7"/>
          <p:cNvSpPr/>
          <p:nvPr/>
        </p:nvSpPr>
        <p:spPr>
          <a:xfrm>
            <a:off x="1993392" y="4302252"/>
            <a:ext cx="23958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E0EF"/>
              </a:buClr>
              <a:buSzPts val="900"/>
              <a:buFont typeface="Calibri"/>
              <a:buNone/>
            </a:pPr>
            <a:r>
              <a:rPr lang="en-US" sz="900" b="0" i="0" u="none" strike="noStrike" cap="none">
                <a:solidFill>
                  <a:srgbClr val="C8E0EF"/>
                </a:solidFill>
                <a:latin typeface="Calibri"/>
                <a:ea typeface="Calibri"/>
                <a:cs typeface="Calibri"/>
                <a:sym typeface="Calibri"/>
              </a:rPr>
              <a:t>Geographic distribution analysis</a:t>
            </a:r>
            <a:endParaRPr sz="900" b="0" i="0" u="none" strike="noStrike" cap="none">
              <a:solidFill>
                <a:schemeClr val="dk1"/>
              </a:solidFill>
              <a:latin typeface="Calibri"/>
              <a:ea typeface="Calibri"/>
              <a:cs typeface="Calibri"/>
              <a:sym typeface="Calibri"/>
            </a:endParaRPr>
          </a:p>
        </p:txBody>
      </p:sp>
      <p:sp>
        <p:nvSpPr>
          <p:cNvPr id="138" name="Google Shape;138;p7"/>
          <p:cNvSpPr/>
          <p:nvPr/>
        </p:nvSpPr>
        <p:spPr>
          <a:xfrm>
            <a:off x="402336" y="4590288"/>
            <a:ext cx="4041600" cy="255900"/>
          </a:xfrm>
          <a:prstGeom prst="rect">
            <a:avLst/>
          </a:prstGeom>
          <a:solidFill>
            <a:srgbClr val="162840"/>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7"/>
          <p:cNvSpPr/>
          <p:nvPr/>
        </p:nvSpPr>
        <p:spPr>
          <a:xfrm>
            <a:off x="475488" y="4590288"/>
            <a:ext cx="14631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2D4"/>
              </a:buClr>
              <a:buSzPts val="900"/>
              <a:buFont typeface="Calibri"/>
              <a:buNone/>
            </a:pPr>
            <a:r>
              <a:rPr lang="en-US" sz="900" b="1" i="0" u="none" strike="noStrike" cap="none">
                <a:solidFill>
                  <a:srgbClr val="00C2D4"/>
                </a:solidFill>
                <a:latin typeface="Calibri"/>
                <a:ea typeface="Calibri"/>
                <a:cs typeface="Calibri"/>
                <a:sym typeface="Calibri"/>
              </a:rPr>
              <a:t>user_created_at</a:t>
            </a:r>
            <a:endParaRPr sz="900" b="0" i="0" u="none" strike="noStrike" cap="none">
              <a:solidFill>
                <a:schemeClr val="dk1"/>
              </a:solidFill>
              <a:latin typeface="Calibri"/>
              <a:ea typeface="Calibri"/>
              <a:cs typeface="Calibri"/>
              <a:sym typeface="Calibri"/>
            </a:endParaRPr>
          </a:p>
        </p:txBody>
      </p:sp>
      <p:sp>
        <p:nvSpPr>
          <p:cNvPr id="140" name="Google Shape;140;p7"/>
          <p:cNvSpPr/>
          <p:nvPr/>
        </p:nvSpPr>
        <p:spPr>
          <a:xfrm>
            <a:off x="1993392" y="4590288"/>
            <a:ext cx="23958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E0EF"/>
              </a:buClr>
              <a:buSzPts val="900"/>
              <a:buFont typeface="Calibri"/>
              <a:buNone/>
            </a:pPr>
            <a:r>
              <a:rPr lang="en-US" sz="900" b="0" i="0" u="none" strike="noStrike" cap="none">
                <a:solidFill>
                  <a:srgbClr val="C8E0EF"/>
                </a:solidFill>
                <a:latin typeface="Calibri"/>
                <a:ea typeface="Calibri"/>
                <a:cs typeface="Calibri"/>
                <a:sym typeface="Calibri"/>
              </a:rPr>
              <a:t>Account age — bot detection proxy</a:t>
            </a:r>
            <a:endParaRPr sz="900" b="0" i="0" u="none" strike="noStrike" cap="none">
              <a:solidFill>
                <a:schemeClr val="dk1"/>
              </a:solidFill>
              <a:latin typeface="Calibri"/>
              <a:ea typeface="Calibri"/>
              <a:cs typeface="Calibri"/>
              <a:sym typeface="Calibri"/>
            </a:endParaRPr>
          </a:p>
        </p:txBody>
      </p:sp>
      <p:sp>
        <p:nvSpPr>
          <p:cNvPr id="141" name="Google Shape;141;p7"/>
          <p:cNvSpPr/>
          <p:nvPr/>
        </p:nvSpPr>
        <p:spPr>
          <a:xfrm>
            <a:off x="4754880" y="1828800"/>
            <a:ext cx="4114800" cy="3108900"/>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7"/>
          <p:cNvSpPr/>
          <p:nvPr/>
        </p:nvSpPr>
        <p:spPr>
          <a:xfrm>
            <a:off x="4892040" y="1901952"/>
            <a:ext cx="3840600" cy="320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A623"/>
              </a:buClr>
              <a:buSzPts val="1200"/>
              <a:buFont typeface="Calibri"/>
              <a:buNone/>
            </a:pPr>
            <a:r>
              <a:rPr lang="en-US" sz="1200" b="1" i="0" u="none" strike="noStrike" cap="none">
                <a:solidFill>
                  <a:srgbClr val="F5A623"/>
                </a:solidFill>
                <a:latin typeface="Calibri"/>
                <a:ea typeface="Calibri"/>
                <a:cs typeface="Calibri"/>
                <a:sym typeface="Calibri"/>
              </a:rPr>
              <a:t>2019 Australian Federal Election</a:t>
            </a:r>
            <a:endParaRPr sz="1200" b="0" i="0" u="none" strike="noStrike" cap="none">
              <a:solidFill>
                <a:schemeClr val="dk1"/>
              </a:solidFill>
              <a:latin typeface="Calibri"/>
              <a:ea typeface="Calibri"/>
              <a:cs typeface="Calibri"/>
              <a:sym typeface="Calibri"/>
            </a:endParaRPr>
          </a:p>
        </p:txBody>
      </p:sp>
      <p:sp>
        <p:nvSpPr>
          <p:cNvPr id="143" name="Google Shape;143;p7"/>
          <p:cNvSpPr/>
          <p:nvPr/>
        </p:nvSpPr>
        <p:spPr>
          <a:xfrm>
            <a:off x="4892040" y="2267712"/>
            <a:ext cx="38406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E0EF"/>
              </a:buClr>
              <a:buSzPts val="1000"/>
              <a:buFont typeface="Calibri"/>
              <a:buNone/>
            </a:pPr>
            <a:r>
              <a:rPr lang="en-US" sz="1000" b="0" i="0" u="none" strike="noStrike" cap="none">
                <a:solidFill>
                  <a:srgbClr val="C8E0EF"/>
                </a:solidFill>
                <a:latin typeface="Calibri"/>
                <a:ea typeface="Calibri"/>
                <a:cs typeface="Calibri"/>
                <a:sym typeface="Calibri"/>
              </a:rPr>
              <a:t>Election Day: May 18, 2019  •  Total Seats: 151</a:t>
            </a:r>
            <a:endParaRPr sz="1000" b="0" i="0" u="none" strike="noStrike" cap="none">
              <a:solidFill>
                <a:schemeClr val="dk1"/>
              </a:solidFill>
              <a:latin typeface="Calibri"/>
              <a:ea typeface="Calibri"/>
              <a:cs typeface="Calibri"/>
              <a:sym typeface="Calibri"/>
            </a:endParaRPr>
          </a:p>
        </p:txBody>
      </p:sp>
      <p:sp>
        <p:nvSpPr>
          <p:cNvPr id="144" name="Google Shape;144;p7"/>
          <p:cNvSpPr/>
          <p:nvPr/>
        </p:nvSpPr>
        <p:spPr>
          <a:xfrm>
            <a:off x="4892040" y="2578608"/>
            <a:ext cx="3840600" cy="255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90AA"/>
              </a:buClr>
              <a:buSzPts val="1000"/>
              <a:buFont typeface="Calibri"/>
              <a:buNone/>
            </a:pPr>
            <a:r>
              <a:rPr lang="en-US" sz="1000" b="1" i="0" u="none" strike="noStrike" cap="none">
                <a:solidFill>
                  <a:srgbClr val="6B90AA"/>
                </a:solidFill>
                <a:latin typeface="Calibri"/>
                <a:ea typeface="Calibri"/>
                <a:cs typeface="Calibri"/>
                <a:sym typeface="Calibri"/>
              </a:rPr>
              <a:t>Major Parties:</a:t>
            </a:r>
            <a:endParaRPr sz="1000" b="0" i="0" u="none" strike="noStrike" cap="none">
              <a:solidFill>
                <a:schemeClr val="dk1"/>
              </a:solidFill>
              <a:latin typeface="Calibri"/>
              <a:ea typeface="Calibri"/>
              <a:cs typeface="Calibri"/>
              <a:sym typeface="Calibri"/>
            </a:endParaRPr>
          </a:p>
        </p:txBody>
      </p:sp>
      <p:sp>
        <p:nvSpPr>
          <p:cNvPr id="145" name="Google Shape;145;p7"/>
          <p:cNvSpPr/>
          <p:nvPr/>
        </p:nvSpPr>
        <p:spPr>
          <a:xfrm>
            <a:off x="4892040" y="2852928"/>
            <a:ext cx="63900" cy="329100"/>
          </a:xfrm>
          <a:prstGeom prst="rect">
            <a:avLst/>
          </a:prstGeom>
          <a:solidFill>
            <a:srgbClr val="0077A8"/>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7"/>
          <p:cNvSpPr/>
          <p:nvPr/>
        </p:nvSpPr>
        <p:spPr>
          <a:xfrm>
            <a:off x="5029200" y="2852928"/>
            <a:ext cx="36576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00"/>
              <a:buFont typeface="Calibri"/>
              <a:buNone/>
            </a:pPr>
            <a:r>
              <a:rPr lang="en-US" sz="1000" b="0" i="0" u="none" strike="noStrike" cap="none">
                <a:solidFill>
                  <a:srgbClr val="FFFFFF"/>
                </a:solidFill>
                <a:latin typeface="Calibri"/>
                <a:ea typeface="Calibri"/>
                <a:cs typeface="Calibri"/>
                <a:sym typeface="Calibri"/>
              </a:rPr>
              <a:t>LNP (Coalition) — Scott Morrison</a:t>
            </a:r>
            <a:endParaRPr sz="1000" b="0" i="0" u="none" strike="noStrike" cap="none">
              <a:solidFill>
                <a:schemeClr val="dk1"/>
              </a:solidFill>
              <a:latin typeface="Calibri"/>
              <a:ea typeface="Calibri"/>
              <a:cs typeface="Calibri"/>
              <a:sym typeface="Calibri"/>
            </a:endParaRPr>
          </a:p>
        </p:txBody>
      </p:sp>
      <p:sp>
        <p:nvSpPr>
          <p:cNvPr id="147" name="Google Shape;147;p7"/>
          <p:cNvSpPr/>
          <p:nvPr/>
        </p:nvSpPr>
        <p:spPr>
          <a:xfrm>
            <a:off x="4892040" y="3255264"/>
            <a:ext cx="63900" cy="329100"/>
          </a:xfrm>
          <a:prstGeom prst="rect">
            <a:avLst/>
          </a:prstGeom>
          <a:solidFill>
            <a:srgbClr val="06C17A"/>
          </a:solidFill>
          <a:ln w="12700" cap="flat" cmpd="sng">
            <a:solidFill>
              <a:srgbClr val="06C17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7"/>
          <p:cNvSpPr/>
          <p:nvPr/>
        </p:nvSpPr>
        <p:spPr>
          <a:xfrm>
            <a:off x="5029200" y="3255264"/>
            <a:ext cx="36576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00"/>
              <a:buFont typeface="Calibri"/>
              <a:buNone/>
            </a:pPr>
            <a:r>
              <a:rPr lang="en-US" sz="1000" b="0" i="0" u="none" strike="noStrike" cap="none">
                <a:solidFill>
                  <a:srgbClr val="FFFFFF"/>
                </a:solidFill>
                <a:latin typeface="Calibri"/>
                <a:ea typeface="Calibri"/>
                <a:cs typeface="Calibri"/>
                <a:sym typeface="Calibri"/>
              </a:rPr>
              <a:t>ALP (Labor) — Bill Shorten</a:t>
            </a:r>
            <a:endParaRPr sz="1000" b="0" i="0" u="none" strike="noStrike" cap="none">
              <a:solidFill>
                <a:schemeClr val="dk1"/>
              </a:solidFill>
              <a:latin typeface="Calibri"/>
              <a:ea typeface="Calibri"/>
              <a:cs typeface="Calibri"/>
              <a:sym typeface="Calibri"/>
            </a:endParaRPr>
          </a:p>
        </p:txBody>
      </p:sp>
      <p:sp>
        <p:nvSpPr>
          <p:cNvPr id="149" name="Google Shape;149;p7"/>
          <p:cNvSpPr/>
          <p:nvPr/>
        </p:nvSpPr>
        <p:spPr>
          <a:xfrm>
            <a:off x="4892040" y="3657600"/>
            <a:ext cx="63900" cy="329100"/>
          </a:xfrm>
          <a:prstGeom prst="rect">
            <a:avLst/>
          </a:prstGeom>
          <a:solidFill>
            <a:srgbClr val="2E7D32"/>
          </a:solidFill>
          <a:ln w="12700" cap="flat" cmpd="sng">
            <a:solidFill>
              <a:srgbClr val="2E7D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7"/>
          <p:cNvSpPr/>
          <p:nvPr/>
        </p:nvSpPr>
        <p:spPr>
          <a:xfrm>
            <a:off x="5029200" y="3657600"/>
            <a:ext cx="36576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00"/>
              <a:buFont typeface="Calibri"/>
              <a:buNone/>
            </a:pPr>
            <a:r>
              <a:rPr lang="en-US" sz="1000" b="0" i="0" u="none" strike="noStrike" cap="none">
                <a:solidFill>
                  <a:srgbClr val="FFFFFF"/>
                </a:solidFill>
                <a:latin typeface="Calibri"/>
                <a:ea typeface="Calibri"/>
                <a:cs typeface="Calibri"/>
                <a:sym typeface="Calibri"/>
              </a:rPr>
              <a:t>The Greens — Richard Di Natale</a:t>
            </a:r>
            <a:endParaRPr sz="1000" b="0" i="0" u="none" strike="noStrike" cap="none">
              <a:solidFill>
                <a:schemeClr val="dk1"/>
              </a:solidFill>
              <a:latin typeface="Calibri"/>
              <a:ea typeface="Calibri"/>
              <a:cs typeface="Calibri"/>
              <a:sym typeface="Calibri"/>
            </a:endParaRPr>
          </a:p>
        </p:txBody>
      </p:sp>
      <p:sp>
        <p:nvSpPr>
          <p:cNvPr id="151" name="Google Shape;151;p7"/>
          <p:cNvSpPr/>
          <p:nvPr/>
        </p:nvSpPr>
        <p:spPr>
          <a:xfrm>
            <a:off x="4892040" y="4059936"/>
            <a:ext cx="63900" cy="329100"/>
          </a:xfrm>
          <a:prstGeom prst="rect">
            <a:avLst/>
          </a:prstGeom>
          <a:solidFill>
            <a:srgbClr val="CC6600"/>
          </a:solidFill>
          <a:ln w="12700" cap="flat" cmpd="sng">
            <a:solidFill>
              <a:srgbClr val="CC66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7"/>
          <p:cNvSpPr/>
          <p:nvPr/>
        </p:nvSpPr>
        <p:spPr>
          <a:xfrm>
            <a:off x="5029200" y="4059936"/>
            <a:ext cx="36576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00"/>
              <a:buFont typeface="Calibri"/>
              <a:buNone/>
            </a:pPr>
            <a:r>
              <a:rPr lang="en-US" sz="1000" b="0" i="0" u="none" strike="noStrike" cap="none">
                <a:solidFill>
                  <a:srgbClr val="FFFFFF"/>
                </a:solidFill>
                <a:latin typeface="Calibri"/>
                <a:ea typeface="Calibri"/>
                <a:cs typeface="Calibri"/>
                <a:sym typeface="Calibri"/>
              </a:rPr>
              <a:t>One Nation — Pauline Hanson</a:t>
            </a:r>
            <a:endParaRPr sz="1000" b="0" i="0" u="none" strike="noStrike" cap="none">
              <a:solidFill>
                <a:schemeClr val="dk1"/>
              </a:solidFill>
              <a:latin typeface="Calibri"/>
              <a:ea typeface="Calibri"/>
              <a:cs typeface="Calibri"/>
              <a:sym typeface="Calibri"/>
            </a:endParaRPr>
          </a:p>
        </p:txBody>
      </p:sp>
      <p:sp>
        <p:nvSpPr>
          <p:cNvPr id="153" name="Google Shape;153;p7"/>
          <p:cNvSpPr/>
          <p:nvPr/>
        </p:nvSpPr>
        <p:spPr>
          <a:xfrm>
            <a:off x="4892040" y="4462272"/>
            <a:ext cx="63900" cy="329100"/>
          </a:xfrm>
          <a:prstGeom prst="rect">
            <a:avLst/>
          </a:prstGeom>
          <a:solidFill>
            <a:srgbClr val="F5A623"/>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7"/>
          <p:cNvSpPr/>
          <p:nvPr/>
        </p:nvSpPr>
        <p:spPr>
          <a:xfrm>
            <a:off x="5029200" y="4462272"/>
            <a:ext cx="3657600" cy="3291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00"/>
              <a:buFont typeface="Calibri"/>
              <a:buNone/>
            </a:pPr>
            <a:r>
              <a:rPr lang="en-US" sz="1000" b="0" i="0" u="none" strike="noStrike" cap="none">
                <a:solidFill>
                  <a:srgbClr val="FFFFFF"/>
                </a:solidFill>
                <a:latin typeface="Calibri"/>
                <a:ea typeface="Calibri"/>
                <a:cs typeface="Calibri"/>
                <a:sym typeface="Calibri"/>
              </a:rPr>
              <a:t>United Australia Party — Clive Palmer</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159"/>
        <p:cNvGrpSpPr/>
        <p:nvPr/>
      </p:nvGrpSpPr>
      <p:grpSpPr>
        <a:xfrm>
          <a:off x="0" y="0"/>
          <a:ext cx="0" cy="0"/>
          <a:chOff x="0" y="0"/>
          <a:chExt cx="0" cy="0"/>
        </a:xfrm>
      </p:grpSpPr>
      <p:sp>
        <p:nvSpPr>
          <p:cNvPr id="160" name="Google Shape;160;p8"/>
          <p:cNvSpPr/>
          <p:nvPr/>
        </p:nvSpPr>
        <p:spPr>
          <a:xfrm>
            <a:off x="0" y="0"/>
            <a:ext cx="9144000" cy="621900"/>
          </a:xfrm>
          <a:prstGeom prst="rect">
            <a:avLst/>
          </a:prstGeom>
          <a:solidFill>
            <a:srgbClr val="112236"/>
          </a:solidFill>
          <a:ln w="12700" cap="flat" cmpd="sng">
            <a:solidFill>
              <a:srgbClr val="1122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8"/>
          <p:cNvSpPr/>
          <p:nvPr/>
        </p:nvSpPr>
        <p:spPr>
          <a:xfrm>
            <a:off x="0" y="0"/>
            <a:ext cx="128100" cy="621900"/>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8"/>
          <p:cNvSpPr/>
          <p:nvPr/>
        </p:nvSpPr>
        <p:spPr>
          <a:xfrm>
            <a:off x="219456" y="0"/>
            <a:ext cx="8778300" cy="621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a:solidFill>
                  <a:srgbClr val="FFFFFF"/>
                </a:solidFill>
                <a:latin typeface="Calibri"/>
                <a:ea typeface="Calibri"/>
                <a:cs typeface="Calibri"/>
                <a:sym typeface="Calibri"/>
              </a:rPr>
              <a:t>Project Objectives</a:t>
            </a:r>
            <a:endParaRPr sz="2000" b="0" i="0" u="none" strike="noStrike" cap="none">
              <a:solidFill>
                <a:schemeClr val="dk1"/>
              </a:solidFill>
              <a:latin typeface="Calibri"/>
              <a:ea typeface="Calibri"/>
              <a:cs typeface="Calibri"/>
              <a:sym typeface="Calibri"/>
            </a:endParaRPr>
          </a:p>
        </p:txBody>
      </p:sp>
      <p:sp>
        <p:nvSpPr>
          <p:cNvPr id="163" name="Google Shape;163;p8"/>
          <p:cNvSpPr/>
          <p:nvPr/>
        </p:nvSpPr>
        <p:spPr>
          <a:xfrm>
            <a:off x="256032" y="749808"/>
            <a:ext cx="2030100" cy="50400"/>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8"/>
          <p:cNvSpPr/>
          <p:nvPr/>
        </p:nvSpPr>
        <p:spPr>
          <a:xfrm>
            <a:off x="2468880" y="749808"/>
            <a:ext cx="2030100" cy="50400"/>
          </a:xfrm>
          <a:prstGeom prst="rect">
            <a:avLst/>
          </a:prstGeom>
          <a:solidFill>
            <a:srgbClr val="F5A623"/>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8"/>
          <p:cNvSpPr/>
          <p:nvPr/>
        </p:nvSpPr>
        <p:spPr>
          <a:xfrm>
            <a:off x="4681728" y="749808"/>
            <a:ext cx="2030100" cy="50400"/>
          </a:xfrm>
          <a:prstGeom prst="rect">
            <a:avLst/>
          </a:prstGeom>
          <a:solidFill>
            <a:srgbClr val="06C17A"/>
          </a:solidFill>
          <a:ln w="12700" cap="flat" cmpd="sng">
            <a:solidFill>
              <a:srgbClr val="06C17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8"/>
          <p:cNvSpPr/>
          <p:nvPr/>
        </p:nvSpPr>
        <p:spPr>
          <a:xfrm>
            <a:off x="6894576" y="749808"/>
            <a:ext cx="2030100" cy="50400"/>
          </a:xfrm>
          <a:prstGeom prst="rect">
            <a:avLst/>
          </a:prstGeom>
          <a:solidFill>
            <a:srgbClr val="FF8C00"/>
          </a:solidFill>
          <a:ln w="12700" cap="flat" cmpd="sng">
            <a:solidFill>
              <a:srgbClr val="FF8C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8"/>
          <p:cNvSpPr/>
          <p:nvPr/>
        </p:nvSpPr>
        <p:spPr>
          <a:xfrm>
            <a:off x="109650" y="1026025"/>
            <a:ext cx="8924700" cy="3934800"/>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8"/>
          <p:cNvSpPr txBox="1"/>
          <p:nvPr/>
        </p:nvSpPr>
        <p:spPr>
          <a:xfrm>
            <a:off x="548650" y="1325875"/>
            <a:ext cx="7699800" cy="3109200"/>
          </a:xfrm>
          <a:prstGeom prst="rect">
            <a:avLst/>
          </a:prstGeom>
          <a:noFill/>
          <a:ln>
            <a:noFill/>
          </a:ln>
        </p:spPr>
        <p:txBody>
          <a:bodyPr spcFirstLastPara="1" wrap="square" lIns="45700" tIns="45700" rIns="45700" bIns="45700" anchor="t" anchorCtr="0">
            <a:spAutoFit/>
          </a:bodyPr>
          <a:lstStyle/>
          <a:p>
            <a:pPr marL="0" marR="0" lvl="0" indent="0" algn="l" rtl="0">
              <a:lnSpc>
                <a:spcPct val="200000"/>
              </a:lnSpc>
              <a:spcBef>
                <a:spcPts val="0"/>
              </a:spcBef>
              <a:spcAft>
                <a:spcPts val="0"/>
              </a:spcAft>
              <a:buClr>
                <a:srgbClr val="1F2A3C"/>
              </a:buClr>
              <a:buSzPts val="2000"/>
              <a:buFont typeface="Calibri"/>
              <a:buNone/>
            </a:pPr>
            <a:r>
              <a:rPr lang="en-US" sz="1600" b="1" i="0" u="none" strike="noStrike" cap="none">
                <a:solidFill>
                  <a:schemeClr val="lt1"/>
                </a:solidFill>
                <a:latin typeface="Calibri"/>
                <a:ea typeface="Calibri"/>
                <a:cs typeface="Calibri"/>
                <a:sym typeface="Calibri"/>
              </a:rPr>
              <a:t>•  Characterize public sentiment and emotional tone during the campaign window.</a:t>
            </a:r>
            <a:endParaRPr sz="1600" b="1">
              <a:solidFill>
                <a:schemeClr val="lt1"/>
              </a:solidFill>
              <a:latin typeface="Calibri"/>
              <a:ea typeface="Calibri"/>
              <a:cs typeface="Calibri"/>
              <a:sym typeface="Calibri"/>
            </a:endParaRPr>
          </a:p>
          <a:p>
            <a:pPr marL="0" marR="0" lvl="0" indent="0" algn="l" rtl="0">
              <a:lnSpc>
                <a:spcPct val="200000"/>
              </a:lnSpc>
              <a:spcBef>
                <a:spcPts val="600"/>
              </a:spcBef>
              <a:spcAft>
                <a:spcPts val="0"/>
              </a:spcAft>
              <a:buClr>
                <a:srgbClr val="1F2A3C"/>
              </a:buClr>
              <a:buSzPts val="2000"/>
              <a:buFont typeface="Calibri"/>
              <a:buNone/>
            </a:pPr>
            <a:r>
              <a:rPr lang="en-US" sz="1600" b="1" i="0" u="none" strike="noStrike" cap="none">
                <a:solidFill>
                  <a:schemeClr val="lt1"/>
                </a:solidFill>
                <a:latin typeface="Calibri"/>
                <a:ea typeface="Calibri"/>
                <a:cs typeface="Calibri"/>
                <a:sym typeface="Calibri"/>
              </a:rPr>
              <a:t>•  Identify which textual and user-level features drive engagement (retweets/likes).</a:t>
            </a:r>
            <a:endParaRPr sz="1600" b="1">
              <a:solidFill>
                <a:schemeClr val="lt1"/>
              </a:solidFill>
              <a:latin typeface="Calibri"/>
              <a:ea typeface="Calibri"/>
              <a:cs typeface="Calibri"/>
              <a:sym typeface="Calibri"/>
            </a:endParaRPr>
          </a:p>
          <a:p>
            <a:pPr marL="0" marR="0" lvl="0" indent="0" algn="l" rtl="0">
              <a:lnSpc>
                <a:spcPct val="200000"/>
              </a:lnSpc>
              <a:spcBef>
                <a:spcPts val="600"/>
              </a:spcBef>
              <a:spcAft>
                <a:spcPts val="0"/>
              </a:spcAft>
              <a:buClr>
                <a:srgbClr val="1F2A3C"/>
              </a:buClr>
              <a:buSzPts val="2000"/>
              <a:buFont typeface="Calibri"/>
              <a:buNone/>
            </a:pPr>
            <a:r>
              <a:rPr lang="en-US" sz="1600" b="1" i="0" u="none" strike="noStrike" cap="none">
                <a:solidFill>
                  <a:schemeClr val="lt1"/>
                </a:solidFill>
                <a:latin typeface="Calibri"/>
                <a:ea typeface="Calibri"/>
                <a:cs typeface="Calibri"/>
                <a:sym typeface="Calibri"/>
              </a:rPr>
              <a:t>•  Discover latent themes in election discourse via topic modeling.</a:t>
            </a:r>
            <a:endParaRPr sz="1600" b="1">
              <a:solidFill>
                <a:schemeClr val="lt1"/>
              </a:solidFill>
              <a:latin typeface="Calibri"/>
              <a:ea typeface="Calibri"/>
              <a:cs typeface="Calibri"/>
              <a:sym typeface="Calibri"/>
            </a:endParaRPr>
          </a:p>
          <a:p>
            <a:pPr marL="0" marR="0" lvl="0" indent="0" algn="l" rtl="0">
              <a:lnSpc>
                <a:spcPct val="200000"/>
              </a:lnSpc>
              <a:spcBef>
                <a:spcPts val="600"/>
              </a:spcBef>
              <a:spcAft>
                <a:spcPts val="0"/>
              </a:spcAft>
              <a:buClr>
                <a:srgbClr val="1F2A3C"/>
              </a:buClr>
              <a:buSzPts val="2000"/>
              <a:buFont typeface="Calibri"/>
              <a:buNone/>
            </a:pPr>
            <a:r>
              <a:rPr lang="en-US" sz="1600" b="1" i="0" u="none" strike="noStrike" cap="none">
                <a:solidFill>
                  <a:schemeClr val="lt1"/>
                </a:solidFill>
                <a:latin typeface="Calibri"/>
                <a:ea typeface="Calibri"/>
                <a:cs typeface="Calibri"/>
                <a:sym typeface="Calibri"/>
              </a:rPr>
              <a:t>•  Benchmark a classical NLP pipeline (TF-IDF + Logistic Regression) against a pre-trained transformer (RoBERTa).</a:t>
            </a:r>
            <a:endParaRPr sz="1600" b="1">
              <a:solidFill>
                <a:schemeClr val="lt1"/>
              </a:solidFill>
              <a:latin typeface="Calibri"/>
              <a:ea typeface="Calibri"/>
              <a:cs typeface="Calibri"/>
              <a:sym typeface="Calibri"/>
            </a:endParaRPr>
          </a:p>
          <a:p>
            <a:pPr marL="0" marR="0" lvl="0" indent="0" algn="l" rtl="0">
              <a:lnSpc>
                <a:spcPct val="200000"/>
              </a:lnSpc>
              <a:spcBef>
                <a:spcPts val="600"/>
              </a:spcBef>
              <a:spcAft>
                <a:spcPts val="0"/>
              </a:spcAft>
              <a:buClr>
                <a:srgbClr val="1F2A3C"/>
              </a:buClr>
              <a:buSzPts val="2000"/>
              <a:buFont typeface="Calibri"/>
              <a:buNone/>
            </a:pPr>
            <a:r>
              <a:rPr lang="en-US" sz="1600" b="1" i="0" u="none" strike="noStrike" cap="none">
                <a:solidFill>
                  <a:schemeClr val="lt1"/>
                </a:solidFill>
                <a:latin typeface="Calibri"/>
                <a:ea typeface="Calibri"/>
                <a:cs typeface="Calibri"/>
                <a:sym typeface="Calibri"/>
              </a:rPr>
              <a:t>•  Surface novel cross-signal insights — e.g., which emotions correlate with viral reach.</a:t>
            </a:r>
            <a:endParaRPr sz="1600" b="1">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173"/>
        <p:cNvGrpSpPr/>
        <p:nvPr/>
      </p:nvGrpSpPr>
      <p:grpSpPr>
        <a:xfrm>
          <a:off x="0" y="0"/>
          <a:ext cx="0" cy="0"/>
          <a:chOff x="0" y="0"/>
          <a:chExt cx="0" cy="0"/>
        </a:xfrm>
      </p:grpSpPr>
      <p:sp>
        <p:nvSpPr>
          <p:cNvPr id="174" name="Google Shape;174;p9"/>
          <p:cNvSpPr/>
          <p:nvPr/>
        </p:nvSpPr>
        <p:spPr>
          <a:xfrm>
            <a:off x="5943600" y="-731520"/>
            <a:ext cx="4572000" cy="4572000"/>
          </a:xfrm>
          <a:prstGeom prst="ellipse">
            <a:avLst/>
          </a:prstGeom>
          <a:solidFill>
            <a:srgbClr val="00C2D4">
              <a:alpha val="12156"/>
            </a:srgbClr>
          </a:solidFill>
          <a:ln w="12700" cap="flat" cmpd="sng">
            <a:solidFill>
              <a:srgbClr val="00C2D4">
                <a:alpha val="12156"/>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9"/>
          <p:cNvSpPr/>
          <p:nvPr/>
        </p:nvSpPr>
        <p:spPr>
          <a:xfrm>
            <a:off x="-914400" y="1828800"/>
            <a:ext cx="3200400" cy="3200400"/>
          </a:xfrm>
          <a:prstGeom prst="ellipse">
            <a:avLst/>
          </a:prstGeom>
          <a:solidFill>
            <a:srgbClr val="00C2D4">
              <a:alpha val="7843"/>
            </a:srgbClr>
          </a:solidFill>
          <a:ln w="12700" cap="flat" cmpd="sng">
            <a:solidFill>
              <a:srgbClr val="00C2D4">
                <a:alpha val="784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9"/>
          <p:cNvSpPr/>
          <p:nvPr/>
        </p:nvSpPr>
        <p:spPr>
          <a:xfrm>
            <a:off x="548640" y="1645920"/>
            <a:ext cx="91440" cy="1828800"/>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9"/>
          <p:cNvSpPr/>
          <p:nvPr/>
        </p:nvSpPr>
        <p:spPr>
          <a:xfrm>
            <a:off x="777240" y="1554480"/>
            <a:ext cx="2743200" cy="5029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2D4"/>
              </a:buClr>
              <a:buSzPts val="1300"/>
              <a:buFont typeface="Calibri"/>
              <a:buNone/>
            </a:pPr>
            <a:r>
              <a:rPr lang="en-US" sz="1300" b="1" i="0" u="none" strike="noStrike" cap="none">
                <a:solidFill>
                  <a:srgbClr val="00C2D4"/>
                </a:solidFill>
                <a:latin typeface="Calibri"/>
                <a:ea typeface="Calibri"/>
                <a:cs typeface="Calibri"/>
                <a:sym typeface="Calibri"/>
              </a:rPr>
              <a:t>SECTION 0</a:t>
            </a:r>
            <a:r>
              <a:rPr lang="en-US" sz="1300" b="1">
                <a:solidFill>
                  <a:srgbClr val="00C2D4"/>
                </a:solidFill>
                <a:latin typeface="Calibri"/>
                <a:ea typeface="Calibri"/>
                <a:cs typeface="Calibri"/>
                <a:sym typeface="Calibri"/>
              </a:rPr>
              <a:t>1</a:t>
            </a:r>
            <a:endParaRPr sz="1300" b="0" i="0" u="none" strike="noStrike" cap="none">
              <a:solidFill>
                <a:schemeClr val="dk1"/>
              </a:solidFill>
              <a:latin typeface="Calibri"/>
              <a:ea typeface="Calibri"/>
              <a:cs typeface="Calibri"/>
              <a:sym typeface="Calibri"/>
            </a:endParaRPr>
          </a:p>
        </p:txBody>
      </p:sp>
      <p:sp>
        <p:nvSpPr>
          <p:cNvPr id="178" name="Google Shape;178;p9"/>
          <p:cNvSpPr/>
          <p:nvPr/>
        </p:nvSpPr>
        <p:spPr>
          <a:xfrm>
            <a:off x="777240" y="2011680"/>
            <a:ext cx="6858000" cy="10972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4000"/>
              <a:buFont typeface="Calibri"/>
              <a:buNone/>
            </a:pPr>
            <a:r>
              <a:rPr lang="en-US" sz="4000" b="1" i="0" u="none" strike="noStrike" cap="none" dirty="0">
                <a:solidFill>
                  <a:srgbClr val="FFFFFF"/>
                </a:solidFill>
                <a:latin typeface="Calibri"/>
                <a:ea typeface="Calibri"/>
                <a:cs typeface="Calibri"/>
                <a:sym typeface="Calibri"/>
              </a:rPr>
              <a:t>DATA PROCESSING</a:t>
            </a:r>
            <a:endParaRPr sz="40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183"/>
        <p:cNvGrpSpPr/>
        <p:nvPr/>
      </p:nvGrpSpPr>
      <p:grpSpPr>
        <a:xfrm>
          <a:off x="0" y="0"/>
          <a:ext cx="0" cy="0"/>
          <a:chOff x="0" y="0"/>
          <a:chExt cx="0" cy="0"/>
        </a:xfrm>
      </p:grpSpPr>
      <p:sp>
        <p:nvSpPr>
          <p:cNvPr id="184" name="Google Shape;184;p10"/>
          <p:cNvSpPr/>
          <p:nvPr/>
        </p:nvSpPr>
        <p:spPr>
          <a:xfrm>
            <a:off x="0" y="0"/>
            <a:ext cx="9144000" cy="621792"/>
          </a:xfrm>
          <a:prstGeom prst="rect">
            <a:avLst/>
          </a:prstGeom>
          <a:solidFill>
            <a:srgbClr val="112236"/>
          </a:solidFill>
          <a:ln w="12700" cap="flat" cmpd="sng">
            <a:solidFill>
              <a:srgbClr val="1122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0"/>
          <p:cNvSpPr/>
          <p:nvPr/>
        </p:nvSpPr>
        <p:spPr>
          <a:xfrm>
            <a:off x="0" y="0"/>
            <a:ext cx="128016" cy="621792"/>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0"/>
          <p:cNvSpPr/>
          <p:nvPr/>
        </p:nvSpPr>
        <p:spPr>
          <a:xfrm>
            <a:off x="219456" y="0"/>
            <a:ext cx="640080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01  DATA PROCESSING </a:t>
            </a:r>
            <a:endParaRPr sz="2000" b="0" i="0" u="none" strike="noStrike" cap="none">
              <a:solidFill>
                <a:schemeClr val="dk1"/>
              </a:solidFill>
              <a:latin typeface="Calibri"/>
              <a:ea typeface="Calibri"/>
              <a:cs typeface="Calibri"/>
              <a:sym typeface="Calibri"/>
            </a:endParaRPr>
          </a:p>
        </p:txBody>
      </p:sp>
      <p:sp>
        <p:nvSpPr>
          <p:cNvPr id="187" name="Google Shape;187;p10"/>
          <p:cNvSpPr/>
          <p:nvPr/>
        </p:nvSpPr>
        <p:spPr>
          <a:xfrm>
            <a:off x="6675120" y="137160"/>
            <a:ext cx="2286000" cy="34747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90AA"/>
              </a:buClr>
              <a:buSzPts val="1000"/>
              <a:buFont typeface="Calibri"/>
              <a:buNone/>
            </a:pPr>
            <a:r>
              <a:rPr lang="en-US" sz="1000" b="0" i="0" u="none" strike="noStrike" cap="none">
                <a:solidFill>
                  <a:srgbClr val="6B90AA"/>
                </a:solidFill>
                <a:latin typeface="Calibri"/>
                <a:ea typeface="Calibri"/>
                <a:cs typeface="Calibri"/>
                <a:sym typeface="Calibri"/>
              </a:rPr>
              <a:t>MANDATORY</a:t>
            </a:r>
            <a:endParaRPr sz="1000" b="0" i="0" u="none" strike="noStrike" cap="none">
              <a:solidFill>
                <a:schemeClr val="dk1"/>
              </a:solidFill>
              <a:latin typeface="Calibri"/>
              <a:ea typeface="Calibri"/>
              <a:cs typeface="Calibri"/>
              <a:sym typeface="Calibri"/>
            </a:endParaRPr>
          </a:p>
        </p:txBody>
      </p:sp>
      <p:sp>
        <p:nvSpPr>
          <p:cNvPr id="188" name="Google Shape;188;p10"/>
          <p:cNvSpPr/>
          <p:nvPr/>
        </p:nvSpPr>
        <p:spPr>
          <a:xfrm>
            <a:off x="7882128" y="91440"/>
            <a:ext cx="1170432" cy="274320"/>
          </a:xfrm>
          <a:prstGeom prst="roundRect">
            <a:avLst>
              <a:gd name="adj" fmla="val 13333"/>
            </a:avLst>
          </a:prstGeom>
          <a:solidFill>
            <a:srgbClr val="B83232"/>
          </a:solidFill>
          <a:ln w="12700" cap="flat" cmpd="sng">
            <a:solidFill>
              <a:srgbClr val="B832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0"/>
          <p:cNvSpPr/>
          <p:nvPr/>
        </p:nvSpPr>
        <p:spPr>
          <a:xfrm>
            <a:off x="7882128" y="91440"/>
            <a:ext cx="1170432"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en-US" sz="800" b="1" i="0" u="none" strike="noStrike" cap="none">
                <a:solidFill>
                  <a:srgbClr val="FFFFFF"/>
                </a:solidFill>
                <a:latin typeface="Calibri"/>
                <a:ea typeface="Calibri"/>
                <a:cs typeface="Calibri"/>
                <a:sym typeface="Calibri"/>
              </a:rPr>
              <a:t>MANDATORY</a:t>
            </a:r>
            <a:endParaRPr sz="800" b="0" i="0" u="none" strike="noStrike" cap="none">
              <a:solidFill>
                <a:schemeClr val="dk1"/>
              </a:solidFill>
              <a:latin typeface="Calibri"/>
              <a:ea typeface="Calibri"/>
              <a:cs typeface="Calibri"/>
              <a:sym typeface="Calibri"/>
            </a:endParaRPr>
          </a:p>
        </p:txBody>
      </p:sp>
      <p:sp>
        <p:nvSpPr>
          <p:cNvPr id="190" name="Google Shape;190;p10"/>
          <p:cNvSpPr/>
          <p:nvPr/>
        </p:nvSpPr>
        <p:spPr>
          <a:xfrm>
            <a:off x="256032" y="749808"/>
            <a:ext cx="4297680" cy="4251960"/>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0"/>
          <p:cNvSpPr/>
          <p:nvPr/>
        </p:nvSpPr>
        <p:spPr>
          <a:xfrm>
            <a:off x="402336" y="822960"/>
            <a:ext cx="4005072"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A623"/>
              </a:buClr>
              <a:buSzPts val="1200"/>
              <a:buFont typeface="Calibri"/>
              <a:buNone/>
            </a:pPr>
            <a:r>
              <a:rPr lang="en-US" sz="1200" b="1" dirty="0">
                <a:solidFill>
                  <a:srgbClr val="F5A623"/>
                </a:solidFill>
                <a:latin typeface="Calibri"/>
                <a:ea typeface="Calibri"/>
                <a:cs typeface="Calibri"/>
                <a:sym typeface="Calibri"/>
              </a:rPr>
              <a:t>Null value proportions per column:</a:t>
            </a:r>
            <a:endParaRPr sz="1200" b="1" dirty="0">
              <a:solidFill>
                <a:srgbClr val="F5A623"/>
              </a:solidFill>
              <a:latin typeface="Calibri"/>
              <a:ea typeface="Calibri"/>
              <a:cs typeface="Calibri"/>
              <a:sym typeface="Calibri"/>
            </a:endParaRPr>
          </a:p>
        </p:txBody>
      </p:sp>
      <p:sp>
        <p:nvSpPr>
          <p:cNvPr id="194" name="Google Shape;194;p10"/>
          <p:cNvSpPr/>
          <p:nvPr/>
        </p:nvSpPr>
        <p:spPr>
          <a:xfrm>
            <a:off x="4754880" y="749808"/>
            <a:ext cx="4114800" cy="4251960"/>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0"/>
          <p:cNvSpPr/>
          <p:nvPr/>
        </p:nvSpPr>
        <p:spPr>
          <a:xfrm>
            <a:off x="4901184" y="822960"/>
            <a:ext cx="384048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A623"/>
              </a:buClr>
              <a:buSzPts val="1200"/>
              <a:buFont typeface="Calibri"/>
              <a:buNone/>
            </a:pPr>
            <a:r>
              <a:rPr lang="en-US" sz="1200" b="1" i="0" u="none" strike="noStrike" cap="none">
                <a:solidFill>
                  <a:srgbClr val="F5A623"/>
                </a:solidFill>
                <a:latin typeface="Calibri"/>
                <a:ea typeface="Calibri"/>
                <a:cs typeface="Calibri"/>
                <a:sym typeface="Calibri"/>
              </a:rPr>
              <a:t>Missing Value Strategy</a:t>
            </a:r>
            <a:endParaRPr sz="1200" b="0" i="0" u="none" strike="noStrike" cap="none">
              <a:solidFill>
                <a:schemeClr val="dk1"/>
              </a:solidFill>
              <a:latin typeface="Calibri"/>
              <a:ea typeface="Calibri"/>
              <a:cs typeface="Calibri"/>
              <a:sym typeface="Calibri"/>
            </a:endParaRPr>
          </a:p>
        </p:txBody>
      </p:sp>
      <p:sp>
        <p:nvSpPr>
          <p:cNvPr id="196" name="Google Shape;196;p10"/>
          <p:cNvSpPr/>
          <p:nvPr/>
        </p:nvSpPr>
        <p:spPr>
          <a:xfrm>
            <a:off x="4901184" y="1188720"/>
            <a:ext cx="3840480" cy="7315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E0EF"/>
              </a:buClr>
              <a:buSzPts val="1000"/>
              <a:buFont typeface="Calibri"/>
              <a:buNone/>
            </a:pPr>
            <a:r>
              <a:rPr lang="en-US" sz="1000" b="0" i="0" u="none" strike="noStrike" cap="none">
                <a:solidFill>
                  <a:srgbClr val="C8E0EF"/>
                </a:solidFill>
                <a:latin typeface="Calibri"/>
                <a:ea typeface="Calibri"/>
                <a:cs typeface="Calibri"/>
                <a:sym typeface="Calibri"/>
              </a:rPr>
              <a:t>Decision: Preserve all rows with valid full_text to</a:t>
            </a:r>
            <a:endParaRPr sz="10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C8E0EF"/>
              </a:buClr>
              <a:buSzPts val="1000"/>
              <a:buFont typeface="Calibri"/>
              <a:buNone/>
            </a:pPr>
            <a:r>
              <a:rPr lang="en-US" sz="1000" b="0" i="0" u="none" strike="noStrike" cap="none">
                <a:solidFill>
                  <a:srgbClr val="C8E0EF"/>
                </a:solidFill>
                <a:latin typeface="Calibri"/>
                <a:ea typeface="Calibri"/>
                <a:cs typeface="Calibri"/>
                <a:sym typeface="Calibri"/>
              </a:rPr>
              <a:t>avoid losing top tweeters (3 of top 10 disappear</a:t>
            </a:r>
            <a:endParaRPr sz="10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C8E0EF"/>
              </a:buClr>
              <a:buSzPts val="1000"/>
              <a:buFont typeface="Calibri"/>
              <a:buNone/>
            </a:pPr>
            <a:r>
              <a:rPr lang="en-US" sz="1000" b="0" i="0" u="none" strike="noStrike" cap="none">
                <a:solidFill>
                  <a:srgbClr val="C8E0EF"/>
                </a:solidFill>
                <a:latin typeface="Calibri"/>
                <a:ea typeface="Calibri"/>
                <a:cs typeface="Calibri"/>
                <a:sym typeface="Calibri"/>
              </a:rPr>
              <a:t>with full null removal).</a:t>
            </a:r>
            <a:endParaRPr sz="1000" b="0" i="0" u="none" strike="noStrike" cap="none">
              <a:solidFill>
                <a:schemeClr val="dk1"/>
              </a:solidFill>
              <a:latin typeface="Calibri"/>
              <a:ea typeface="Calibri"/>
              <a:cs typeface="Calibri"/>
              <a:sym typeface="Calibri"/>
            </a:endParaRPr>
          </a:p>
        </p:txBody>
      </p:sp>
      <p:sp>
        <p:nvSpPr>
          <p:cNvPr id="197" name="Google Shape;197;p10"/>
          <p:cNvSpPr/>
          <p:nvPr/>
        </p:nvSpPr>
        <p:spPr>
          <a:xfrm>
            <a:off x="4901184" y="1993392"/>
            <a:ext cx="4041648" cy="246888"/>
          </a:xfrm>
          <a:prstGeom prst="rect">
            <a:avLst/>
          </a:prstGeom>
          <a:solidFill>
            <a:srgbClr val="162840"/>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0"/>
          <p:cNvSpPr/>
          <p:nvPr/>
        </p:nvSpPr>
        <p:spPr>
          <a:xfrm>
            <a:off x="4974336" y="1993392"/>
            <a:ext cx="1463100" cy="246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2D4"/>
              </a:buClr>
              <a:buSzPts val="900"/>
              <a:buFont typeface="Calibri"/>
              <a:buNone/>
            </a:pPr>
            <a:r>
              <a:rPr lang="en-US" sz="900" b="1" i="0" u="none" strike="noStrike" cap="none">
                <a:solidFill>
                  <a:srgbClr val="00C2D4"/>
                </a:solidFill>
                <a:latin typeface="Calibri"/>
                <a:ea typeface="Calibri"/>
                <a:cs typeface="Calibri"/>
                <a:sym typeface="Calibri"/>
              </a:rPr>
              <a:t>retweet_count</a:t>
            </a:r>
            <a:endParaRPr sz="900" b="0" i="0" u="none" strike="noStrike" cap="none">
              <a:solidFill>
                <a:schemeClr val="dk1"/>
              </a:solidFill>
              <a:latin typeface="Calibri"/>
              <a:ea typeface="Calibri"/>
              <a:cs typeface="Calibri"/>
              <a:sym typeface="Calibri"/>
            </a:endParaRPr>
          </a:p>
        </p:txBody>
      </p:sp>
      <p:sp>
        <p:nvSpPr>
          <p:cNvPr id="199" name="Google Shape;199;p10"/>
          <p:cNvSpPr/>
          <p:nvPr/>
        </p:nvSpPr>
        <p:spPr>
          <a:xfrm>
            <a:off x="6492240" y="1993392"/>
            <a:ext cx="1508760" cy="2468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E0EF"/>
              </a:buClr>
              <a:buSzPts val="900"/>
              <a:buFont typeface="Calibri"/>
              <a:buNone/>
            </a:pPr>
            <a:r>
              <a:rPr lang="en-US" sz="900" b="0" i="0" u="none" strike="noStrike" cap="none">
                <a:solidFill>
                  <a:srgbClr val="C8E0EF"/>
                </a:solidFill>
                <a:latin typeface="Calibri"/>
                <a:ea typeface="Calibri"/>
                <a:cs typeface="Calibri"/>
                <a:sym typeface="Calibri"/>
              </a:rPr>
              <a:t>Fill with 0 (numerical)</a:t>
            </a:r>
            <a:endParaRPr sz="900" b="0" i="0" u="none" strike="noStrike" cap="none">
              <a:solidFill>
                <a:schemeClr val="dk1"/>
              </a:solidFill>
              <a:latin typeface="Calibri"/>
              <a:ea typeface="Calibri"/>
              <a:cs typeface="Calibri"/>
              <a:sym typeface="Calibri"/>
            </a:endParaRPr>
          </a:p>
        </p:txBody>
      </p:sp>
      <p:sp>
        <p:nvSpPr>
          <p:cNvPr id="200" name="Google Shape;200;p10"/>
          <p:cNvSpPr/>
          <p:nvPr/>
        </p:nvSpPr>
        <p:spPr>
          <a:xfrm>
            <a:off x="4901184" y="2267712"/>
            <a:ext cx="4041648" cy="246888"/>
          </a:xfrm>
          <a:prstGeom prst="rect">
            <a:avLst/>
          </a:prstGeom>
          <a:solidFill>
            <a:srgbClr val="192D44"/>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0"/>
          <p:cNvSpPr/>
          <p:nvPr/>
        </p:nvSpPr>
        <p:spPr>
          <a:xfrm>
            <a:off x="4974336" y="2267712"/>
            <a:ext cx="1463040" cy="2468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2D4"/>
              </a:buClr>
              <a:buSzPts val="900"/>
              <a:buFont typeface="Calibri"/>
              <a:buNone/>
            </a:pPr>
            <a:r>
              <a:rPr lang="en-US" sz="900" b="1" i="0" u="none" strike="noStrike" cap="none">
                <a:solidFill>
                  <a:srgbClr val="00C2D4"/>
                </a:solidFill>
                <a:latin typeface="Calibri"/>
                <a:ea typeface="Calibri"/>
                <a:cs typeface="Calibri"/>
                <a:sym typeface="Calibri"/>
              </a:rPr>
              <a:t>favorite_count</a:t>
            </a:r>
            <a:endParaRPr sz="900" b="0" i="0" u="none" strike="noStrike" cap="none">
              <a:solidFill>
                <a:schemeClr val="dk1"/>
              </a:solidFill>
              <a:latin typeface="Calibri"/>
              <a:ea typeface="Calibri"/>
              <a:cs typeface="Calibri"/>
              <a:sym typeface="Calibri"/>
            </a:endParaRPr>
          </a:p>
        </p:txBody>
      </p:sp>
      <p:sp>
        <p:nvSpPr>
          <p:cNvPr id="202" name="Google Shape;202;p10"/>
          <p:cNvSpPr/>
          <p:nvPr/>
        </p:nvSpPr>
        <p:spPr>
          <a:xfrm>
            <a:off x="6492240" y="2267712"/>
            <a:ext cx="1508760" cy="2468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E0EF"/>
              </a:buClr>
              <a:buSzPts val="900"/>
              <a:buFont typeface="Calibri"/>
              <a:buNone/>
            </a:pPr>
            <a:r>
              <a:rPr lang="en-US" sz="900" b="0" i="0" u="none" strike="noStrike" cap="none">
                <a:solidFill>
                  <a:srgbClr val="C8E0EF"/>
                </a:solidFill>
                <a:latin typeface="Calibri"/>
                <a:ea typeface="Calibri"/>
                <a:cs typeface="Calibri"/>
                <a:sym typeface="Calibri"/>
              </a:rPr>
              <a:t>Fill with 0 (numerical)</a:t>
            </a:r>
            <a:endParaRPr sz="900" b="0" i="0" u="none" strike="noStrike" cap="none">
              <a:solidFill>
                <a:schemeClr val="dk1"/>
              </a:solidFill>
              <a:latin typeface="Calibri"/>
              <a:ea typeface="Calibri"/>
              <a:cs typeface="Calibri"/>
              <a:sym typeface="Calibri"/>
            </a:endParaRPr>
          </a:p>
        </p:txBody>
      </p:sp>
      <p:sp>
        <p:nvSpPr>
          <p:cNvPr id="203" name="Google Shape;203;p10"/>
          <p:cNvSpPr/>
          <p:nvPr/>
        </p:nvSpPr>
        <p:spPr>
          <a:xfrm>
            <a:off x="4901184" y="2542032"/>
            <a:ext cx="4041648" cy="246888"/>
          </a:xfrm>
          <a:prstGeom prst="rect">
            <a:avLst/>
          </a:prstGeom>
          <a:solidFill>
            <a:srgbClr val="162840"/>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0"/>
          <p:cNvSpPr/>
          <p:nvPr/>
        </p:nvSpPr>
        <p:spPr>
          <a:xfrm>
            <a:off x="4974336" y="2542032"/>
            <a:ext cx="1463040" cy="2468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2D4"/>
              </a:buClr>
              <a:buSzPts val="900"/>
              <a:buFont typeface="Calibri"/>
              <a:buNone/>
            </a:pPr>
            <a:r>
              <a:rPr lang="en-US" sz="900" b="1" i="0" u="none" strike="noStrike" cap="none">
                <a:solidFill>
                  <a:srgbClr val="00C2D4"/>
                </a:solidFill>
                <a:latin typeface="Calibri"/>
                <a:ea typeface="Calibri"/>
                <a:cs typeface="Calibri"/>
                <a:sym typeface="Calibri"/>
              </a:rPr>
              <a:t>user_id</a:t>
            </a:r>
            <a:endParaRPr sz="900" b="0" i="0" u="none" strike="noStrike" cap="none">
              <a:solidFill>
                <a:schemeClr val="dk1"/>
              </a:solidFill>
              <a:latin typeface="Calibri"/>
              <a:ea typeface="Calibri"/>
              <a:cs typeface="Calibri"/>
              <a:sym typeface="Calibri"/>
            </a:endParaRPr>
          </a:p>
        </p:txBody>
      </p:sp>
      <p:sp>
        <p:nvSpPr>
          <p:cNvPr id="205" name="Google Shape;205;p10"/>
          <p:cNvSpPr/>
          <p:nvPr/>
        </p:nvSpPr>
        <p:spPr>
          <a:xfrm>
            <a:off x="6492240" y="2542032"/>
            <a:ext cx="1508760" cy="2468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E0EF"/>
              </a:buClr>
              <a:buSzPts val="900"/>
              <a:buFont typeface="Calibri"/>
              <a:buNone/>
            </a:pPr>
            <a:r>
              <a:rPr lang="en-US" sz="900" b="0" i="0" u="none" strike="noStrike" cap="none">
                <a:solidFill>
                  <a:srgbClr val="C8E0EF"/>
                </a:solidFill>
                <a:latin typeface="Calibri"/>
                <a:ea typeface="Calibri"/>
                <a:cs typeface="Calibri"/>
                <a:sym typeface="Calibri"/>
              </a:rPr>
              <a:t>Fill with 0 (numerical)</a:t>
            </a:r>
            <a:endParaRPr sz="900" b="0" i="0" u="none" strike="noStrike" cap="none">
              <a:solidFill>
                <a:schemeClr val="dk1"/>
              </a:solidFill>
              <a:latin typeface="Calibri"/>
              <a:ea typeface="Calibri"/>
              <a:cs typeface="Calibri"/>
              <a:sym typeface="Calibri"/>
            </a:endParaRPr>
          </a:p>
        </p:txBody>
      </p:sp>
      <p:sp>
        <p:nvSpPr>
          <p:cNvPr id="206" name="Google Shape;206;p10"/>
          <p:cNvSpPr/>
          <p:nvPr/>
        </p:nvSpPr>
        <p:spPr>
          <a:xfrm>
            <a:off x="4901184" y="2816352"/>
            <a:ext cx="4041648" cy="246888"/>
          </a:xfrm>
          <a:prstGeom prst="rect">
            <a:avLst/>
          </a:prstGeom>
          <a:solidFill>
            <a:srgbClr val="192D44"/>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0"/>
          <p:cNvSpPr/>
          <p:nvPr/>
        </p:nvSpPr>
        <p:spPr>
          <a:xfrm>
            <a:off x="4974336" y="2816352"/>
            <a:ext cx="1463040" cy="2468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2D4"/>
              </a:buClr>
              <a:buSzPts val="900"/>
              <a:buFont typeface="Calibri"/>
              <a:buNone/>
            </a:pPr>
            <a:r>
              <a:rPr lang="en-US" sz="900" b="1" i="0" u="none" strike="noStrike" cap="none">
                <a:solidFill>
                  <a:srgbClr val="00C2D4"/>
                </a:solidFill>
                <a:latin typeface="Calibri"/>
                <a:ea typeface="Calibri"/>
                <a:cs typeface="Calibri"/>
                <a:sym typeface="Calibri"/>
              </a:rPr>
              <a:t>user_name</a:t>
            </a:r>
            <a:endParaRPr sz="900" b="0" i="0" u="none" strike="noStrike" cap="none">
              <a:solidFill>
                <a:schemeClr val="dk1"/>
              </a:solidFill>
              <a:latin typeface="Calibri"/>
              <a:ea typeface="Calibri"/>
              <a:cs typeface="Calibri"/>
              <a:sym typeface="Calibri"/>
            </a:endParaRPr>
          </a:p>
        </p:txBody>
      </p:sp>
      <p:sp>
        <p:nvSpPr>
          <p:cNvPr id="208" name="Google Shape;208;p10"/>
          <p:cNvSpPr/>
          <p:nvPr/>
        </p:nvSpPr>
        <p:spPr>
          <a:xfrm>
            <a:off x="6492240" y="2816352"/>
            <a:ext cx="1508760" cy="2468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E0EF"/>
              </a:buClr>
              <a:buSzPts val="900"/>
              <a:buFont typeface="Calibri"/>
              <a:buNone/>
            </a:pPr>
            <a:r>
              <a:rPr lang="en-US" sz="900" b="0" i="0" u="none" strike="noStrike" cap="none">
                <a:solidFill>
                  <a:srgbClr val="C8E0EF"/>
                </a:solidFill>
                <a:latin typeface="Calibri"/>
                <a:ea typeface="Calibri"/>
                <a:cs typeface="Calibri"/>
                <a:sym typeface="Calibri"/>
              </a:rPr>
              <a:t>Fill 'Unknown'</a:t>
            </a:r>
            <a:endParaRPr sz="900" b="0" i="0" u="none" strike="noStrike" cap="none">
              <a:solidFill>
                <a:schemeClr val="dk1"/>
              </a:solidFill>
              <a:latin typeface="Calibri"/>
              <a:ea typeface="Calibri"/>
              <a:cs typeface="Calibri"/>
              <a:sym typeface="Calibri"/>
            </a:endParaRPr>
          </a:p>
        </p:txBody>
      </p:sp>
      <p:sp>
        <p:nvSpPr>
          <p:cNvPr id="209" name="Google Shape;209;p10"/>
          <p:cNvSpPr/>
          <p:nvPr/>
        </p:nvSpPr>
        <p:spPr>
          <a:xfrm>
            <a:off x="4901184" y="3090672"/>
            <a:ext cx="4041648" cy="246888"/>
          </a:xfrm>
          <a:prstGeom prst="rect">
            <a:avLst/>
          </a:prstGeom>
          <a:solidFill>
            <a:srgbClr val="162840"/>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0"/>
          <p:cNvSpPr/>
          <p:nvPr/>
        </p:nvSpPr>
        <p:spPr>
          <a:xfrm>
            <a:off x="4974336" y="3090672"/>
            <a:ext cx="1463040" cy="2468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2D4"/>
              </a:buClr>
              <a:buSzPts val="900"/>
              <a:buFont typeface="Calibri"/>
              <a:buNone/>
            </a:pPr>
            <a:r>
              <a:rPr lang="en-US" sz="900" b="1" i="0" u="none" strike="noStrike" cap="none">
                <a:solidFill>
                  <a:srgbClr val="00C2D4"/>
                </a:solidFill>
                <a:latin typeface="Calibri"/>
                <a:ea typeface="Calibri"/>
                <a:cs typeface="Calibri"/>
                <a:sym typeface="Calibri"/>
              </a:rPr>
              <a:t>user_screen_name</a:t>
            </a:r>
            <a:endParaRPr sz="900" b="0" i="0" u="none" strike="noStrike" cap="none">
              <a:solidFill>
                <a:schemeClr val="dk1"/>
              </a:solidFill>
              <a:latin typeface="Calibri"/>
              <a:ea typeface="Calibri"/>
              <a:cs typeface="Calibri"/>
              <a:sym typeface="Calibri"/>
            </a:endParaRPr>
          </a:p>
        </p:txBody>
      </p:sp>
      <p:sp>
        <p:nvSpPr>
          <p:cNvPr id="211" name="Google Shape;211;p10"/>
          <p:cNvSpPr/>
          <p:nvPr/>
        </p:nvSpPr>
        <p:spPr>
          <a:xfrm>
            <a:off x="6492240" y="3090672"/>
            <a:ext cx="1508760" cy="2468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E0EF"/>
              </a:buClr>
              <a:buSzPts val="900"/>
              <a:buFont typeface="Calibri"/>
              <a:buNone/>
            </a:pPr>
            <a:r>
              <a:rPr lang="en-US" sz="900" b="0" i="0" u="none" strike="noStrike" cap="none">
                <a:solidFill>
                  <a:srgbClr val="C8E0EF"/>
                </a:solidFill>
                <a:latin typeface="Calibri"/>
                <a:ea typeface="Calibri"/>
                <a:cs typeface="Calibri"/>
                <a:sym typeface="Calibri"/>
              </a:rPr>
              <a:t>Fill 'Unknown'</a:t>
            </a:r>
            <a:endParaRPr sz="900" b="0" i="0" u="none" strike="noStrike" cap="none">
              <a:solidFill>
                <a:schemeClr val="dk1"/>
              </a:solidFill>
              <a:latin typeface="Calibri"/>
              <a:ea typeface="Calibri"/>
              <a:cs typeface="Calibri"/>
              <a:sym typeface="Calibri"/>
            </a:endParaRPr>
          </a:p>
        </p:txBody>
      </p:sp>
      <p:sp>
        <p:nvSpPr>
          <p:cNvPr id="212" name="Google Shape;212;p10"/>
          <p:cNvSpPr/>
          <p:nvPr/>
        </p:nvSpPr>
        <p:spPr>
          <a:xfrm>
            <a:off x="4901184" y="3364992"/>
            <a:ext cx="4041648" cy="246888"/>
          </a:xfrm>
          <a:prstGeom prst="rect">
            <a:avLst/>
          </a:prstGeom>
          <a:solidFill>
            <a:srgbClr val="192D44"/>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0"/>
          <p:cNvSpPr/>
          <p:nvPr/>
        </p:nvSpPr>
        <p:spPr>
          <a:xfrm>
            <a:off x="4974336" y="3364992"/>
            <a:ext cx="1463040" cy="2468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2D4"/>
              </a:buClr>
              <a:buSzPts val="900"/>
              <a:buFont typeface="Calibri"/>
              <a:buNone/>
            </a:pPr>
            <a:r>
              <a:rPr lang="en-US" sz="900" b="1" i="0" u="none" strike="noStrike" cap="none">
                <a:solidFill>
                  <a:srgbClr val="00C2D4"/>
                </a:solidFill>
                <a:latin typeface="Calibri"/>
                <a:ea typeface="Calibri"/>
                <a:cs typeface="Calibri"/>
                <a:sym typeface="Calibri"/>
              </a:rPr>
              <a:t>user_description</a:t>
            </a:r>
            <a:endParaRPr sz="900" b="0" i="0" u="none" strike="noStrike" cap="none">
              <a:solidFill>
                <a:schemeClr val="dk1"/>
              </a:solidFill>
              <a:latin typeface="Calibri"/>
              <a:ea typeface="Calibri"/>
              <a:cs typeface="Calibri"/>
              <a:sym typeface="Calibri"/>
            </a:endParaRPr>
          </a:p>
        </p:txBody>
      </p:sp>
      <p:sp>
        <p:nvSpPr>
          <p:cNvPr id="214" name="Google Shape;214;p10"/>
          <p:cNvSpPr/>
          <p:nvPr/>
        </p:nvSpPr>
        <p:spPr>
          <a:xfrm>
            <a:off x="6492240" y="3364992"/>
            <a:ext cx="1508760" cy="2468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E0EF"/>
              </a:buClr>
              <a:buSzPts val="900"/>
              <a:buFont typeface="Calibri"/>
              <a:buNone/>
            </a:pPr>
            <a:r>
              <a:rPr lang="en-US" sz="900" b="0" i="0" u="none" strike="noStrike" cap="none">
                <a:solidFill>
                  <a:srgbClr val="C8E0EF"/>
                </a:solidFill>
                <a:latin typeface="Calibri"/>
                <a:ea typeface="Calibri"/>
                <a:cs typeface="Calibri"/>
                <a:sym typeface="Calibri"/>
              </a:rPr>
              <a:t>Fill 'Unknown'</a:t>
            </a:r>
            <a:endParaRPr sz="900" b="0" i="0" u="none" strike="noStrike" cap="none">
              <a:solidFill>
                <a:schemeClr val="dk1"/>
              </a:solidFill>
              <a:latin typeface="Calibri"/>
              <a:ea typeface="Calibri"/>
              <a:cs typeface="Calibri"/>
              <a:sym typeface="Calibri"/>
            </a:endParaRPr>
          </a:p>
        </p:txBody>
      </p:sp>
      <p:sp>
        <p:nvSpPr>
          <p:cNvPr id="215" name="Google Shape;215;p10"/>
          <p:cNvSpPr/>
          <p:nvPr/>
        </p:nvSpPr>
        <p:spPr>
          <a:xfrm>
            <a:off x="4901184" y="3639312"/>
            <a:ext cx="4041648" cy="246888"/>
          </a:xfrm>
          <a:prstGeom prst="rect">
            <a:avLst/>
          </a:prstGeom>
          <a:solidFill>
            <a:srgbClr val="162840"/>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0"/>
          <p:cNvSpPr/>
          <p:nvPr/>
        </p:nvSpPr>
        <p:spPr>
          <a:xfrm>
            <a:off x="4974336" y="3639312"/>
            <a:ext cx="1463040" cy="2468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2D4"/>
              </a:buClr>
              <a:buSzPts val="900"/>
              <a:buFont typeface="Calibri"/>
              <a:buNone/>
            </a:pPr>
            <a:r>
              <a:rPr lang="en-US" sz="900" b="1" i="0" u="none" strike="noStrike" cap="none">
                <a:solidFill>
                  <a:srgbClr val="00C2D4"/>
                </a:solidFill>
                <a:latin typeface="Calibri"/>
                <a:ea typeface="Calibri"/>
                <a:cs typeface="Calibri"/>
                <a:sym typeface="Calibri"/>
              </a:rPr>
              <a:t>user_location</a:t>
            </a:r>
            <a:endParaRPr sz="900" b="0" i="0" u="none" strike="noStrike" cap="none">
              <a:solidFill>
                <a:schemeClr val="dk1"/>
              </a:solidFill>
              <a:latin typeface="Calibri"/>
              <a:ea typeface="Calibri"/>
              <a:cs typeface="Calibri"/>
              <a:sym typeface="Calibri"/>
            </a:endParaRPr>
          </a:p>
        </p:txBody>
      </p:sp>
      <p:sp>
        <p:nvSpPr>
          <p:cNvPr id="217" name="Google Shape;217;p10"/>
          <p:cNvSpPr/>
          <p:nvPr/>
        </p:nvSpPr>
        <p:spPr>
          <a:xfrm>
            <a:off x="6492240" y="3639312"/>
            <a:ext cx="1508760" cy="2468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E0EF"/>
              </a:buClr>
              <a:buSzPts val="900"/>
              <a:buFont typeface="Calibri"/>
              <a:buNone/>
            </a:pPr>
            <a:r>
              <a:rPr lang="en-US" sz="900" b="0" i="0" u="none" strike="noStrike" cap="none">
                <a:solidFill>
                  <a:srgbClr val="C8E0EF"/>
                </a:solidFill>
                <a:latin typeface="Calibri"/>
                <a:ea typeface="Calibri"/>
                <a:cs typeface="Calibri"/>
                <a:sym typeface="Calibri"/>
              </a:rPr>
              <a:t>Fill 'Unknown'</a:t>
            </a:r>
            <a:endParaRPr sz="900" b="0" i="0" u="none" strike="noStrike" cap="none">
              <a:solidFill>
                <a:schemeClr val="dk1"/>
              </a:solidFill>
              <a:latin typeface="Calibri"/>
              <a:ea typeface="Calibri"/>
              <a:cs typeface="Calibri"/>
              <a:sym typeface="Calibri"/>
            </a:endParaRPr>
          </a:p>
        </p:txBody>
      </p:sp>
      <p:sp>
        <p:nvSpPr>
          <p:cNvPr id="218" name="Google Shape;218;p10"/>
          <p:cNvSpPr/>
          <p:nvPr/>
        </p:nvSpPr>
        <p:spPr>
          <a:xfrm>
            <a:off x="4901184" y="3913632"/>
            <a:ext cx="4041648" cy="246888"/>
          </a:xfrm>
          <a:prstGeom prst="rect">
            <a:avLst/>
          </a:prstGeom>
          <a:solidFill>
            <a:srgbClr val="192D44"/>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10"/>
          <p:cNvSpPr/>
          <p:nvPr/>
        </p:nvSpPr>
        <p:spPr>
          <a:xfrm>
            <a:off x="4974336" y="3913632"/>
            <a:ext cx="1463040" cy="2468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2D4"/>
              </a:buClr>
              <a:buSzPts val="900"/>
              <a:buFont typeface="Calibri"/>
              <a:buNone/>
            </a:pPr>
            <a:r>
              <a:rPr lang="en-US" sz="900" b="1" i="0" u="none" strike="noStrike" cap="none">
                <a:solidFill>
                  <a:srgbClr val="00C2D4"/>
                </a:solidFill>
                <a:latin typeface="Calibri"/>
                <a:ea typeface="Calibri"/>
                <a:cs typeface="Calibri"/>
                <a:sym typeface="Calibri"/>
              </a:rPr>
              <a:t>created_at</a:t>
            </a:r>
            <a:endParaRPr sz="900" b="0" i="0" u="none" strike="noStrike" cap="none">
              <a:solidFill>
                <a:schemeClr val="dk1"/>
              </a:solidFill>
              <a:latin typeface="Calibri"/>
              <a:ea typeface="Calibri"/>
              <a:cs typeface="Calibri"/>
              <a:sym typeface="Calibri"/>
            </a:endParaRPr>
          </a:p>
        </p:txBody>
      </p:sp>
      <p:sp>
        <p:nvSpPr>
          <p:cNvPr id="220" name="Google Shape;220;p10"/>
          <p:cNvSpPr/>
          <p:nvPr/>
        </p:nvSpPr>
        <p:spPr>
          <a:xfrm>
            <a:off x="6492240" y="3913632"/>
            <a:ext cx="1508760" cy="2468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E0EF"/>
              </a:buClr>
              <a:buSzPts val="900"/>
              <a:buFont typeface="Calibri"/>
              <a:buNone/>
            </a:pPr>
            <a:r>
              <a:rPr lang="en-US" sz="900" b="0" i="0" u="none" strike="noStrike" cap="none">
                <a:solidFill>
                  <a:srgbClr val="C8E0EF"/>
                </a:solidFill>
                <a:latin typeface="Calibri"/>
                <a:ea typeface="Calibri"/>
                <a:cs typeface="Calibri"/>
                <a:sym typeface="Calibri"/>
              </a:rPr>
              <a:t>Parse to datetime, coerce errors</a:t>
            </a:r>
            <a:endParaRPr sz="900" b="0" i="0" u="none" strike="noStrike" cap="none">
              <a:solidFill>
                <a:schemeClr val="dk1"/>
              </a:solidFill>
              <a:latin typeface="Calibri"/>
              <a:ea typeface="Calibri"/>
              <a:cs typeface="Calibri"/>
              <a:sym typeface="Calibri"/>
            </a:endParaRPr>
          </a:p>
        </p:txBody>
      </p:sp>
      <p:sp>
        <p:nvSpPr>
          <p:cNvPr id="221" name="Google Shape;221;p10"/>
          <p:cNvSpPr/>
          <p:nvPr/>
        </p:nvSpPr>
        <p:spPr>
          <a:xfrm>
            <a:off x="4901184" y="4187952"/>
            <a:ext cx="4041648" cy="246888"/>
          </a:xfrm>
          <a:prstGeom prst="rect">
            <a:avLst/>
          </a:prstGeom>
          <a:solidFill>
            <a:srgbClr val="162840"/>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0"/>
          <p:cNvSpPr/>
          <p:nvPr/>
        </p:nvSpPr>
        <p:spPr>
          <a:xfrm>
            <a:off x="4974336" y="4187952"/>
            <a:ext cx="1463040" cy="2468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2D4"/>
              </a:buClr>
              <a:buSzPts val="900"/>
              <a:buFont typeface="Calibri"/>
              <a:buNone/>
            </a:pPr>
            <a:r>
              <a:rPr lang="en-US" sz="900" b="1" i="0" u="none" strike="noStrike" cap="none">
                <a:solidFill>
                  <a:srgbClr val="00C2D4"/>
                </a:solidFill>
                <a:latin typeface="Calibri"/>
                <a:ea typeface="Calibri"/>
                <a:cs typeface="Calibri"/>
                <a:sym typeface="Calibri"/>
              </a:rPr>
              <a:t>user_created_at</a:t>
            </a:r>
            <a:endParaRPr sz="900" b="0" i="0" u="none" strike="noStrike" cap="none">
              <a:solidFill>
                <a:schemeClr val="dk1"/>
              </a:solidFill>
              <a:latin typeface="Calibri"/>
              <a:ea typeface="Calibri"/>
              <a:cs typeface="Calibri"/>
              <a:sym typeface="Calibri"/>
            </a:endParaRPr>
          </a:p>
        </p:txBody>
      </p:sp>
      <p:sp>
        <p:nvSpPr>
          <p:cNvPr id="223" name="Google Shape;223;p10"/>
          <p:cNvSpPr/>
          <p:nvPr/>
        </p:nvSpPr>
        <p:spPr>
          <a:xfrm>
            <a:off x="6492240" y="4187952"/>
            <a:ext cx="1508760" cy="2468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E0EF"/>
              </a:buClr>
              <a:buSzPts val="900"/>
              <a:buFont typeface="Calibri"/>
              <a:buNone/>
            </a:pPr>
            <a:r>
              <a:rPr lang="en-US" sz="900" b="0" i="0" u="none" strike="noStrike" cap="none">
                <a:solidFill>
                  <a:srgbClr val="C8E0EF"/>
                </a:solidFill>
                <a:latin typeface="Calibri"/>
                <a:ea typeface="Calibri"/>
                <a:cs typeface="Calibri"/>
                <a:sym typeface="Calibri"/>
              </a:rPr>
              <a:t>Parse to datetime, coerce errors</a:t>
            </a:r>
            <a:endParaRPr sz="900" b="0" i="0" u="none" strike="noStrike" cap="none">
              <a:solidFill>
                <a:schemeClr val="dk1"/>
              </a:solidFill>
              <a:latin typeface="Calibri"/>
              <a:ea typeface="Calibri"/>
              <a:cs typeface="Calibri"/>
              <a:sym typeface="Calibri"/>
            </a:endParaRPr>
          </a:p>
        </p:txBody>
      </p:sp>
      <p:sp>
        <p:nvSpPr>
          <p:cNvPr id="224" name="Google Shape;224;p10"/>
          <p:cNvSpPr/>
          <p:nvPr/>
        </p:nvSpPr>
        <p:spPr>
          <a:xfrm>
            <a:off x="4901184" y="4462272"/>
            <a:ext cx="4041648" cy="246888"/>
          </a:xfrm>
          <a:prstGeom prst="rect">
            <a:avLst/>
          </a:prstGeom>
          <a:solidFill>
            <a:srgbClr val="192D44"/>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0"/>
          <p:cNvSpPr/>
          <p:nvPr/>
        </p:nvSpPr>
        <p:spPr>
          <a:xfrm>
            <a:off x="4974336" y="4462272"/>
            <a:ext cx="1463040" cy="2468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2D4"/>
              </a:buClr>
              <a:buSzPts val="900"/>
              <a:buFont typeface="Calibri"/>
              <a:buNone/>
            </a:pPr>
            <a:r>
              <a:rPr lang="en-US" sz="900" b="1" i="0" u="none" strike="noStrike" cap="none">
                <a:solidFill>
                  <a:srgbClr val="00C2D4"/>
                </a:solidFill>
                <a:latin typeface="Calibri"/>
                <a:ea typeface="Calibri"/>
                <a:cs typeface="Calibri"/>
                <a:sym typeface="Calibri"/>
              </a:rPr>
              <a:t>full_text</a:t>
            </a:r>
            <a:endParaRPr sz="900" b="0" i="0" u="none" strike="noStrike" cap="none">
              <a:solidFill>
                <a:schemeClr val="dk1"/>
              </a:solidFill>
              <a:latin typeface="Calibri"/>
              <a:ea typeface="Calibri"/>
              <a:cs typeface="Calibri"/>
              <a:sym typeface="Calibri"/>
            </a:endParaRPr>
          </a:p>
        </p:txBody>
      </p:sp>
      <p:sp>
        <p:nvSpPr>
          <p:cNvPr id="226" name="Google Shape;226;p10"/>
          <p:cNvSpPr/>
          <p:nvPr/>
        </p:nvSpPr>
        <p:spPr>
          <a:xfrm>
            <a:off x="6492240" y="4462272"/>
            <a:ext cx="1508760" cy="24688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E0EF"/>
              </a:buClr>
              <a:buSzPts val="900"/>
              <a:buFont typeface="Calibri"/>
              <a:buNone/>
            </a:pPr>
            <a:r>
              <a:rPr lang="en-US" sz="900" b="0" i="0" u="none" strike="noStrike" cap="none">
                <a:solidFill>
                  <a:srgbClr val="C8E0EF"/>
                </a:solidFill>
                <a:latin typeface="Calibri"/>
                <a:ea typeface="Calibri"/>
                <a:cs typeface="Calibri"/>
                <a:sym typeface="Calibri"/>
              </a:rPr>
              <a:t>Drop rows with null (primary column)</a:t>
            </a:r>
            <a:endParaRPr sz="900" b="0" i="0" u="none" strike="noStrike" cap="none">
              <a:solidFill>
                <a:schemeClr val="dk1"/>
              </a:solidFill>
              <a:latin typeface="Calibri"/>
              <a:ea typeface="Calibri"/>
              <a:cs typeface="Calibri"/>
              <a:sym typeface="Calibri"/>
            </a:endParaRPr>
          </a:p>
        </p:txBody>
      </p:sp>
      <p:pic>
        <p:nvPicPr>
          <p:cNvPr id="5" name="Picture 4">
            <a:extLst>
              <a:ext uri="{FF2B5EF4-FFF2-40B4-BE49-F238E27FC236}">
                <a16:creationId xmlns:a16="http://schemas.microsoft.com/office/drawing/2014/main" id="{AA1DBA30-CD93-59E3-B7CB-B956D64DE63C}"/>
              </a:ext>
            </a:extLst>
          </p:cNvPr>
          <p:cNvPicPr>
            <a:picLocks noChangeAspect="1"/>
          </p:cNvPicPr>
          <p:nvPr/>
        </p:nvPicPr>
        <p:blipFill>
          <a:blip r:embed="rId3"/>
          <a:stretch>
            <a:fillRect/>
          </a:stretch>
        </p:blipFill>
        <p:spPr>
          <a:xfrm>
            <a:off x="320696" y="1271016"/>
            <a:ext cx="4167591" cy="328087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231"/>
        <p:cNvGrpSpPr/>
        <p:nvPr/>
      </p:nvGrpSpPr>
      <p:grpSpPr>
        <a:xfrm>
          <a:off x="0" y="0"/>
          <a:ext cx="0" cy="0"/>
          <a:chOff x="0" y="0"/>
          <a:chExt cx="0" cy="0"/>
        </a:xfrm>
      </p:grpSpPr>
      <p:sp>
        <p:nvSpPr>
          <p:cNvPr id="232" name="Google Shape;232;p11"/>
          <p:cNvSpPr/>
          <p:nvPr/>
        </p:nvSpPr>
        <p:spPr>
          <a:xfrm>
            <a:off x="0" y="0"/>
            <a:ext cx="9144000" cy="621792"/>
          </a:xfrm>
          <a:prstGeom prst="rect">
            <a:avLst/>
          </a:prstGeom>
          <a:solidFill>
            <a:srgbClr val="112236"/>
          </a:solidFill>
          <a:ln w="12700" cap="flat" cmpd="sng">
            <a:solidFill>
              <a:srgbClr val="1122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a:off x="0" y="0"/>
            <a:ext cx="128016" cy="621792"/>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1"/>
          <p:cNvSpPr/>
          <p:nvPr/>
        </p:nvSpPr>
        <p:spPr>
          <a:xfrm>
            <a:off x="219456" y="0"/>
            <a:ext cx="640080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01  DATA PROCESSING — Text Cleaning Pipeline</a:t>
            </a:r>
            <a:endParaRPr sz="2000" b="0" i="0" u="none" strike="noStrike" cap="none">
              <a:solidFill>
                <a:schemeClr val="dk1"/>
              </a:solidFill>
              <a:latin typeface="Calibri"/>
              <a:ea typeface="Calibri"/>
              <a:cs typeface="Calibri"/>
              <a:sym typeface="Calibri"/>
            </a:endParaRPr>
          </a:p>
        </p:txBody>
      </p:sp>
      <p:sp>
        <p:nvSpPr>
          <p:cNvPr id="235" name="Google Shape;235;p11"/>
          <p:cNvSpPr/>
          <p:nvPr/>
        </p:nvSpPr>
        <p:spPr>
          <a:xfrm>
            <a:off x="6675120" y="137160"/>
            <a:ext cx="2286000" cy="34747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90AA"/>
              </a:buClr>
              <a:buSzPts val="1000"/>
              <a:buFont typeface="Calibri"/>
              <a:buNone/>
            </a:pPr>
            <a:r>
              <a:rPr lang="en-US" sz="1000" b="0" i="0" u="none" strike="noStrike" cap="none">
                <a:solidFill>
                  <a:srgbClr val="6B90AA"/>
                </a:solidFill>
                <a:latin typeface="Calibri"/>
                <a:ea typeface="Calibri"/>
                <a:cs typeface="Calibri"/>
                <a:sym typeface="Calibri"/>
              </a:rPr>
              <a:t>MANDATORY</a:t>
            </a:r>
            <a:endParaRPr sz="1000" b="0" i="0" u="none" strike="noStrike" cap="none">
              <a:solidFill>
                <a:schemeClr val="dk1"/>
              </a:solidFill>
              <a:latin typeface="Calibri"/>
              <a:ea typeface="Calibri"/>
              <a:cs typeface="Calibri"/>
              <a:sym typeface="Calibri"/>
            </a:endParaRPr>
          </a:p>
        </p:txBody>
      </p:sp>
      <p:sp>
        <p:nvSpPr>
          <p:cNvPr id="236" name="Google Shape;236;p11"/>
          <p:cNvSpPr/>
          <p:nvPr/>
        </p:nvSpPr>
        <p:spPr>
          <a:xfrm>
            <a:off x="7882128" y="91440"/>
            <a:ext cx="1170432" cy="274320"/>
          </a:xfrm>
          <a:prstGeom prst="roundRect">
            <a:avLst>
              <a:gd name="adj" fmla="val 13333"/>
            </a:avLst>
          </a:prstGeom>
          <a:solidFill>
            <a:srgbClr val="B83232"/>
          </a:solidFill>
          <a:ln w="12700" cap="flat" cmpd="sng">
            <a:solidFill>
              <a:srgbClr val="B832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a:off x="7882128" y="91440"/>
            <a:ext cx="1170432"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en-US" sz="800" b="1" i="0" u="none" strike="noStrike" cap="none">
                <a:solidFill>
                  <a:srgbClr val="FFFFFF"/>
                </a:solidFill>
                <a:latin typeface="Calibri"/>
                <a:ea typeface="Calibri"/>
                <a:cs typeface="Calibri"/>
                <a:sym typeface="Calibri"/>
              </a:rPr>
              <a:t>MANDATORY</a:t>
            </a:r>
            <a:endParaRPr sz="800" b="0" i="0" u="none" strike="noStrike" cap="none">
              <a:solidFill>
                <a:schemeClr val="dk1"/>
              </a:solidFill>
              <a:latin typeface="Calibri"/>
              <a:ea typeface="Calibri"/>
              <a:cs typeface="Calibri"/>
              <a:sym typeface="Calibri"/>
            </a:endParaRPr>
          </a:p>
        </p:txBody>
      </p:sp>
      <p:sp>
        <p:nvSpPr>
          <p:cNvPr id="238" name="Google Shape;238;p11"/>
          <p:cNvSpPr/>
          <p:nvPr/>
        </p:nvSpPr>
        <p:spPr>
          <a:xfrm>
            <a:off x="256032" y="749808"/>
            <a:ext cx="4251960" cy="4251960"/>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1"/>
          <p:cNvSpPr/>
          <p:nvPr/>
        </p:nvSpPr>
        <p:spPr>
          <a:xfrm>
            <a:off x="402336" y="822960"/>
            <a:ext cx="393192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A623"/>
              </a:buClr>
              <a:buSzPts val="1200"/>
              <a:buFont typeface="Calibri"/>
              <a:buNone/>
            </a:pPr>
            <a:r>
              <a:rPr lang="en-US" sz="1200" b="1" i="0" u="none" strike="noStrike" cap="none">
                <a:solidFill>
                  <a:srgbClr val="F5A623"/>
                </a:solidFill>
                <a:latin typeface="Calibri"/>
                <a:ea typeface="Calibri"/>
                <a:cs typeface="Calibri"/>
                <a:sym typeface="Calibri"/>
              </a:rPr>
              <a:t>process_text() — NLP Pipeline</a:t>
            </a:r>
            <a:endParaRPr sz="1200" b="0" i="0" u="none" strike="noStrike" cap="none">
              <a:solidFill>
                <a:schemeClr val="dk1"/>
              </a:solidFill>
              <a:latin typeface="Calibri"/>
              <a:ea typeface="Calibri"/>
              <a:cs typeface="Calibri"/>
              <a:sym typeface="Calibri"/>
            </a:endParaRPr>
          </a:p>
        </p:txBody>
      </p:sp>
      <p:sp>
        <p:nvSpPr>
          <p:cNvPr id="240" name="Google Shape;240;p11"/>
          <p:cNvSpPr/>
          <p:nvPr/>
        </p:nvSpPr>
        <p:spPr>
          <a:xfrm>
            <a:off x="402336" y="1307592"/>
            <a:ext cx="256032" cy="256032"/>
          </a:xfrm>
          <a:prstGeom prst="ellipse">
            <a:avLst/>
          </a:prstGeom>
          <a:solidFill>
            <a:srgbClr val="0077A8"/>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a:off x="402336" y="1307592"/>
            <a:ext cx="256032" cy="2560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1</a:t>
            </a:r>
            <a:endParaRPr sz="900" b="0" i="0" u="none" strike="noStrike" cap="none">
              <a:solidFill>
                <a:schemeClr val="dk1"/>
              </a:solidFill>
              <a:latin typeface="Calibri"/>
              <a:ea typeface="Calibri"/>
              <a:cs typeface="Calibri"/>
              <a:sym typeface="Calibri"/>
            </a:endParaRPr>
          </a:p>
        </p:txBody>
      </p:sp>
      <p:sp>
        <p:nvSpPr>
          <p:cNvPr id="242" name="Google Shape;242;p11"/>
          <p:cNvSpPr/>
          <p:nvPr/>
        </p:nvSpPr>
        <p:spPr>
          <a:xfrm>
            <a:off x="749808" y="1234440"/>
            <a:ext cx="1371600" cy="40233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Lowercase</a:t>
            </a:r>
            <a:endParaRPr sz="1000" b="0" i="0" u="none" strike="noStrike" cap="none">
              <a:solidFill>
                <a:schemeClr val="dk1"/>
              </a:solidFill>
              <a:latin typeface="Calibri"/>
              <a:ea typeface="Calibri"/>
              <a:cs typeface="Calibri"/>
              <a:sym typeface="Calibri"/>
            </a:endParaRPr>
          </a:p>
        </p:txBody>
      </p:sp>
      <p:sp>
        <p:nvSpPr>
          <p:cNvPr id="243" name="Google Shape;243;p11"/>
          <p:cNvSpPr/>
          <p:nvPr/>
        </p:nvSpPr>
        <p:spPr>
          <a:xfrm>
            <a:off x="2194560" y="1234440"/>
            <a:ext cx="2157984" cy="40233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90AA"/>
              </a:buClr>
              <a:buSzPts val="900"/>
              <a:buFont typeface="Calibri"/>
              <a:buNone/>
            </a:pPr>
            <a:r>
              <a:rPr lang="en-US" sz="900" b="0" i="1" u="none" strike="noStrike" cap="none">
                <a:solidFill>
                  <a:srgbClr val="6B90AA"/>
                </a:solidFill>
                <a:latin typeface="Calibri"/>
                <a:ea typeface="Calibri"/>
                <a:cs typeface="Calibri"/>
                <a:sym typeface="Calibri"/>
              </a:rPr>
              <a:t>text = text.lower()</a:t>
            </a:r>
            <a:endParaRPr sz="900" b="0" i="0" u="none" strike="noStrike" cap="none">
              <a:solidFill>
                <a:schemeClr val="dk1"/>
              </a:solidFill>
              <a:latin typeface="Calibri"/>
              <a:ea typeface="Calibri"/>
              <a:cs typeface="Calibri"/>
              <a:sym typeface="Calibri"/>
            </a:endParaRPr>
          </a:p>
        </p:txBody>
      </p:sp>
      <p:sp>
        <p:nvSpPr>
          <p:cNvPr id="244" name="Google Shape;244;p11"/>
          <p:cNvSpPr/>
          <p:nvPr/>
        </p:nvSpPr>
        <p:spPr>
          <a:xfrm>
            <a:off x="402336" y="1764792"/>
            <a:ext cx="256032" cy="256032"/>
          </a:xfrm>
          <a:prstGeom prst="ellipse">
            <a:avLst/>
          </a:prstGeom>
          <a:solidFill>
            <a:srgbClr val="0077A8"/>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a:off x="402336" y="1764792"/>
            <a:ext cx="256032" cy="2560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2</a:t>
            </a:r>
            <a:endParaRPr sz="900" b="0" i="0" u="none" strike="noStrike" cap="none">
              <a:solidFill>
                <a:schemeClr val="dk1"/>
              </a:solidFill>
              <a:latin typeface="Calibri"/>
              <a:ea typeface="Calibri"/>
              <a:cs typeface="Calibri"/>
              <a:sym typeface="Calibri"/>
            </a:endParaRPr>
          </a:p>
        </p:txBody>
      </p:sp>
      <p:sp>
        <p:nvSpPr>
          <p:cNvPr id="246" name="Google Shape;246;p11"/>
          <p:cNvSpPr/>
          <p:nvPr/>
        </p:nvSpPr>
        <p:spPr>
          <a:xfrm>
            <a:off x="749808" y="1691640"/>
            <a:ext cx="1371600" cy="40233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Tokenize</a:t>
            </a:r>
            <a:endParaRPr sz="1000" b="0" i="0" u="none" strike="noStrike" cap="none">
              <a:solidFill>
                <a:schemeClr val="dk1"/>
              </a:solidFill>
              <a:latin typeface="Calibri"/>
              <a:ea typeface="Calibri"/>
              <a:cs typeface="Calibri"/>
              <a:sym typeface="Calibri"/>
            </a:endParaRPr>
          </a:p>
        </p:txBody>
      </p:sp>
      <p:sp>
        <p:nvSpPr>
          <p:cNvPr id="247" name="Google Shape;247;p11"/>
          <p:cNvSpPr/>
          <p:nvPr/>
        </p:nvSpPr>
        <p:spPr>
          <a:xfrm>
            <a:off x="2194560" y="1691640"/>
            <a:ext cx="2157984" cy="40233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90AA"/>
              </a:buClr>
              <a:buSzPts val="900"/>
              <a:buFont typeface="Calibri"/>
              <a:buNone/>
            </a:pPr>
            <a:r>
              <a:rPr lang="en-US" sz="900" b="0" i="1" u="none" strike="noStrike" cap="none">
                <a:solidFill>
                  <a:srgbClr val="6B90AA"/>
                </a:solidFill>
                <a:latin typeface="Calibri"/>
                <a:ea typeface="Calibri"/>
                <a:cs typeface="Calibri"/>
                <a:sym typeface="Calibri"/>
              </a:rPr>
              <a:t>word_tokenize(text)  — NLTK</a:t>
            </a:r>
            <a:endParaRPr sz="900" b="0" i="0" u="none" strike="noStrike" cap="none">
              <a:solidFill>
                <a:schemeClr val="dk1"/>
              </a:solidFill>
              <a:latin typeface="Calibri"/>
              <a:ea typeface="Calibri"/>
              <a:cs typeface="Calibri"/>
              <a:sym typeface="Calibri"/>
            </a:endParaRPr>
          </a:p>
        </p:txBody>
      </p:sp>
      <p:sp>
        <p:nvSpPr>
          <p:cNvPr id="248" name="Google Shape;248;p11"/>
          <p:cNvSpPr/>
          <p:nvPr/>
        </p:nvSpPr>
        <p:spPr>
          <a:xfrm>
            <a:off x="402336" y="2221992"/>
            <a:ext cx="256032" cy="256032"/>
          </a:xfrm>
          <a:prstGeom prst="ellipse">
            <a:avLst/>
          </a:prstGeom>
          <a:solidFill>
            <a:srgbClr val="0077A8"/>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11"/>
          <p:cNvSpPr/>
          <p:nvPr/>
        </p:nvSpPr>
        <p:spPr>
          <a:xfrm>
            <a:off x="402336" y="2221992"/>
            <a:ext cx="256032" cy="2560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3</a:t>
            </a:r>
            <a:endParaRPr sz="900" b="0" i="0" u="none" strike="noStrike" cap="none">
              <a:solidFill>
                <a:schemeClr val="dk1"/>
              </a:solidFill>
              <a:latin typeface="Calibri"/>
              <a:ea typeface="Calibri"/>
              <a:cs typeface="Calibri"/>
              <a:sym typeface="Calibri"/>
            </a:endParaRPr>
          </a:p>
        </p:txBody>
      </p:sp>
      <p:sp>
        <p:nvSpPr>
          <p:cNvPr id="250" name="Google Shape;250;p11"/>
          <p:cNvSpPr/>
          <p:nvPr/>
        </p:nvSpPr>
        <p:spPr>
          <a:xfrm>
            <a:off x="749808" y="2148840"/>
            <a:ext cx="1371600" cy="40233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Skip empty</a:t>
            </a:r>
            <a:endParaRPr sz="1000" b="0" i="0" u="none" strike="noStrike" cap="none">
              <a:solidFill>
                <a:schemeClr val="dk1"/>
              </a:solidFill>
              <a:latin typeface="Calibri"/>
              <a:ea typeface="Calibri"/>
              <a:cs typeface="Calibri"/>
              <a:sym typeface="Calibri"/>
            </a:endParaRPr>
          </a:p>
        </p:txBody>
      </p:sp>
      <p:sp>
        <p:nvSpPr>
          <p:cNvPr id="251" name="Google Shape;251;p11"/>
          <p:cNvSpPr/>
          <p:nvPr/>
        </p:nvSpPr>
        <p:spPr>
          <a:xfrm>
            <a:off x="2194560" y="2148840"/>
            <a:ext cx="2157984" cy="40233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90AA"/>
              </a:buClr>
              <a:buSzPts val="900"/>
              <a:buFont typeface="Calibri"/>
              <a:buNone/>
            </a:pPr>
            <a:r>
              <a:rPr lang="en-US" sz="900" b="0" i="1" u="none" strike="noStrike" cap="none">
                <a:solidFill>
                  <a:srgbClr val="6B90AA"/>
                </a:solidFill>
                <a:latin typeface="Calibri"/>
                <a:ea typeface="Calibri"/>
                <a:cs typeface="Calibri"/>
                <a:sym typeface="Calibri"/>
              </a:rPr>
              <a:t>guard against IndexError</a:t>
            </a:r>
            <a:endParaRPr sz="900" b="0" i="0" u="none" strike="noStrike" cap="none">
              <a:solidFill>
                <a:schemeClr val="dk1"/>
              </a:solidFill>
              <a:latin typeface="Calibri"/>
              <a:ea typeface="Calibri"/>
              <a:cs typeface="Calibri"/>
              <a:sym typeface="Calibri"/>
            </a:endParaRPr>
          </a:p>
        </p:txBody>
      </p:sp>
      <p:sp>
        <p:nvSpPr>
          <p:cNvPr id="252" name="Google Shape;252;p11"/>
          <p:cNvSpPr/>
          <p:nvPr/>
        </p:nvSpPr>
        <p:spPr>
          <a:xfrm>
            <a:off x="402336" y="2679192"/>
            <a:ext cx="256032" cy="256032"/>
          </a:xfrm>
          <a:prstGeom prst="ellipse">
            <a:avLst/>
          </a:prstGeom>
          <a:solidFill>
            <a:srgbClr val="0077A8"/>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a:off x="402336" y="2679192"/>
            <a:ext cx="256032" cy="2560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4</a:t>
            </a:r>
            <a:endParaRPr sz="900" b="0" i="0" u="none" strike="noStrike" cap="none">
              <a:solidFill>
                <a:schemeClr val="dk1"/>
              </a:solidFill>
              <a:latin typeface="Calibri"/>
              <a:ea typeface="Calibri"/>
              <a:cs typeface="Calibri"/>
              <a:sym typeface="Calibri"/>
            </a:endParaRPr>
          </a:p>
        </p:txBody>
      </p:sp>
      <p:sp>
        <p:nvSpPr>
          <p:cNvPr id="254" name="Google Shape;254;p11"/>
          <p:cNvSpPr/>
          <p:nvPr/>
        </p:nvSpPr>
        <p:spPr>
          <a:xfrm>
            <a:off x="749808" y="2606040"/>
            <a:ext cx="1371600" cy="40233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Remove stopwords</a:t>
            </a:r>
            <a:endParaRPr sz="1000" b="0" i="0" u="none" strike="noStrike" cap="none">
              <a:solidFill>
                <a:schemeClr val="dk1"/>
              </a:solidFill>
              <a:latin typeface="Calibri"/>
              <a:ea typeface="Calibri"/>
              <a:cs typeface="Calibri"/>
              <a:sym typeface="Calibri"/>
            </a:endParaRPr>
          </a:p>
        </p:txBody>
      </p:sp>
      <p:sp>
        <p:nvSpPr>
          <p:cNvPr id="255" name="Google Shape;255;p11"/>
          <p:cNvSpPr/>
          <p:nvPr/>
        </p:nvSpPr>
        <p:spPr>
          <a:xfrm>
            <a:off x="2194560" y="2606040"/>
            <a:ext cx="2157984" cy="40233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90AA"/>
              </a:buClr>
              <a:buSzPts val="900"/>
              <a:buFont typeface="Calibri"/>
              <a:buNone/>
            </a:pPr>
            <a:r>
              <a:rPr lang="en-US" sz="900" b="0" i="1" u="none" strike="noStrike" cap="none">
                <a:solidFill>
                  <a:srgbClr val="6B90AA"/>
                </a:solidFill>
                <a:latin typeface="Calibri"/>
                <a:ea typeface="Calibri"/>
                <a:cs typeface="Calibri"/>
                <a:sym typeface="Calibri"/>
              </a:rPr>
              <a:t>NLTK english + custom set</a:t>
            </a:r>
            <a:endParaRPr sz="900" b="0" i="0" u="none" strike="noStrike" cap="none">
              <a:solidFill>
                <a:schemeClr val="dk1"/>
              </a:solidFill>
              <a:latin typeface="Calibri"/>
              <a:ea typeface="Calibri"/>
              <a:cs typeface="Calibri"/>
              <a:sym typeface="Calibri"/>
            </a:endParaRPr>
          </a:p>
        </p:txBody>
      </p:sp>
      <p:sp>
        <p:nvSpPr>
          <p:cNvPr id="256" name="Google Shape;256;p11"/>
          <p:cNvSpPr/>
          <p:nvPr/>
        </p:nvSpPr>
        <p:spPr>
          <a:xfrm>
            <a:off x="402336" y="3136392"/>
            <a:ext cx="256032" cy="256032"/>
          </a:xfrm>
          <a:prstGeom prst="ellipse">
            <a:avLst/>
          </a:prstGeom>
          <a:solidFill>
            <a:srgbClr val="0077A8"/>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a:off x="402336" y="3136392"/>
            <a:ext cx="256032" cy="2560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5</a:t>
            </a:r>
            <a:endParaRPr sz="900" b="0" i="0" u="none" strike="noStrike" cap="none">
              <a:solidFill>
                <a:schemeClr val="dk1"/>
              </a:solidFill>
              <a:latin typeface="Calibri"/>
              <a:ea typeface="Calibri"/>
              <a:cs typeface="Calibri"/>
              <a:sym typeface="Calibri"/>
            </a:endParaRPr>
          </a:p>
        </p:txBody>
      </p:sp>
      <p:sp>
        <p:nvSpPr>
          <p:cNvPr id="258" name="Google Shape;258;p11"/>
          <p:cNvSpPr/>
          <p:nvPr/>
        </p:nvSpPr>
        <p:spPr>
          <a:xfrm>
            <a:off x="749808" y="3063240"/>
            <a:ext cx="1371600" cy="40233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Filter special chars</a:t>
            </a:r>
            <a:endParaRPr sz="1000" b="0" i="0" u="none" strike="noStrike" cap="none">
              <a:solidFill>
                <a:schemeClr val="dk1"/>
              </a:solidFill>
              <a:latin typeface="Calibri"/>
              <a:ea typeface="Calibri"/>
              <a:cs typeface="Calibri"/>
              <a:sym typeface="Calibri"/>
            </a:endParaRPr>
          </a:p>
        </p:txBody>
      </p:sp>
      <p:sp>
        <p:nvSpPr>
          <p:cNvPr id="259" name="Google Shape;259;p11"/>
          <p:cNvSpPr/>
          <p:nvPr/>
        </p:nvSpPr>
        <p:spPr>
          <a:xfrm>
            <a:off x="2194560" y="3063240"/>
            <a:ext cx="2157984" cy="40233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90AA"/>
              </a:buClr>
              <a:buSzPts val="900"/>
              <a:buFont typeface="Calibri"/>
              <a:buNone/>
            </a:pPr>
            <a:r>
              <a:rPr lang="en-US" sz="900" b="0" i="1" u="none" strike="noStrike" cap="none">
                <a:solidFill>
                  <a:srgbClr val="6B90AA"/>
                </a:solidFill>
                <a:latin typeface="Calibri"/>
                <a:ea typeface="Calibri"/>
                <a:cs typeface="Calibri"/>
                <a:sym typeface="Calibri"/>
              </a:rPr>
              <a:t>@mentions, http, encoding noise</a:t>
            </a:r>
            <a:endParaRPr sz="900" b="0" i="0" u="none" strike="noStrike" cap="none">
              <a:solidFill>
                <a:schemeClr val="dk1"/>
              </a:solidFill>
              <a:latin typeface="Calibri"/>
              <a:ea typeface="Calibri"/>
              <a:cs typeface="Calibri"/>
              <a:sym typeface="Calibri"/>
            </a:endParaRPr>
          </a:p>
        </p:txBody>
      </p:sp>
      <p:sp>
        <p:nvSpPr>
          <p:cNvPr id="260" name="Google Shape;260;p11"/>
          <p:cNvSpPr/>
          <p:nvPr/>
        </p:nvSpPr>
        <p:spPr>
          <a:xfrm>
            <a:off x="402336" y="3593592"/>
            <a:ext cx="256032" cy="256032"/>
          </a:xfrm>
          <a:prstGeom prst="ellipse">
            <a:avLst/>
          </a:prstGeom>
          <a:solidFill>
            <a:srgbClr val="0077A8"/>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a:off x="402336" y="3593592"/>
            <a:ext cx="256032" cy="2560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6</a:t>
            </a:r>
            <a:endParaRPr sz="900" b="0" i="0" u="none" strike="noStrike" cap="none">
              <a:solidFill>
                <a:schemeClr val="dk1"/>
              </a:solidFill>
              <a:latin typeface="Calibri"/>
              <a:ea typeface="Calibri"/>
              <a:cs typeface="Calibri"/>
              <a:sym typeface="Calibri"/>
            </a:endParaRPr>
          </a:p>
        </p:txBody>
      </p:sp>
      <p:sp>
        <p:nvSpPr>
          <p:cNvPr id="262" name="Google Shape;262;p11"/>
          <p:cNvSpPr/>
          <p:nvPr/>
        </p:nvSpPr>
        <p:spPr>
          <a:xfrm>
            <a:off x="749808" y="3520440"/>
            <a:ext cx="1371600" cy="40233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Lemmatize</a:t>
            </a:r>
            <a:endParaRPr sz="1000" b="0" i="0" u="none" strike="noStrike" cap="none">
              <a:solidFill>
                <a:schemeClr val="dk1"/>
              </a:solidFill>
              <a:latin typeface="Calibri"/>
              <a:ea typeface="Calibri"/>
              <a:cs typeface="Calibri"/>
              <a:sym typeface="Calibri"/>
            </a:endParaRPr>
          </a:p>
        </p:txBody>
      </p:sp>
      <p:sp>
        <p:nvSpPr>
          <p:cNvPr id="263" name="Google Shape;263;p11"/>
          <p:cNvSpPr/>
          <p:nvPr/>
        </p:nvSpPr>
        <p:spPr>
          <a:xfrm>
            <a:off x="2194560" y="3520440"/>
            <a:ext cx="2157984" cy="40233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90AA"/>
              </a:buClr>
              <a:buSzPts val="900"/>
              <a:buFont typeface="Calibri"/>
              <a:buNone/>
            </a:pPr>
            <a:r>
              <a:rPr lang="en-US" sz="900" b="0" i="1" u="none" strike="noStrike" cap="none">
                <a:solidFill>
                  <a:srgbClr val="6B90AA"/>
                </a:solidFill>
                <a:latin typeface="Calibri"/>
                <a:ea typeface="Calibri"/>
                <a:cs typeface="Calibri"/>
                <a:sym typeface="Calibri"/>
              </a:rPr>
              <a:t>WordNetLemmatizer → base form</a:t>
            </a:r>
            <a:endParaRPr sz="900" b="0" i="0" u="none" strike="noStrike" cap="none">
              <a:solidFill>
                <a:schemeClr val="dk1"/>
              </a:solidFill>
              <a:latin typeface="Calibri"/>
              <a:ea typeface="Calibri"/>
              <a:cs typeface="Calibri"/>
              <a:sym typeface="Calibri"/>
            </a:endParaRPr>
          </a:p>
        </p:txBody>
      </p:sp>
      <p:sp>
        <p:nvSpPr>
          <p:cNvPr id="264" name="Google Shape;264;p11"/>
          <p:cNvSpPr/>
          <p:nvPr/>
        </p:nvSpPr>
        <p:spPr>
          <a:xfrm>
            <a:off x="402336" y="4050792"/>
            <a:ext cx="256032" cy="256032"/>
          </a:xfrm>
          <a:prstGeom prst="ellipse">
            <a:avLst/>
          </a:prstGeom>
          <a:solidFill>
            <a:srgbClr val="0077A8"/>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a:off x="402336" y="4050792"/>
            <a:ext cx="256032" cy="25603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7</a:t>
            </a:r>
            <a:endParaRPr sz="900" b="0" i="0" u="none" strike="noStrike" cap="none">
              <a:solidFill>
                <a:schemeClr val="dk1"/>
              </a:solidFill>
              <a:latin typeface="Calibri"/>
              <a:ea typeface="Calibri"/>
              <a:cs typeface="Calibri"/>
              <a:sym typeface="Calibri"/>
            </a:endParaRPr>
          </a:p>
        </p:txBody>
      </p:sp>
      <p:sp>
        <p:nvSpPr>
          <p:cNvPr id="266" name="Google Shape;266;p11"/>
          <p:cNvSpPr/>
          <p:nvPr/>
        </p:nvSpPr>
        <p:spPr>
          <a:xfrm>
            <a:off x="749808" y="3977640"/>
            <a:ext cx="1371600" cy="40233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Re-join tokens</a:t>
            </a:r>
            <a:endParaRPr sz="1000" b="0" i="0" u="none" strike="noStrike" cap="none">
              <a:solidFill>
                <a:schemeClr val="dk1"/>
              </a:solidFill>
              <a:latin typeface="Calibri"/>
              <a:ea typeface="Calibri"/>
              <a:cs typeface="Calibri"/>
              <a:sym typeface="Calibri"/>
            </a:endParaRPr>
          </a:p>
        </p:txBody>
      </p:sp>
      <p:sp>
        <p:nvSpPr>
          <p:cNvPr id="267" name="Google Shape;267;p11"/>
          <p:cNvSpPr/>
          <p:nvPr/>
        </p:nvSpPr>
        <p:spPr>
          <a:xfrm>
            <a:off x="2194560" y="3977640"/>
            <a:ext cx="2157984" cy="40233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90AA"/>
              </a:buClr>
              <a:buSzPts val="900"/>
              <a:buFont typeface="Calibri"/>
              <a:buNone/>
            </a:pPr>
            <a:r>
              <a:rPr lang="en-US" sz="900" b="0" i="1" u="none" strike="noStrike" cap="none">
                <a:solidFill>
                  <a:srgbClr val="6B90AA"/>
                </a:solidFill>
                <a:latin typeface="Calibri"/>
                <a:ea typeface="Calibri"/>
                <a:cs typeface="Calibri"/>
                <a:sym typeface="Calibri"/>
              </a:rPr>
              <a:t>Output → df['clean_text']</a:t>
            </a:r>
            <a:endParaRPr sz="900" b="0" i="0" u="none" strike="noStrike" cap="none">
              <a:solidFill>
                <a:schemeClr val="dk1"/>
              </a:solidFill>
              <a:latin typeface="Calibri"/>
              <a:ea typeface="Calibri"/>
              <a:cs typeface="Calibri"/>
              <a:sym typeface="Calibri"/>
            </a:endParaRPr>
          </a:p>
        </p:txBody>
      </p:sp>
      <p:sp>
        <p:nvSpPr>
          <p:cNvPr id="268" name="Google Shape;268;p11"/>
          <p:cNvSpPr/>
          <p:nvPr/>
        </p:nvSpPr>
        <p:spPr>
          <a:xfrm>
            <a:off x="4709160" y="749808"/>
            <a:ext cx="4160520" cy="2011680"/>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1"/>
          <p:cNvSpPr/>
          <p:nvPr/>
        </p:nvSpPr>
        <p:spPr>
          <a:xfrm>
            <a:off x="4846320" y="822960"/>
            <a:ext cx="384048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A623"/>
              </a:buClr>
              <a:buSzPts val="1200"/>
              <a:buFont typeface="Calibri"/>
              <a:buNone/>
            </a:pPr>
            <a:r>
              <a:rPr lang="en-US" sz="1200" b="1" i="0" u="none" strike="noStrike" cap="none">
                <a:solidFill>
                  <a:srgbClr val="F5A623"/>
                </a:solidFill>
                <a:latin typeface="Calibri"/>
                <a:ea typeface="Calibri"/>
                <a:cs typeface="Calibri"/>
                <a:sym typeface="Calibri"/>
              </a:rPr>
              <a:t>Custom Domain Stopwords (31 terms)</a:t>
            </a:r>
            <a:endParaRPr sz="1200" b="0" i="0" u="none" strike="noStrike" cap="none">
              <a:solidFill>
                <a:schemeClr val="dk1"/>
              </a:solidFill>
              <a:latin typeface="Calibri"/>
              <a:ea typeface="Calibri"/>
              <a:cs typeface="Calibri"/>
              <a:sym typeface="Calibri"/>
            </a:endParaRPr>
          </a:p>
        </p:txBody>
      </p:sp>
      <p:sp>
        <p:nvSpPr>
          <p:cNvPr id="270" name="Google Shape;270;p11"/>
          <p:cNvSpPr/>
          <p:nvPr/>
        </p:nvSpPr>
        <p:spPr>
          <a:xfrm>
            <a:off x="4846320" y="1207008"/>
            <a:ext cx="1810512" cy="155448"/>
          </a:xfrm>
          <a:prstGeom prst="roundRect">
            <a:avLst>
              <a:gd name="adj" fmla="val 17647"/>
            </a:avLst>
          </a:prstGeom>
          <a:solidFill>
            <a:srgbClr val="0077A8">
              <a:alpha val="21960"/>
            </a:srgbClr>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1"/>
          <p:cNvSpPr/>
          <p:nvPr/>
        </p:nvSpPr>
        <p:spPr>
          <a:xfrm>
            <a:off x="4846320" y="1207008"/>
            <a:ext cx="1810512" cy="1554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2D4"/>
              </a:buClr>
              <a:buSzPts val="850"/>
              <a:buFont typeface="Calibri"/>
              <a:buNone/>
            </a:pPr>
            <a:r>
              <a:rPr lang="en-US" sz="850" b="0" i="0" u="none" strike="noStrike" cap="none">
                <a:solidFill>
                  <a:srgbClr val="00C2D4"/>
                </a:solidFill>
                <a:latin typeface="Calibri"/>
                <a:ea typeface="Calibri"/>
                <a:cs typeface="Calibri"/>
                <a:sym typeface="Calibri"/>
              </a:rPr>
              <a:t>'amp'</a:t>
            </a:r>
            <a:endParaRPr sz="850" b="0" i="0" u="none" strike="noStrike" cap="none">
              <a:solidFill>
                <a:schemeClr val="dk1"/>
              </a:solidFill>
              <a:latin typeface="Calibri"/>
              <a:ea typeface="Calibri"/>
              <a:cs typeface="Calibri"/>
              <a:sym typeface="Calibri"/>
            </a:endParaRPr>
          </a:p>
        </p:txBody>
      </p:sp>
      <p:sp>
        <p:nvSpPr>
          <p:cNvPr id="272" name="Google Shape;272;p11"/>
          <p:cNvSpPr/>
          <p:nvPr/>
        </p:nvSpPr>
        <p:spPr>
          <a:xfrm>
            <a:off x="4846320" y="1389888"/>
            <a:ext cx="1810512" cy="155448"/>
          </a:xfrm>
          <a:prstGeom prst="roundRect">
            <a:avLst>
              <a:gd name="adj" fmla="val 17647"/>
            </a:avLst>
          </a:prstGeom>
          <a:solidFill>
            <a:srgbClr val="0077A8">
              <a:alpha val="21960"/>
            </a:srgbClr>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1"/>
          <p:cNvSpPr/>
          <p:nvPr/>
        </p:nvSpPr>
        <p:spPr>
          <a:xfrm>
            <a:off x="4846320" y="1389888"/>
            <a:ext cx="1810512" cy="1554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2D4"/>
              </a:buClr>
              <a:buSzPts val="850"/>
              <a:buFont typeface="Calibri"/>
              <a:buNone/>
            </a:pPr>
            <a:r>
              <a:rPr lang="en-US" sz="850" b="0" i="0" u="none" strike="noStrike" cap="none">
                <a:solidFill>
                  <a:srgbClr val="00C2D4"/>
                </a:solidFill>
                <a:latin typeface="Calibri"/>
                <a:ea typeface="Calibri"/>
                <a:cs typeface="Calibri"/>
                <a:sym typeface="Calibri"/>
              </a:rPr>
              <a:t>'abc'</a:t>
            </a:r>
            <a:endParaRPr sz="850" b="0" i="0" u="none" strike="noStrike" cap="none">
              <a:solidFill>
                <a:schemeClr val="dk1"/>
              </a:solidFill>
              <a:latin typeface="Calibri"/>
              <a:ea typeface="Calibri"/>
              <a:cs typeface="Calibri"/>
              <a:sym typeface="Calibri"/>
            </a:endParaRPr>
          </a:p>
        </p:txBody>
      </p:sp>
      <p:sp>
        <p:nvSpPr>
          <p:cNvPr id="274" name="Google Shape;274;p11"/>
          <p:cNvSpPr/>
          <p:nvPr/>
        </p:nvSpPr>
        <p:spPr>
          <a:xfrm>
            <a:off x="4846320" y="1572768"/>
            <a:ext cx="1810512" cy="155448"/>
          </a:xfrm>
          <a:prstGeom prst="roundRect">
            <a:avLst>
              <a:gd name="adj" fmla="val 17647"/>
            </a:avLst>
          </a:prstGeom>
          <a:solidFill>
            <a:srgbClr val="0077A8">
              <a:alpha val="21960"/>
            </a:srgbClr>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1"/>
          <p:cNvSpPr/>
          <p:nvPr/>
        </p:nvSpPr>
        <p:spPr>
          <a:xfrm>
            <a:off x="4846320" y="1572768"/>
            <a:ext cx="1810512" cy="1554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2D4"/>
              </a:buClr>
              <a:buSzPts val="850"/>
              <a:buFont typeface="Calibri"/>
              <a:buNone/>
            </a:pPr>
            <a:r>
              <a:rPr lang="en-US" sz="850" b="0" i="0" u="none" strike="noStrike" cap="none">
                <a:solidFill>
                  <a:srgbClr val="00C2D4"/>
                </a:solidFill>
                <a:latin typeface="Calibri"/>
                <a:ea typeface="Calibri"/>
                <a:cs typeface="Calibri"/>
                <a:sym typeface="Calibri"/>
              </a:rPr>
              <a:t>'ausvotes'</a:t>
            </a:r>
            <a:endParaRPr sz="850" b="0" i="0" u="none" strike="noStrike" cap="none">
              <a:solidFill>
                <a:schemeClr val="dk1"/>
              </a:solidFill>
              <a:latin typeface="Calibri"/>
              <a:ea typeface="Calibri"/>
              <a:cs typeface="Calibri"/>
              <a:sym typeface="Calibri"/>
            </a:endParaRPr>
          </a:p>
        </p:txBody>
      </p:sp>
      <p:sp>
        <p:nvSpPr>
          <p:cNvPr id="276" name="Google Shape;276;p11"/>
          <p:cNvSpPr/>
          <p:nvPr/>
        </p:nvSpPr>
        <p:spPr>
          <a:xfrm>
            <a:off x="4846320" y="1755648"/>
            <a:ext cx="1810512" cy="155448"/>
          </a:xfrm>
          <a:prstGeom prst="roundRect">
            <a:avLst>
              <a:gd name="adj" fmla="val 17647"/>
            </a:avLst>
          </a:prstGeom>
          <a:solidFill>
            <a:srgbClr val="0077A8">
              <a:alpha val="21960"/>
            </a:srgbClr>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1"/>
          <p:cNvSpPr/>
          <p:nvPr/>
        </p:nvSpPr>
        <p:spPr>
          <a:xfrm>
            <a:off x="4846320" y="1755648"/>
            <a:ext cx="1810512" cy="1554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2D4"/>
              </a:buClr>
              <a:buSzPts val="850"/>
              <a:buFont typeface="Calibri"/>
              <a:buNone/>
            </a:pPr>
            <a:r>
              <a:rPr lang="en-US" sz="850" b="0" i="0" u="none" strike="noStrike" cap="none">
                <a:solidFill>
                  <a:srgbClr val="00C2D4"/>
                </a:solidFill>
                <a:latin typeface="Calibri"/>
                <a:ea typeface="Calibri"/>
                <a:cs typeface="Calibri"/>
                <a:sym typeface="Calibri"/>
              </a:rPr>
              <a:t>'auspol'</a:t>
            </a:r>
            <a:endParaRPr sz="850" b="0" i="0" u="none" strike="noStrike" cap="none">
              <a:solidFill>
                <a:schemeClr val="dk1"/>
              </a:solidFill>
              <a:latin typeface="Calibri"/>
              <a:ea typeface="Calibri"/>
              <a:cs typeface="Calibri"/>
              <a:sym typeface="Calibri"/>
            </a:endParaRPr>
          </a:p>
        </p:txBody>
      </p:sp>
      <p:sp>
        <p:nvSpPr>
          <p:cNvPr id="278" name="Google Shape;278;p11"/>
          <p:cNvSpPr/>
          <p:nvPr/>
        </p:nvSpPr>
        <p:spPr>
          <a:xfrm>
            <a:off x="4846320" y="1938528"/>
            <a:ext cx="1810512" cy="155448"/>
          </a:xfrm>
          <a:prstGeom prst="roundRect">
            <a:avLst>
              <a:gd name="adj" fmla="val 17647"/>
            </a:avLst>
          </a:prstGeom>
          <a:solidFill>
            <a:srgbClr val="0077A8">
              <a:alpha val="21960"/>
            </a:srgbClr>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1"/>
          <p:cNvSpPr/>
          <p:nvPr/>
        </p:nvSpPr>
        <p:spPr>
          <a:xfrm>
            <a:off x="4846320" y="1938528"/>
            <a:ext cx="1810512" cy="1554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2D4"/>
              </a:buClr>
              <a:buSzPts val="850"/>
              <a:buFont typeface="Calibri"/>
              <a:buNone/>
            </a:pPr>
            <a:r>
              <a:rPr lang="en-US" sz="850" b="0" i="0" u="none" strike="noStrike" cap="none">
                <a:solidFill>
                  <a:srgbClr val="00C2D4"/>
                </a:solidFill>
                <a:latin typeface="Calibri"/>
                <a:ea typeface="Calibri"/>
                <a:cs typeface="Calibri"/>
                <a:sym typeface="Calibri"/>
              </a:rPr>
              <a:t>'auspol2019'</a:t>
            </a:r>
            <a:endParaRPr sz="850" b="0" i="0" u="none" strike="noStrike" cap="none">
              <a:solidFill>
                <a:schemeClr val="dk1"/>
              </a:solidFill>
              <a:latin typeface="Calibri"/>
              <a:ea typeface="Calibri"/>
              <a:cs typeface="Calibri"/>
              <a:sym typeface="Calibri"/>
            </a:endParaRPr>
          </a:p>
        </p:txBody>
      </p:sp>
      <p:sp>
        <p:nvSpPr>
          <p:cNvPr id="280" name="Google Shape;280;p11"/>
          <p:cNvSpPr/>
          <p:nvPr/>
        </p:nvSpPr>
        <p:spPr>
          <a:xfrm>
            <a:off x="4846320" y="2121408"/>
            <a:ext cx="1810512" cy="155448"/>
          </a:xfrm>
          <a:prstGeom prst="roundRect">
            <a:avLst>
              <a:gd name="adj" fmla="val 17647"/>
            </a:avLst>
          </a:prstGeom>
          <a:solidFill>
            <a:srgbClr val="0077A8">
              <a:alpha val="21960"/>
            </a:srgbClr>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1"/>
          <p:cNvSpPr/>
          <p:nvPr/>
        </p:nvSpPr>
        <p:spPr>
          <a:xfrm>
            <a:off x="4846320" y="2121408"/>
            <a:ext cx="1810512" cy="1554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2D4"/>
              </a:buClr>
              <a:buSzPts val="850"/>
              <a:buFont typeface="Calibri"/>
              <a:buNone/>
            </a:pPr>
            <a:r>
              <a:rPr lang="en-US" sz="850" b="0" i="0" u="none" strike="noStrike" cap="none">
                <a:solidFill>
                  <a:srgbClr val="00C2D4"/>
                </a:solidFill>
                <a:latin typeface="Calibri"/>
                <a:ea typeface="Calibri"/>
                <a:cs typeface="Calibri"/>
                <a:sym typeface="Calibri"/>
              </a:rPr>
              <a:t>'ausvotes2019'</a:t>
            </a:r>
            <a:endParaRPr sz="850" b="0" i="0" u="none" strike="noStrike" cap="none">
              <a:solidFill>
                <a:schemeClr val="dk1"/>
              </a:solidFill>
              <a:latin typeface="Calibri"/>
              <a:ea typeface="Calibri"/>
              <a:cs typeface="Calibri"/>
              <a:sym typeface="Calibri"/>
            </a:endParaRPr>
          </a:p>
        </p:txBody>
      </p:sp>
      <p:sp>
        <p:nvSpPr>
          <p:cNvPr id="282" name="Google Shape;282;p11"/>
          <p:cNvSpPr/>
          <p:nvPr/>
        </p:nvSpPr>
        <p:spPr>
          <a:xfrm>
            <a:off x="4846320" y="2304288"/>
            <a:ext cx="1810512" cy="155448"/>
          </a:xfrm>
          <a:prstGeom prst="roundRect">
            <a:avLst>
              <a:gd name="adj" fmla="val 17647"/>
            </a:avLst>
          </a:prstGeom>
          <a:solidFill>
            <a:srgbClr val="0077A8">
              <a:alpha val="21960"/>
            </a:srgbClr>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1"/>
          <p:cNvSpPr/>
          <p:nvPr/>
        </p:nvSpPr>
        <p:spPr>
          <a:xfrm>
            <a:off x="4846320" y="2304288"/>
            <a:ext cx="1810512" cy="1554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2D4"/>
              </a:buClr>
              <a:buSzPts val="850"/>
              <a:buFont typeface="Calibri"/>
              <a:buNone/>
            </a:pPr>
            <a:r>
              <a:rPr lang="en-US" sz="850" b="0" i="0" u="none" strike="noStrike" cap="none">
                <a:solidFill>
                  <a:srgbClr val="00C2D4"/>
                </a:solidFill>
                <a:latin typeface="Calibri"/>
                <a:ea typeface="Calibri"/>
                <a:cs typeface="Calibri"/>
                <a:sym typeface="Calibri"/>
              </a:rPr>
              <a:t>'ausvotes19'</a:t>
            </a:r>
            <a:endParaRPr sz="850" b="0" i="0" u="none" strike="noStrike" cap="none">
              <a:solidFill>
                <a:schemeClr val="dk1"/>
              </a:solidFill>
              <a:latin typeface="Calibri"/>
              <a:ea typeface="Calibri"/>
              <a:cs typeface="Calibri"/>
              <a:sym typeface="Calibri"/>
            </a:endParaRPr>
          </a:p>
        </p:txBody>
      </p:sp>
      <p:sp>
        <p:nvSpPr>
          <p:cNvPr id="284" name="Google Shape;284;p11"/>
          <p:cNvSpPr/>
          <p:nvPr/>
        </p:nvSpPr>
        <p:spPr>
          <a:xfrm>
            <a:off x="4846320" y="2487168"/>
            <a:ext cx="1810512" cy="155448"/>
          </a:xfrm>
          <a:prstGeom prst="roundRect">
            <a:avLst>
              <a:gd name="adj" fmla="val 17647"/>
            </a:avLst>
          </a:prstGeom>
          <a:solidFill>
            <a:srgbClr val="0077A8">
              <a:alpha val="21960"/>
            </a:srgbClr>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1"/>
          <p:cNvSpPr/>
          <p:nvPr/>
        </p:nvSpPr>
        <p:spPr>
          <a:xfrm>
            <a:off x="4846320" y="2487168"/>
            <a:ext cx="1810512" cy="1554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2D4"/>
              </a:buClr>
              <a:buSzPts val="850"/>
              <a:buFont typeface="Calibri"/>
              <a:buNone/>
            </a:pPr>
            <a:r>
              <a:rPr lang="en-US" sz="850" b="0" i="0" u="none" strike="noStrike" cap="none">
                <a:solidFill>
                  <a:srgbClr val="00C2D4"/>
                </a:solidFill>
                <a:latin typeface="Calibri"/>
                <a:ea typeface="Calibri"/>
                <a:cs typeface="Calibri"/>
                <a:sym typeface="Calibri"/>
              </a:rPr>
              <a:t>'ausvote19'</a:t>
            </a:r>
            <a:endParaRPr sz="850" b="0" i="0" u="none" strike="noStrike" cap="none">
              <a:solidFill>
                <a:schemeClr val="dk1"/>
              </a:solidFill>
              <a:latin typeface="Calibri"/>
              <a:ea typeface="Calibri"/>
              <a:cs typeface="Calibri"/>
              <a:sym typeface="Calibri"/>
            </a:endParaRPr>
          </a:p>
        </p:txBody>
      </p:sp>
      <p:sp>
        <p:nvSpPr>
          <p:cNvPr id="286" name="Google Shape;286;p11"/>
          <p:cNvSpPr/>
          <p:nvPr/>
        </p:nvSpPr>
        <p:spPr>
          <a:xfrm>
            <a:off x="4846320" y="2670048"/>
            <a:ext cx="1810512" cy="155448"/>
          </a:xfrm>
          <a:prstGeom prst="roundRect">
            <a:avLst>
              <a:gd name="adj" fmla="val 17647"/>
            </a:avLst>
          </a:prstGeom>
          <a:solidFill>
            <a:srgbClr val="0077A8">
              <a:alpha val="21960"/>
            </a:srgbClr>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1"/>
          <p:cNvSpPr/>
          <p:nvPr/>
        </p:nvSpPr>
        <p:spPr>
          <a:xfrm>
            <a:off x="4846320" y="2670048"/>
            <a:ext cx="1810512" cy="1554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2D4"/>
              </a:buClr>
              <a:buSzPts val="850"/>
              <a:buFont typeface="Calibri"/>
              <a:buNone/>
            </a:pPr>
            <a:r>
              <a:rPr lang="en-US" sz="850" b="0" i="0" u="none" strike="noStrike" cap="none">
                <a:solidFill>
                  <a:srgbClr val="00C2D4"/>
                </a:solidFill>
                <a:latin typeface="Calibri"/>
                <a:ea typeface="Calibri"/>
                <a:cs typeface="Calibri"/>
                <a:sym typeface="Calibri"/>
              </a:rPr>
              <a:t>'australiavotes'</a:t>
            </a:r>
            <a:endParaRPr sz="850" b="0" i="0" u="none" strike="noStrike" cap="none">
              <a:solidFill>
                <a:schemeClr val="dk1"/>
              </a:solidFill>
              <a:latin typeface="Calibri"/>
              <a:ea typeface="Calibri"/>
              <a:cs typeface="Calibri"/>
              <a:sym typeface="Calibri"/>
            </a:endParaRPr>
          </a:p>
        </p:txBody>
      </p:sp>
      <p:sp>
        <p:nvSpPr>
          <p:cNvPr id="288" name="Google Shape;288;p11"/>
          <p:cNvSpPr/>
          <p:nvPr/>
        </p:nvSpPr>
        <p:spPr>
          <a:xfrm>
            <a:off x="4846320" y="2852928"/>
            <a:ext cx="1810512" cy="155448"/>
          </a:xfrm>
          <a:prstGeom prst="roundRect">
            <a:avLst>
              <a:gd name="adj" fmla="val 17647"/>
            </a:avLst>
          </a:prstGeom>
          <a:solidFill>
            <a:srgbClr val="0077A8">
              <a:alpha val="21960"/>
            </a:srgbClr>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1"/>
          <p:cNvSpPr/>
          <p:nvPr/>
        </p:nvSpPr>
        <p:spPr>
          <a:xfrm>
            <a:off x="4846320" y="2852928"/>
            <a:ext cx="1810512" cy="1554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2D4"/>
              </a:buClr>
              <a:buSzPts val="850"/>
              <a:buFont typeface="Calibri"/>
              <a:buNone/>
            </a:pPr>
            <a:r>
              <a:rPr lang="en-US" sz="850" b="0" i="0" u="none" strike="noStrike" cap="none">
                <a:solidFill>
                  <a:srgbClr val="00C2D4"/>
                </a:solidFill>
                <a:latin typeface="Calibri"/>
                <a:ea typeface="Calibri"/>
                <a:cs typeface="Calibri"/>
                <a:sym typeface="Calibri"/>
              </a:rPr>
              <a:t>'australiavotes2019'</a:t>
            </a:r>
            <a:endParaRPr sz="850" b="0" i="0" u="none" strike="noStrike" cap="none">
              <a:solidFill>
                <a:schemeClr val="dk1"/>
              </a:solidFill>
              <a:latin typeface="Calibri"/>
              <a:ea typeface="Calibri"/>
              <a:cs typeface="Calibri"/>
              <a:sym typeface="Calibri"/>
            </a:endParaRPr>
          </a:p>
        </p:txBody>
      </p:sp>
      <p:sp>
        <p:nvSpPr>
          <p:cNvPr id="290" name="Google Shape;290;p11"/>
          <p:cNvSpPr/>
          <p:nvPr/>
        </p:nvSpPr>
        <p:spPr>
          <a:xfrm>
            <a:off x="4846320" y="3035808"/>
            <a:ext cx="1810512" cy="155448"/>
          </a:xfrm>
          <a:prstGeom prst="roundRect">
            <a:avLst>
              <a:gd name="adj" fmla="val 17647"/>
            </a:avLst>
          </a:prstGeom>
          <a:solidFill>
            <a:srgbClr val="0077A8">
              <a:alpha val="21960"/>
            </a:srgbClr>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1"/>
          <p:cNvSpPr/>
          <p:nvPr/>
        </p:nvSpPr>
        <p:spPr>
          <a:xfrm>
            <a:off x="4846320" y="3035808"/>
            <a:ext cx="1810512" cy="1554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2D4"/>
              </a:buClr>
              <a:buSzPts val="850"/>
              <a:buFont typeface="Calibri"/>
              <a:buNone/>
            </a:pPr>
            <a:r>
              <a:rPr lang="en-US" sz="850" b="0" i="0" u="none" strike="noStrike" cap="none">
                <a:solidFill>
                  <a:srgbClr val="00C2D4"/>
                </a:solidFill>
                <a:latin typeface="Calibri"/>
                <a:ea typeface="Calibri"/>
                <a:cs typeface="Calibri"/>
                <a:sym typeface="Calibri"/>
              </a:rPr>
              <a:t>'7news'</a:t>
            </a:r>
            <a:endParaRPr sz="850" b="0" i="0" u="none" strike="noStrike" cap="none">
              <a:solidFill>
                <a:schemeClr val="dk1"/>
              </a:solidFill>
              <a:latin typeface="Calibri"/>
              <a:ea typeface="Calibri"/>
              <a:cs typeface="Calibri"/>
              <a:sym typeface="Calibri"/>
            </a:endParaRPr>
          </a:p>
        </p:txBody>
      </p:sp>
      <p:sp>
        <p:nvSpPr>
          <p:cNvPr id="292" name="Google Shape;292;p11"/>
          <p:cNvSpPr/>
          <p:nvPr/>
        </p:nvSpPr>
        <p:spPr>
          <a:xfrm>
            <a:off x="4846320" y="3218688"/>
            <a:ext cx="1810512" cy="155448"/>
          </a:xfrm>
          <a:prstGeom prst="roundRect">
            <a:avLst>
              <a:gd name="adj" fmla="val 17647"/>
            </a:avLst>
          </a:prstGeom>
          <a:solidFill>
            <a:srgbClr val="0077A8">
              <a:alpha val="21960"/>
            </a:srgbClr>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1"/>
          <p:cNvSpPr/>
          <p:nvPr/>
        </p:nvSpPr>
        <p:spPr>
          <a:xfrm>
            <a:off x="4846320" y="3218688"/>
            <a:ext cx="1810512" cy="1554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2D4"/>
              </a:buClr>
              <a:buSzPts val="850"/>
              <a:buFont typeface="Calibri"/>
              <a:buNone/>
            </a:pPr>
            <a:r>
              <a:rPr lang="en-US" sz="850" b="0" i="0" u="none" strike="noStrike" cap="none">
                <a:solidFill>
                  <a:srgbClr val="00C2D4"/>
                </a:solidFill>
                <a:latin typeface="Calibri"/>
                <a:ea typeface="Calibri"/>
                <a:cs typeface="Calibri"/>
                <a:sym typeface="Calibri"/>
              </a:rPr>
              <a:t>'election2019results'</a:t>
            </a:r>
            <a:endParaRPr sz="850" b="0" i="0" u="none" strike="noStrike" cap="none">
              <a:solidFill>
                <a:schemeClr val="dk1"/>
              </a:solidFill>
              <a:latin typeface="Calibri"/>
              <a:ea typeface="Calibri"/>
              <a:cs typeface="Calibri"/>
              <a:sym typeface="Calibri"/>
            </a:endParaRPr>
          </a:p>
        </p:txBody>
      </p:sp>
      <p:sp>
        <p:nvSpPr>
          <p:cNvPr id="294" name="Google Shape;294;p11"/>
          <p:cNvSpPr/>
          <p:nvPr/>
        </p:nvSpPr>
        <p:spPr>
          <a:xfrm>
            <a:off x="4846320" y="3401568"/>
            <a:ext cx="1810512" cy="155448"/>
          </a:xfrm>
          <a:prstGeom prst="roundRect">
            <a:avLst>
              <a:gd name="adj" fmla="val 17647"/>
            </a:avLst>
          </a:prstGeom>
          <a:solidFill>
            <a:srgbClr val="0077A8">
              <a:alpha val="21960"/>
            </a:srgbClr>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1"/>
          <p:cNvSpPr/>
          <p:nvPr/>
        </p:nvSpPr>
        <p:spPr>
          <a:xfrm>
            <a:off x="4846320" y="3401568"/>
            <a:ext cx="1810512" cy="1554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2D4"/>
              </a:buClr>
              <a:buSzPts val="850"/>
              <a:buFont typeface="Calibri"/>
              <a:buNone/>
            </a:pPr>
            <a:r>
              <a:rPr lang="en-US" sz="850" b="0" i="0" u="none" strike="noStrike" cap="none">
                <a:solidFill>
                  <a:srgbClr val="00C2D4"/>
                </a:solidFill>
                <a:latin typeface="Calibri"/>
                <a:ea typeface="Calibri"/>
                <a:cs typeface="Calibri"/>
                <a:sym typeface="Calibri"/>
              </a:rPr>
              <a:t>'election'</a:t>
            </a:r>
            <a:endParaRPr sz="850" b="0" i="0" u="none" strike="noStrike" cap="none">
              <a:solidFill>
                <a:schemeClr val="dk1"/>
              </a:solidFill>
              <a:latin typeface="Calibri"/>
              <a:ea typeface="Calibri"/>
              <a:cs typeface="Calibri"/>
              <a:sym typeface="Calibri"/>
            </a:endParaRPr>
          </a:p>
        </p:txBody>
      </p:sp>
      <p:sp>
        <p:nvSpPr>
          <p:cNvPr id="296" name="Google Shape;296;p11"/>
          <p:cNvSpPr/>
          <p:nvPr/>
        </p:nvSpPr>
        <p:spPr>
          <a:xfrm>
            <a:off x="4846320" y="3584448"/>
            <a:ext cx="1810512" cy="155448"/>
          </a:xfrm>
          <a:prstGeom prst="roundRect">
            <a:avLst>
              <a:gd name="adj" fmla="val 17647"/>
            </a:avLst>
          </a:prstGeom>
          <a:solidFill>
            <a:srgbClr val="0077A8">
              <a:alpha val="21960"/>
            </a:srgbClr>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1"/>
          <p:cNvSpPr/>
          <p:nvPr/>
        </p:nvSpPr>
        <p:spPr>
          <a:xfrm>
            <a:off x="4846320" y="3584448"/>
            <a:ext cx="1810512" cy="1554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2D4"/>
              </a:buClr>
              <a:buSzPts val="850"/>
              <a:buFont typeface="Calibri"/>
              <a:buNone/>
            </a:pPr>
            <a:r>
              <a:rPr lang="en-US" sz="850" b="0" i="0" u="none" strike="noStrike" cap="none">
                <a:solidFill>
                  <a:srgbClr val="00C2D4"/>
                </a:solidFill>
                <a:latin typeface="Calibri"/>
                <a:ea typeface="Calibri"/>
                <a:cs typeface="Calibri"/>
                <a:sym typeface="Calibri"/>
              </a:rPr>
              <a:t>'qldpol'</a:t>
            </a:r>
            <a:endParaRPr sz="850" b="0" i="0" u="none" strike="noStrike" cap="none">
              <a:solidFill>
                <a:schemeClr val="dk1"/>
              </a:solidFill>
              <a:latin typeface="Calibri"/>
              <a:ea typeface="Calibri"/>
              <a:cs typeface="Calibri"/>
              <a:sym typeface="Calibri"/>
            </a:endParaRPr>
          </a:p>
        </p:txBody>
      </p:sp>
      <p:sp>
        <p:nvSpPr>
          <p:cNvPr id="298" name="Google Shape;298;p11"/>
          <p:cNvSpPr/>
          <p:nvPr/>
        </p:nvSpPr>
        <p:spPr>
          <a:xfrm>
            <a:off x="6876288" y="1207008"/>
            <a:ext cx="1810512" cy="155448"/>
          </a:xfrm>
          <a:prstGeom prst="roundRect">
            <a:avLst>
              <a:gd name="adj" fmla="val 17647"/>
            </a:avLst>
          </a:prstGeom>
          <a:solidFill>
            <a:srgbClr val="0077A8">
              <a:alpha val="21960"/>
            </a:srgbClr>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1"/>
          <p:cNvSpPr/>
          <p:nvPr/>
        </p:nvSpPr>
        <p:spPr>
          <a:xfrm>
            <a:off x="6876288" y="1207008"/>
            <a:ext cx="1810512" cy="1554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2D4"/>
              </a:buClr>
              <a:buSzPts val="850"/>
              <a:buFont typeface="Calibri"/>
              <a:buNone/>
            </a:pPr>
            <a:r>
              <a:rPr lang="en-US" sz="850" b="0" i="0" u="none" strike="noStrike" cap="none">
                <a:solidFill>
                  <a:srgbClr val="00C2D4"/>
                </a:solidFill>
                <a:latin typeface="Calibri"/>
                <a:ea typeface="Calibri"/>
                <a:cs typeface="Calibri"/>
                <a:sym typeface="Calibri"/>
              </a:rPr>
              <a:t>'australia'</a:t>
            </a:r>
            <a:endParaRPr sz="850" b="0" i="0" u="none" strike="noStrike" cap="none">
              <a:solidFill>
                <a:schemeClr val="dk1"/>
              </a:solidFill>
              <a:latin typeface="Calibri"/>
              <a:ea typeface="Calibri"/>
              <a:cs typeface="Calibri"/>
              <a:sym typeface="Calibri"/>
            </a:endParaRPr>
          </a:p>
        </p:txBody>
      </p:sp>
      <p:sp>
        <p:nvSpPr>
          <p:cNvPr id="300" name="Google Shape;300;p11"/>
          <p:cNvSpPr/>
          <p:nvPr/>
        </p:nvSpPr>
        <p:spPr>
          <a:xfrm>
            <a:off x="6876288" y="1389888"/>
            <a:ext cx="1810512" cy="155448"/>
          </a:xfrm>
          <a:prstGeom prst="roundRect">
            <a:avLst>
              <a:gd name="adj" fmla="val 17647"/>
            </a:avLst>
          </a:prstGeom>
          <a:solidFill>
            <a:srgbClr val="0077A8">
              <a:alpha val="21960"/>
            </a:srgbClr>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1"/>
          <p:cNvSpPr/>
          <p:nvPr/>
        </p:nvSpPr>
        <p:spPr>
          <a:xfrm>
            <a:off x="6876288" y="1389888"/>
            <a:ext cx="1810512" cy="1554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2D4"/>
              </a:buClr>
              <a:buSzPts val="850"/>
              <a:buFont typeface="Calibri"/>
              <a:buNone/>
            </a:pPr>
            <a:r>
              <a:rPr lang="en-US" sz="850" b="0" i="0" u="none" strike="noStrike" cap="none">
                <a:solidFill>
                  <a:srgbClr val="00C2D4"/>
                </a:solidFill>
                <a:latin typeface="Calibri"/>
                <a:ea typeface="Calibri"/>
                <a:cs typeface="Calibri"/>
                <a:sym typeface="Calibri"/>
              </a:rPr>
              <a:t>'australian'</a:t>
            </a:r>
            <a:endParaRPr sz="850" b="0" i="0" u="none" strike="noStrike" cap="none">
              <a:solidFill>
                <a:schemeClr val="dk1"/>
              </a:solidFill>
              <a:latin typeface="Calibri"/>
              <a:ea typeface="Calibri"/>
              <a:cs typeface="Calibri"/>
              <a:sym typeface="Calibri"/>
            </a:endParaRPr>
          </a:p>
        </p:txBody>
      </p:sp>
      <p:sp>
        <p:nvSpPr>
          <p:cNvPr id="302" name="Google Shape;302;p11"/>
          <p:cNvSpPr/>
          <p:nvPr/>
        </p:nvSpPr>
        <p:spPr>
          <a:xfrm>
            <a:off x="6876288" y="1572768"/>
            <a:ext cx="1810512" cy="155448"/>
          </a:xfrm>
          <a:prstGeom prst="roundRect">
            <a:avLst>
              <a:gd name="adj" fmla="val 17647"/>
            </a:avLst>
          </a:prstGeom>
          <a:solidFill>
            <a:srgbClr val="0077A8">
              <a:alpha val="21960"/>
            </a:srgbClr>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1"/>
          <p:cNvSpPr/>
          <p:nvPr/>
        </p:nvSpPr>
        <p:spPr>
          <a:xfrm>
            <a:off x="6876288" y="1572768"/>
            <a:ext cx="1810512" cy="1554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2D4"/>
              </a:buClr>
              <a:buSzPts val="850"/>
              <a:buFont typeface="Calibri"/>
              <a:buNone/>
            </a:pPr>
            <a:r>
              <a:rPr lang="en-US" sz="850" b="0" i="0" u="none" strike="noStrike" cap="none">
                <a:solidFill>
                  <a:srgbClr val="00C2D4"/>
                </a:solidFill>
                <a:latin typeface="Calibri"/>
                <a:ea typeface="Calibri"/>
                <a:cs typeface="Calibri"/>
                <a:sym typeface="Calibri"/>
              </a:rPr>
              <a:t>'via'</a:t>
            </a:r>
            <a:endParaRPr sz="850" b="0" i="0" u="none" strike="noStrike" cap="none">
              <a:solidFill>
                <a:schemeClr val="dk1"/>
              </a:solidFill>
              <a:latin typeface="Calibri"/>
              <a:ea typeface="Calibri"/>
              <a:cs typeface="Calibri"/>
              <a:sym typeface="Calibri"/>
            </a:endParaRPr>
          </a:p>
        </p:txBody>
      </p:sp>
      <p:sp>
        <p:nvSpPr>
          <p:cNvPr id="304" name="Google Shape;304;p11"/>
          <p:cNvSpPr/>
          <p:nvPr/>
        </p:nvSpPr>
        <p:spPr>
          <a:xfrm>
            <a:off x="6876288" y="1755648"/>
            <a:ext cx="1810512" cy="155448"/>
          </a:xfrm>
          <a:prstGeom prst="roundRect">
            <a:avLst>
              <a:gd name="adj" fmla="val 17647"/>
            </a:avLst>
          </a:prstGeom>
          <a:solidFill>
            <a:srgbClr val="0077A8">
              <a:alpha val="21960"/>
            </a:srgbClr>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1"/>
          <p:cNvSpPr/>
          <p:nvPr/>
        </p:nvSpPr>
        <p:spPr>
          <a:xfrm>
            <a:off x="6876288" y="1755648"/>
            <a:ext cx="1810512" cy="1554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2D4"/>
              </a:buClr>
              <a:buSzPts val="850"/>
              <a:buFont typeface="Calibri"/>
              <a:buNone/>
            </a:pPr>
            <a:r>
              <a:rPr lang="en-US" sz="850" b="0" i="0" u="none" strike="noStrike" cap="none">
                <a:solidFill>
                  <a:srgbClr val="00C2D4"/>
                </a:solidFill>
                <a:latin typeface="Calibri"/>
                <a:ea typeface="Calibri"/>
                <a:cs typeface="Calibri"/>
                <a:sym typeface="Calibri"/>
              </a:rPr>
              <a:t>'u'</a:t>
            </a:r>
            <a:endParaRPr sz="850" b="0" i="0" u="none" strike="noStrike" cap="none">
              <a:solidFill>
                <a:schemeClr val="dk1"/>
              </a:solidFill>
              <a:latin typeface="Calibri"/>
              <a:ea typeface="Calibri"/>
              <a:cs typeface="Calibri"/>
              <a:sym typeface="Calibri"/>
            </a:endParaRPr>
          </a:p>
        </p:txBody>
      </p:sp>
      <p:sp>
        <p:nvSpPr>
          <p:cNvPr id="306" name="Google Shape;306;p11"/>
          <p:cNvSpPr/>
          <p:nvPr/>
        </p:nvSpPr>
        <p:spPr>
          <a:xfrm>
            <a:off x="6876288" y="1938528"/>
            <a:ext cx="1810512" cy="155448"/>
          </a:xfrm>
          <a:prstGeom prst="roundRect">
            <a:avLst>
              <a:gd name="adj" fmla="val 17647"/>
            </a:avLst>
          </a:prstGeom>
          <a:solidFill>
            <a:srgbClr val="0077A8">
              <a:alpha val="21960"/>
            </a:srgbClr>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1"/>
          <p:cNvSpPr/>
          <p:nvPr/>
        </p:nvSpPr>
        <p:spPr>
          <a:xfrm>
            <a:off x="6876288" y="1938528"/>
            <a:ext cx="1810512" cy="1554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2D4"/>
              </a:buClr>
              <a:buSzPts val="850"/>
              <a:buFont typeface="Calibri"/>
              <a:buNone/>
            </a:pPr>
            <a:r>
              <a:rPr lang="en-US" sz="850" b="0" i="0" u="none" strike="noStrike" cap="none">
                <a:solidFill>
                  <a:srgbClr val="00C2D4"/>
                </a:solidFill>
                <a:latin typeface="Calibri"/>
                <a:ea typeface="Calibri"/>
                <a:cs typeface="Calibri"/>
                <a:sym typeface="Calibri"/>
              </a:rPr>
              <a:t>'lnp'</a:t>
            </a:r>
            <a:endParaRPr sz="850" b="0" i="0" u="none" strike="noStrike" cap="none">
              <a:solidFill>
                <a:schemeClr val="dk1"/>
              </a:solidFill>
              <a:latin typeface="Calibri"/>
              <a:ea typeface="Calibri"/>
              <a:cs typeface="Calibri"/>
              <a:sym typeface="Calibri"/>
            </a:endParaRPr>
          </a:p>
        </p:txBody>
      </p:sp>
      <p:sp>
        <p:nvSpPr>
          <p:cNvPr id="308" name="Google Shape;308;p11"/>
          <p:cNvSpPr/>
          <p:nvPr/>
        </p:nvSpPr>
        <p:spPr>
          <a:xfrm>
            <a:off x="6876288" y="2121408"/>
            <a:ext cx="1810512" cy="155448"/>
          </a:xfrm>
          <a:prstGeom prst="roundRect">
            <a:avLst>
              <a:gd name="adj" fmla="val 17647"/>
            </a:avLst>
          </a:prstGeom>
          <a:solidFill>
            <a:srgbClr val="0077A8">
              <a:alpha val="21960"/>
            </a:srgbClr>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1"/>
          <p:cNvSpPr/>
          <p:nvPr/>
        </p:nvSpPr>
        <p:spPr>
          <a:xfrm>
            <a:off x="6876288" y="2121408"/>
            <a:ext cx="1810512" cy="1554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2D4"/>
              </a:buClr>
              <a:buSzPts val="850"/>
              <a:buFont typeface="Calibri"/>
              <a:buNone/>
            </a:pPr>
            <a:r>
              <a:rPr lang="en-US" sz="850" b="0" i="0" u="none" strike="noStrike" cap="none">
                <a:solidFill>
                  <a:srgbClr val="00C2D4"/>
                </a:solidFill>
                <a:latin typeface="Calibri"/>
                <a:ea typeface="Calibri"/>
                <a:cs typeface="Calibri"/>
                <a:sym typeface="Calibri"/>
              </a:rPr>
              <a:t>'would'</a:t>
            </a:r>
            <a:endParaRPr sz="850" b="0" i="0" u="none" strike="noStrike" cap="none">
              <a:solidFill>
                <a:schemeClr val="dk1"/>
              </a:solidFill>
              <a:latin typeface="Calibri"/>
              <a:ea typeface="Calibri"/>
              <a:cs typeface="Calibri"/>
              <a:sym typeface="Calibri"/>
            </a:endParaRPr>
          </a:p>
        </p:txBody>
      </p:sp>
      <p:sp>
        <p:nvSpPr>
          <p:cNvPr id="310" name="Google Shape;310;p11"/>
          <p:cNvSpPr/>
          <p:nvPr/>
        </p:nvSpPr>
        <p:spPr>
          <a:xfrm>
            <a:off x="6876288" y="2304288"/>
            <a:ext cx="1810512" cy="155448"/>
          </a:xfrm>
          <a:prstGeom prst="roundRect">
            <a:avLst>
              <a:gd name="adj" fmla="val 17647"/>
            </a:avLst>
          </a:prstGeom>
          <a:solidFill>
            <a:srgbClr val="0077A8">
              <a:alpha val="21960"/>
            </a:srgbClr>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1"/>
          <p:cNvSpPr/>
          <p:nvPr/>
        </p:nvSpPr>
        <p:spPr>
          <a:xfrm>
            <a:off x="6876288" y="2304288"/>
            <a:ext cx="1810512" cy="1554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2D4"/>
              </a:buClr>
              <a:buSzPts val="850"/>
              <a:buFont typeface="Calibri"/>
              <a:buNone/>
            </a:pPr>
            <a:r>
              <a:rPr lang="en-US" sz="850" b="0" i="0" u="none" strike="noStrike" cap="none">
                <a:solidFill>
                  <a:srgbClr val="00C2D4"/>
                </a:solidFill>
                <a:latin typeface="Calibri"/>
                <a:ea typeface="Calibri"/>
                <a:cs typeface="Calibri"/>
                <a:sym typeface="Calibri"/>
              </a:rPr>
              <a:t>'tony'</a:t>
            </a:r>
            <a:endParaRPr sz="850" b="0" i="0" u="none" strike="noStrike" cap="none">
              <a:solidFill>
                <a:schemeClr val="dk1"/>
              </a:solidFill>
              <a:latin typeface="Calibri"/>
              <a:ea typeface="Calibri"/>
              <a:cs typeface="Calibri"/>
              <a:sym typeface="Calibri"/>
            </a:endParaRPr>
          </a:p>
        </p:txBody>
      </p:sp>
      <p:sp>
        <p:nvSpPr>
          <p:cNvPr id="312" name="Google Shape;312;p11"/>
          <p:cNvSpPr/>
          <p:nvPr/>
        </p:nvSpPr>
        <p:spPr>
          <a:xfrm>
            <a:off x="6876288" y="2487168"/>
            <a:ext cx="1810512" cy="155448"/>
          </a:xfrm>
          <a:prstGeom prst="roundRect">
            <a:avLst>
              <a:gd name="adj" fmla="val 17647"/>
            </a:avLst>
          </a:prstGeom>
          <a:solidFill>
            <a:srgbClr val="0077A8">
              <a:alpha val="21960"/>
            </a:srgbClr>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1"/>
          <p:cNvSpPr/>
          <p:nvPr/>
        </p:nvSpPr>
        <p:spPr>
          <a:xfrm>
            <a:off x="6876288" y="2487168"/>
            <a:ext cx="1810512" cy="1554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2D4"/>
              </a:buClr>
              <a:buSzPts val="850"/>
              <a:buFont typeface="Calibri"/>
              <a:buNone/>
            </a:pPr>
            <a:r>
              <a:rPr lang="en-US" sz="850" b="0" i="0" u="none" strike="noStrike" cap="none">
                <a:solidFill>
                  <a:srgbClr val="00C2D4"/>
                </a:solidFill>
                <a:latin typeface="Calibri"/>
                <a:ea typeface="Calibri"/>
                <a:cs typeface="Calibri"/>
                <a:sym typeface="Calibri"/>
              </a:rPr>
              <a:t>'clive'</a:t>
            </a:r>
            <a:endParaRPr sz="850" b="0" i="0" u="none" strike="noStrike" cap="none">
              <a:solidFill>
                <a:schemeClr val="dk1"/>
              </a:solidFill>
              <a:latin typeface="Calibri"/>
              <a:ea typeface="Calibri"/>
              <a:cs typeface="Calibri"/>
              <a:sym typeface="Calibri"/>
            </a:endParaRPr>
          </a:p>
        </p:txBody>
      </p:sp>
      <p:sp>
        <p:nvSpPr>
          <p:cNvPr id="314" name="Google Shape;314;p11"/>
          <p:cNvSpPr/>
          <p:nvPr/>
        </p:nvSpPr>
        <p:spPr>
          <a:xfrm>
            <a:off x="6876288" y="2670048"/>
            <a:ext cx="1810512" cy="155448"/>
          </a:xfrm>
          <a:prstGeom prst="roundRect">
            <a:avLst>
              <a:gd name="adj" fmla="val 17647"/>
            </a:avLst>
          </a:prstGeom>
          <a:solidFill>
            <a:srgbClr val="0077A8">
              <a:alpha val="21960"/>
            </a:srgbClr>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1"/>
          <p:cNvSpPr/>
          <p:nvPr/>
        </p:nvSpPr>
        <p:spPr>
          <a:xfrm>
            <a:off x="6876288" y="2670048"/>
            <a:ext cx="1810512" cy="1554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2D4"/>
              </a:buClr>
              <a:buSzPts val="850"/>
              <a:buFont typeface="Calibri"/>
              <a:buNone/>
            </a:pPr>
            <a:r>
              <a:rPr lang="en-US" sz="850" b="0" i="0" u="none" strike="noStrike" cap="none">
                <a:solidFill>
                  <a:srgbClr val="00C2D4"/>
                </a:solidFill>
                <a:latin typeface="Calibri"/>
                <a:ea typeface="Calibri"/>
                <a:cs typeface="Calibri"/>
                <a:sym typeface="Calibri"/>
              </a:rPr>
              <a:t>'2019'</a:t>
            </a:r>
            <a:endParaRPr sz="850" b="0" i="0" u="none" strike="noStrike" cap="none">
              <a:solidFill>
                <a:schemeClr val="dk1"/>
              </a:solidFill>
              <a:latin typeface="Calibri"/>
              <a:ea typeface="Calibri"/>
              <a:cs typeface="Calibri"/>
              <a:sym typeface="Calibri"/>
            </a:endParaRPr>
          </a:p>
        </p:txBody>
      </p:sp>
      <p:sp>
        <p:nvSpPr>
          <p:cNvPr id="316" name="Google Shape;316;p11"/>
          <p:cNvSpPr/>
          <p:nvPr/>
        </p:nvSpPr>
        <p:spPr>
          <a:xfrm>
            <a:off x="6876288" y="2852928"/>
            <a:ext cx="1810512" cy="155448"/>
          </a:xfrm>
          <a:prstGeom prst="roundRect">
            <a:avLst>
              <a:gd name="adj" fmla="val 17647"/>
            </a:avLst>
          </a:prstGeom>
          <a:solidFill>
            <a:srgbClr val="0077A8">
              <a:alpha val="21960"/>
            </a:srgbClr>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1"/>
          <p:cNvSpPr/>
          <p:nvPr/>
        </p:nvSpPr>
        <p:spPr>
          <a:xfrm>
            <a:off x="6876288" y="2852928"/>
            <a:ext cx="1810512" cy="1554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2D4"/>
              </a:buClr>
              <a:buSzPts val="850"/>
              <a:buFont typeface="Calibri"/>
              <a:buNone/>
            </a:pPr>
            <a:r>
              <a:rPr lang="en-US" sz="850" b="0" i="0" u="none" strike="noStrike" cap="none">
                <a:solidFill>
                  <a:srgbClr val="00C2D4"/>
                </a:solidFill>
                <a:latin typeface="Calibri"/>
                <a:ea typeface="Calibri"/>
                <a:cs typeface="Calibri"/>
                <a:sym typeface="Calibri"/>
              </a:rPr>
              <a:t>'auspol19'</a:t>
            </a:r>
            <a:endParaRPr sz="850" b="0" i="0" u="none" strike="noStrike" cap="none">
              <a:solidFill>
                <a:schemeClr val="dk1"/>
              </a:solidFill>
              <a:latin typeface="Calibri"/>
              <a:ea typeface="Calibri"/>
              <a:cs typeface="Calibri"/>
              <a:sym typeface="Calibri"/>
            </a:endParaRPr>
          </a:p>
        </p:txBody>
      </p:sp>
      <p:sp>
        <p:nvSpPr>
          <p:cNvPr id="318" name="Google Shape;318;p11"/>
          <p:cNvSpPr/>
          <p:nvPr/>
        </p:nvSpPr>
        <p:spPr>
          <a:xfrm>
            <a:off x="6876288" y="3035808"/>
            <a:ext cx="1810512" cy="155448"/>
          </a:xfrm>
          <a:prstGeom prst="roundRect">
            <a:avLst>
              <a:gd name="adj" fmla="val 17647"/>
            </a:avLst>
          </a:prstGeom>
          <a:solidFill>
            <a:srgbClr val="0077A8">
              <a:alpha val="21960"/>
            </a:srgbClr>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1"/>
          <p:cNvSpPr/>
          <p:nvPr/>
        </p:nvSpPr>
        <p:spPr>
          <a:xfrm>
            <a:off x="6876288" y="3035808"/>
            <a:ext cx="1810512" cy="1554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2D4"/>
              </a:buClr>
              <a:buSzPts val="850"/>
              <a:buFont typeface="Calibri"/>
              <a:buNone/>
            </a:pPr>
            <a:r>
              <a:rPr lang="en-US" sz="850" b="0" i="0" u="none" strike="noStrike" cap="none">
                <a:solidFill>
                  <a:srgbClr val="00C2D4"/>
                </a:solidFill>
                <a:latin typeface="Calibri"/>
                <a:ea typeface="Calibri"/>
                <a:cs typeface="Calibri"/>
                <a:sym typeface="Calibri"/>
              </a:rPr>
              <a:t>'election2019'</a:t>
            </a:r>
            <a:endParaRPr sz="850" b="0" i="0" u="none" strike="noStrike" cap="none">
              <a:solidFill>
                <a:schemeClr val="dk1"/>
              </a:solidFill>
              <a:latin typeface="Calibri"/>
              <a:ea typeface="Calibri"/>
              <a:cs typeface="Calibri"/>
              <a:sym typeface="Calibri"/>
            </a:endParaRPr>
          </a:p>
        </p:txBody>
      </p:sp>
      <p:sp>
        <p:nvSpPr>
          <p:cNvPr id="320" name="Google Shape;320;p11"/>
          <p:cNvSpPr/>
          <p:nvPr/>
        </p:nvSpPr>
        <p:spPr>
          <a:xfrm>
            <a:off x="6876288" y="3218688"/>
            <a:ext cx="1810512" cy="155448"/>
          </a:xfrm>
          <a:prstGeom prst="roundRect">
            <a:avLst>
              <a:gd name="adj" fmla="val 17647"/>
            </a:avLst>
          </a:prstGeom>
          <a:solidFill>
            <a:srgbClr val="0077A8">
              <a:alpha val="21960"/>
            </a:srgbClr>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1"/>
          <p:cNvSpPr/>
          <p:nvPr/>
        </p:nvSpPr>
        <p:spPr>
          <a:xfrm>
            <a:off x="6876288" y="3218688"/>
            <a:ext cx="1810512" cy="1554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2D4"/>
              </a:buClr>
              <a:buSzPts val="850"/>
              <a:buFont typeface="Calibri"/>
              <a:buNone/>
            </a:pPr>
            <a:r>
              <a:rPr lang="en-US" sz="850" b="0" i="0" u="none" strike="noStrike" cap="none">
                <a:solidFill>
                  <a:srgbClr val="00C2D4"/>
                </a:solidFill>
                <a:latin typeface="Calibri"/>
                <a:ea typeface="Calibri"/>
                <a:cs typeface="Calibri"/>
                <a:sym typeface="Calibri"/>
              </a:rPr>
              <a:t>'australiadecides'</a:t>
            </a:r>
            <a:endParaRPr sz="850" b="0" i="0" u="none" strike="noStrike" cap="none">
              <a:solidFill>
                <a:schemeClr val="dk1"/>
              </a:solidFill>
              <a:latin typeface="Calibri"/>
              <a:ea typeface="Calibri"/>
              <a:cs typeface="Calibri"/>
              <a:sym typeface="Calibri"/>
            </a:endParaRPr>
          </a:p>
        </p:txBody>
      </p:sp>
      <p:sp>
        <p:nvSpPr>
          <p:cNvPr id="322" name="Google Shape;322;p11"/>
          <p:cNvSpPr/>
          <p:nvPr/>
        </p:nvSpPr>
        <p:spPr>
          <a:xfrm>
            <a:off x="6876288" y="3401568"/>
            <a:ext cx="1810512" cy="155448"/>
          </a:xfrm>
          <a:prstGeom prst="roundRect">
            <a:avLst>
              <a:gd name="adj" fmla="val 17647"/>
            </a:avLst>
          </a:prstGeom>
          <a:solidFill>
            <a:srgbClr val="0077A8">
              <a:alpha val="21960"/>
            </a:srgbClr>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1"/>
          <p:cNvSpPr/>
          <p:nvPr/>
        </p:nvSpPr>
        <p:spPr>
          <a:xfrm>
            <a:off x="6876288" y="3401568"/>
            <a:ext cx="1810512" cy="1554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00C2D4"/>
              </a:buClr>
              <a:buSzPts val="850"/>
              <a:buFont typeface="Calibri"/>
              <a:buNone/>
            </a:pPr>
            <a:r>
              <a:rPr lang="en-US" sz="850" b="0" i="0" u="none" strike="noStrike" cap="none">
                <a:solidFill>
                  <a:srgbClr val="00C2D4"/>
                </a:solidFill>
                <a:latin typeface="Calibri"/>
                <a:ea typeface="Calibri"/>
                <a:cs typeface="Calibri"/>
                <a:sym typeface="Calibri"/>
              </a:rPr>
              <a:t>'rt'</a:t>
            </a:r>
            <a:endParaRPr sz="850" b="0" i="0" u="none" strike="noStrike" cap="none">
              <a:solidFill>
                <a:schemeClr val="dk1"/>
              </a:solidFill>
              <a:latin typeface="Calibri"/>
              <a:ea typeface="Calibri"/>
              <a:cs typeface="Calibri"/>
              <a:sym typeface="Calibri"/>
            </a:endParaRPr>
          </a:p>
        </p:txBody>
      </p:sp>
      <p:sp>
        <p:nvSpPr>
          <p:cNvPr id="324" name="Google Shape;324;p11"/>
          <p:cNvSpPr/>
          <p:nvPr/>
        </p:nvSpPr>
        <p:spPr>
          <a:xfrm>
            <a:off x="4709160" y="2898648"/>
            <a:ext cx="4160520" cy="2103120"/>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1"/>
          <p:cNvSpPr/>
          <p:nvPr/>
        </p:nvSpPr>
        <p:spPr>
          <a:xfrm>
            <a:off x="4846320" y="2971800"/>
            <a:ext cx="384048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A623"/>
              </a:buClr>
              <a:buSzPts val="1200"/>
              <a:buFont typeface="Calibri"/>
              <a:buNone/>
            </a:pPr>
            <a:r>
              <a:rPr lang="en-US" sz="1200" b="1" i="0" u="none" strike="noStrike" cap="none">
                <a:solidFill>
                  <a:srgbClr val="F5A623"/>
                </a:solidFill>
                <a:latin typeface="Calibri"/>
                <a:ea typeface="Calibri"/>
                <a:cs typeface="Calibri"/>
                <a:sym typeface="Calibri"/>
              </a:rPr>
              <a:t>Special Character Filters</a:t>
            </a:r>
            <a:endParaRPr sz="1200" b="0" i="0" u="none" strike="noStrike" cap="none">
              <a:solidFill>
                <a:schemeClr val="dk1"/>
              </a:solidFill>
              <a:latin typeface="Calibri"/>
              <a:ea typeface="Calibri"/>
              <a:cs typeface="Calibri"/>
              <a:sym typeface="Calibri"/>
            </a:endParaRPr>
          </a:p>
        </p:txBody>
      </p:sp>
      <p:sp>
        <p:nvSpPr>
          <p:cNvPr id="326" name="Google Shape;326;p11"/>
          <p:cNvSpPr/>
          <p:nvPr/>
        </p:nvSpPr>
        <p:spPr>
          <a:xfrm>
            <a:off x="4846320" y="3346704"/>
            <a:ext cx="3840480" cy="146304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C8E0EF"/>
              </a:buClr>
              <a:buSzPts val="1050"/>
              <a:buFont typeface="Calibri"/>
              <a:buChar char="•"/>
            </a:pPr>
            <a:r>
              <a:rPr lang="en-US" sz="1050" b="0" i="0" u="none" strike="noStrike" cap="none">
                <a:solidFill>
                  <a:srgbClr val="C8E0EF"/>
                </a:solidFill>
                <a:latin typeface="Calibri"/>
                <a:ea typeface="Calibri"/>
                <a:cs typeface="Calibri"/>
                <a:sym typeface="Calibri"/>
              </a:rPr>
              <a:t>word[0] == '@'  →  Remove Twitter mentions</a:t>
            </a:r>
            <a:endParaRPr sz="105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C8E0EF"/>
              </a:buClr>
              <a:buSzPts val="1050"/>
              <a:buFont typeface="Calibri"/>
              <a:buChar char="•"/>
            </a:pPr>
            <a:r>
              <a:rPr lang="en-US" sz="1050" b="0" i="0" u="none" strike="noStrike" cap="none">
                <a:solidFill>
                  <a:srgbClr val="C8E0EF"/>
                </a:solidFill>
                <a:latin typeface="Calibri"/>
                <a:ea typeface="Calibri"/>
                <a:cs typeface="Calibri"/>
                <a:sym typeface="Calibri"/>
              </a:rPr>
              <a:t>word[:4] == 'http'  →  Remove URLs / links</a:t>
            </a:r>
            <a:endParaRPr sz="105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C8E0EF"/>
              </a:buClr>
              <a:buSzPts val="1050"/>
              <a:buFont typeface="Calibri"/>
              <a:buChar char="•"/>
            </a:pPr>
            <a:r>
              <a:rPr lang="en-US" sz="1050" b="0" i="0" u="none" strike="noStrike" cap="none">
                <a:solidFill>
                  <a:srgbClr val="C8E0EF"/>
                </a:solidFill>
                <a:latin typeface="Calibri"/>
                <a:ea typeface="Calibri"/>
                <a:cs typeface="Calibri"/>
                <a:sym typeface="Calibri"/>
              </a:rPr>
              <a:t>Encoding artifacts (e.g. ð, â characters) removed</a:t>
            </a:r>
            <a:endParaRPr sz="105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C8E0EF"/>
              </a:buClr>
              <a:buSzPts val="1050"/>
              <a:buFont typeface="Calibri"/>
              <a:buChar char="•"/>
            </a:pPr>
            <a:r>
              <a:rPr lang="en-US" sz="1050" b="0" i="0" u="none" strike="noStrike" cap="none">
                <a:solidFill>
                  <a:srgbClr val="C8E0EF"/>
                </a:solidFill>
                <a:latin typeface="Calibri"/>
                <a:ea typeface="Calibri"/>
                <a:cs typeface="Calibri"/>
                <a:sym typeface="Calibri"/>
              </a:rPr>
              <a:t>Result: df['clean_text'] — ready for all NLP tasks</a:t>
            </a:r>
            <a:endParaRPr sz="105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331"/>
        <p:cNvGrpSpPr/>
        <p:nvPr/>
      </p:nvGrpSpPr>
      <p:grpSpPr>
        <a:xfrm>
          <a:off x="0" y="0"/>
          <a:ext cx="0" cy="0"/>
          <a:chOff x="0" y="0"/>
          <a:chExt cx="0" cy="0"/>
        </a:xfrm>
      </p:grpSpPr>
      <p:sp>
        <p:nvSpPr>
          <p:cNvPr id="332" name="Google Shape;332;p12"/>
          <p:cNvSpPr/>
          <p:nvPr/>
        </p:nvSpPr>
        <p:spPr>
          <a:xfrm>
            <a:off x="5943600" y="-731520"/>
            <a:ext cx="4572000" cy="4572000"/>
          </a:xfrm>
          <a:prstGeom prst="ellipse">
            <a:avLst/>
          </a:prstGeom>
          <a:solidFill>
            <a:srgbClr val="F5A623">
              <a:alpha val="12156"/>
            </a:srgbClr>
          </a:solidFill>
          <a:ln w="12700" cap="flat" cmpd="sng">
            <a:solidFill>
              <a:srgbClr val="F5A623">
                <a:alpha val="12156"/>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2"/>
          <p:cNvSpPr/>
          <p:nvPr/>
        </p:nvSpPr>
        <p:spPr>
          <a:xfrm>
            <a:off x="-914400" y="1828800"/>
            <a:ext cx="3200400" cy="3200400"/>
          </a:xfrm>
          <a:prstGeom prst="ellipse">
            <a:avLst/>
          </a:prstGeom>
          <a:solidFill>
            <a:srgbClr val="00C2D4">
              <a:alpha val="7843"/>
            </a:srgbClr>
          </a:solidFill>
          <a:ln w="12700" cap="flat" cmpd="sng">
            <a:solidFill>
              <a:srgbClr val="00C2D4">
                <a:alpha val="784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2"/>
          <p:cNvSpPr/>
          <p:nvPr/>
        </p:nvSpPr>
        <p:spPr>
          <a:xfrm>
            <a:off x="548640" y="1645920"/>
            <a:ext cx="91440" cy="1828800"/>
          </a:xfrm>
          <a:prstGeom prst="rect">
            <a:avLst/>
          </a:prstGeom>
          <a:solidFill>
            <a:srgbClr val="F5A623"/>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2"/>
          <p:cNvSpPr/>
          <p:nvPr/>
        </p:nvSpPr>
        <p:spPr>
          <a:xfrm>
            <a:off x="777240" y="1554480"/>
            <a:ext cx="2743200" cy="5029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A623"/>
              </a:buClr>
              <a:buSzPts val="1300"/>
              <a:buFont typeface="Calibri"/>
              <a:buNone/>
            </a:pPr>
            <a:r>
              <a:rPr lang="en-US" sz="1300" b="1" i="0" u="none" strike="noStrike" cap="none">
                <a:solidFill>
                  <a:srgbClr val="F5A623"/>
                </a:solidFill>
                <a:latin typeface="Calibri"/>
                <a:ea typeface="Calibri"/>
                <a:cs typeface="Calibri"/>
                <a:sym typeface="Calibri"/>
              </a:rPr>
              <a:t>SECTION 02</a:t>
            </a:r>
            <a:endParaRPr sz="1300" b="0" i="0" u="none" strike="noStrike" cap="none">
              <a:solidFill>
                <a:schemeClr val="dk1"/>
              </a:solidFill>
              <a:latin typeface="Calibri"/>
              <a:ea typeface="Calibri"/>
              <a:cs typeface="Calibri"/>
              <a:sym typeface="Calibri"/>
            </a:endParaRPr>
          </a:p>
        </p:txBody>
      </p:sp>
      <p:sp>
        <p:nvSpPr>
          <p:cNvPr id="336" name="Google Shape;336;p12"/>
          <p:cNvSpPr/>
          <p:nvPr/>
        </p:nvSpPr>
        <p:spPr>
          <a:xfrm>
            <a:off x="777240" y="2011680"/>
            <a:ext cx="6858000" cy="10972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4000"/>
              <a:buFont typeface="Calibri"/>
              <a:buNone/>
            </a:pPr>
            <a:r>
              <a:rPr lang="en-US" sz="4000" b="1" i="0" u="none" strike="noStrike" cap="none">
                <a:solidFill>
                  <a:srgbClr val="FFFFFF"/>
                </a:solidFill>
                <a:latin typeface="Calibri"/>
                <a:ea typeface="Calibri"/>
                <a:cs typeface="Calibri"/>
                <a:sym typeface="Calibri"/>
              </a:rPr>
              <a:t>FEATURE GENERATION</a:t>
            </a:r>
            <a:endParaRPr sz="40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341"/>
        <p:cNvGrpSpPr/>
        <p:nvPr/>
      </p:nvGrpSpPr>
      <p:grpSpPr>
        <a:xfrm>
          <a:off x="0" y="0"/>
          <a:ext cx="0" cy="0"/>
          <a:chOff x="0" y="0"/>
          <a:chExt cx="0" cy="0"/>
        </a:xfrm>
      </p:grpSpPr>
      <p:sp>
        <p:nvSpPr>
          <p:cNvPr id="342" name="Google Shape;342;p13"/>
          <p:cNvSpPr/>
          <p:nvPr/>
        </p:nvSpPr>
        <p:spPr>
          <a:xfrm>
            <a:off x="0" y="0"/>
            <a:ext cx="9144000" cy="621792"/>
          </a:xfrm>
          <a:prstGeom prst="rect">
            <a:avLst/>
          </a:prstGeom>
          <a:solidFill>
            <a:srgbClr val="112236"/>
          </a:solidFill>
          <a:ln w="12700" cap="flat" cmpd="sng">
            <a:solidFill>
              <a:srgbClr val="1122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3"/>
          <p:cNvSpPr/>
          <p:nvPr/>
        </p:nvSpPr>
        <p:spPr>
          <a:xfrm>
            <a:off x="0" y="0"/>
            <a:ext cx="128016" cy="621792"/>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3"/>
          <p:cNvSpPr/>
          <p:nvPr/>
        </p:nvSpPr>
        <p:spPr>
          <a:xfrm>
            <a:off x="219456" y="0"/>
            <a:ext cx="640080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02  FEATURE GENERATION — Sentiment &amp; Emotion Features</a:t>
            </a:r>
            <a:endParaRPr sz="2000" b="0" i="0" u="none" strike="noStrike" cap="none">
              <a:solidFill>
                <a:schemeClr val="dk1"/>
              </a:solidFill>
              <a:latin typeface="Calibri"/>
              <a:ea typeface="Calibri"/>
              <a:cs typeface="Calibri"/>
              <a:sym typeface="Calibri"/>
            </a:endParaRPr>
          </a:p>
        </p:txBody>
      </p:sp>
      <p:sp>
        <p:nvSpPr>
          <p:cNvPr id="345" name="Google Shape;345;p13"/>
          <p:cNvSpPr/>
          <p:nvPr/>
        </p:nvSpPr>
        <p:spPr>
          <a:xfrm>
            <a:off x="6675120" y="137160"/>
            <a:ext cx="2286000" cy="34747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90AA"/>
              </a:buClr>
              <a:buSzPts val="1000"/>
              <a:buFont typeface="Calibri"/>
              <a:buNone/>
            </a:pPr>
            <a:r>
              <a:rPr lang="en-US" sz="1000" b="0" i="0" u="none" strike="noStrike" cap="none">
                <a:solidFill>
                  <a:srgbClr val="6B90AA"/>
                </a:solidFill>
                <a:latin typeface="Calibri"/>
                <a:ea typeface="Calibri"/>
                <a:cs typeface="Calibri"/>
                <a:sym typeface="Calibri"/>
              </a:rPr>
              <a:t>MANDATORY</a:t>
            </a:r>
            <a:endParaRPr sz="1000" b="0" i="0" u="none" strike="noStrike" cap="none">
              <a:solidFill>
                <a:schemeClr val="dk1"/>
              </a:solidFill>
              <a:latin typeface="Calibri"/>
              <a:ea typeface="Calibri"/>
              <a:cs typeface="Calibri"/>
              <a:sym typeface="Calibri"/>
            </a:endParaRPr>
          </a:p>
        </p:txBody>
      </p:sp>
      <p:sp>
        <p:nvSpPr>
          <p:cNvPr id="346" name="Google Shape;346;p13"/>
          <p:cNvSpPr/>
          <p:nvPr/>
        </p:nvSpPr>
        <p:spPr>
          <a:xfrm>
            <a:off x="7882128" y="91440"/>
            <a:ext cx="1170432" cy="274320"/>
          </a:xfrm>
          <a:prstGeom prst="roundRect">
            <a:avLst>
              <a:gd name="adj" fmla="val 13333"/>
            </a:avLst>
          </a:prstGeom>
          <a:solidFill>
            <a:srgbClr val="B83232"/>
          </a:solidFill>
          <a:ln w="12700" cap="flat" cmpd="sng">
            <a:solidFill>
              <a:srgbClr val="B832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3"/>
          <p:cNvSpPr/>
          <p:nvPr/>
        </p:nvSpPr>
        <p:spPr>
          <a:xfrm>
            <a:off x="7882128" y="91440"/>
            <a:ext cx="1170432"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en-US" sz="800" b="1" i="0" u="none" strike="noStrike" cap="none">
                <a:solidFill>
                  <a:srgbClr val="FFFFFF"/>
                </a:solidFill>
                <a:latin typeface="Calibri"/>
                <a:ea typeface="Calibri"/>
                <a:cs typeface="Calibri"/>
                <a:sym typeface="Calibri"/>
              </a:rPr>
              <a:t>MANDATORY</a:t>
            </a:r>
            <a:endParaRPr sz="800" b="0" i="0" u="none" strike="noStrike" cap="none">
              <a:solidFill>
                <a:schemeClr val="dk1"/>
              </a:solidFill>
              <a:latin typeface="Calibri"/>
              <a:ea typeface="Calibri"/>
              <a:cs typeface="Calibri"/>
              <a:sym typeface="Calibri"/>
            </a:endParaRPr>
          </a:p>
        </p:txBody>
      </p:sp>
      <p:sp>
        <p:nvSpPr>
          <p:cNvPr id="348" name="Google Shape;348;p13"/>
          <p:cNvSpPr/>
          <p:nvPr/>
        </p:nvSpPr>
        <p:spPr>
          <a:xfrm>
            <a:off x="256032" y="749808"/>
            <a:ext cx="4251960" cy="1920240"/>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3"/>
          <p:cNvSpPr/>
          <p:nvPr/>
        </p:nvSpPr>
        <p:spPr>
          <a:xfrm>
            <a:off x="256032" y="749808"/>
            <a:ext cx="4251960" cy="50292"/>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3"/>
          <p:cNvSpPr/>
          <p:nvPr/>
        </p:nvSpPr>
        <p:spPr>
          <a:xfrm>
            <a:off x="402336" y="859536"/>
            <a:ext cx="393192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2.1  TextBlob Sentiment</a:t>
            </a:r>
            <a:endParaRPr sz="1200" b="0" i="0" u="none" strike="noStrike" cap="none">
              <a:solidFill>
                <a:schemeClr val="dk1"/>
              </a:solidFill>
              <a:latin typeface="Calibri"/>
              <a:ea typeface="Calibri"/>
              <a:cs typeface="Calibri"/>
              <a:sym typeface="Calibri"/>
            </a:endParaRPr>
          </a:p>
        </p:txBody>
      </p:sp>
      <p:sp>
        <p:nvSpPr>
          <p:cNvPr id="351" name="Google Shape;351;p13"/>
          <p:cNvSpPr/>
          <p:nvPr/>
        </p:nvSpPr>
        <p:spPr>
          <a:xfrm>
            <a:off x="402336" y="1261872"/>
            <a:ext cx="3931920" cy="1261872"/>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C8E0EF"/>
              </a:buClr>
              <a:buSzPts val="1050"/>
              <a:buFont typeface="Calibri"/>
              <a:buChar char="•"/>
            </a:pPr>
            <a:r>
              <a:rPr lang="en-US" sz="1050" b="0" i="0" u="none" strike="noStrike" cap="none" dirty="0">
                <a:solidFill>
                  <a:srgbClr val="C8E0EF"/>
                </a:solidFill>
                <a:latin typeface="Calibri"/>
                <a:ea typeface="Calibri"/>
                <a:cs typeface="Calibri"/>
                <a:sym typeface="Calibri"/>
              </a:rPr>
              <a:t>Polarity: –1.0 (negative) → +1.0 (positive)</a:t>
            </a:r>
            <a:endParaRPr sz="1050" b="0" i="0" u="none" strike="noStrike" cap="none" dirty="0">
              <a:solidFill>
                <a:schemeClr val="dk1"/>
              </a:solidFill>
              <a:latin typeface="Calibri"/>
              <a:ea typeface="Calibri"/>
              <a:cs typeface="Calibri"/>
              <a:sym typeface="Calibri"/>
            </a:endParaRPr>
          </a:p>
          <a:p>
            <a:pPr marL="342900" marR="0" lvl="0" indent="-342900" algn="l" rtl="0">
              <a:spcBef>
                <a:spcPts val="0"/>
              </a:spcBef>
              <a:spcAft>
                <a:spcPts val="0"/>
              </a:spcAft>
              <a:buClr>
                <a:srgbClr val="C8E0EF"/>
              </a:buClr>
              <a:buSzPts val="1050"/>
              <a:buFont typeface="Calibri"/>
              <a:buChar char="•"/>
            </a:pPr>
            <a:r>
              <a:rPr lang="en-US" sz="1050" b="0" i="0" u="none" strike="noStrike" cap="none" dirty="0">
                <a:solidFill>
                  <a:srgbClr val="C8E0EF"/>
                </a:solidFill>
                <a:latin typeface="Calibri"/>
                <a:ea typeface="Calibri"/>
                <a:cs typeface="Calibri"/>
                <a:sym typeface="Calibri"/>
              </a:rPr>
              <a:t>Subjectivity: 0.0 (objective) → 1.0 (subjective)</a:t>
            </a:r>
            <a:endParaRPr sz="1050" b="0" i="0" u="none" strike="noStrike" cap="none" dirty="0">
              <a:solidFill>
                <a:schemeClr val="dk1"/>
              </a:solidFill>
              <a:latin typeface="Calibri"/>
              <a:ea typeface="Calibri"/>
              <a:cs typeface="Calibri"/>
              <a:sym typeface="Calibri"/>
            </a:endParaRPr>
          </a:p>
          <a:p>
            <a:pPr marL="342900" marR="0" lvl="0" indent="-342900" algn="l" rtl="0">
              <a:spcBef>
                <a:spcPts val="0"/>
              </a:spcBef>
              <a:spcAft>
                <a:spcPts val="0"/>
              </a:spcAft>
              <a:buClr>
                <a:srgbClr val="C8E0EF"/>
              </a:buClr>
              <a:buSzPts val="1050"/>
              <a:buFont typeface="Calibri"/>
              <a:buChar char="•"/>
            </a:pPr>
            <a:r>
              <a:rPr lang="en-US" sz="1050" b="0" i="0" u="none" strike="noStrike" cap="none" dirty="0">
                <a:solidFill>
                  <a:srgbClr val="C8E0EF"/>
                </a:solidFill>
                <a:latin typeface="Calibri"/>
                <a:ea typeface="Calibri"/>
                <a:cs typeface="Calibri"/>
                <a:sym typeface="Calibri"/>
              </a:rPr>
              <a:t>Mean polarity ≈ 0.0</a:t>
            </a:r>
            <a:r>
              <a:rPr lang="en-US" sz="1050" dirty="0">
                <a:solidFill>
                  <a:srgbClr val="C8E0EF"/>
                </a:solidFill>
                <a:latin typeface="Calibri"/>
                <a:ea typeface="Calibri"/>
                <a:cs typeface="Calibri"/>
                <a:sym typeface="Calibri"/>
              </a:rPr>
              <a:t>785</a:t>
            </a:r>
            <a:r>
              <a:rPr lang="en-US" sz="1050" b="0" i="0" u="none" strike="noStrike" cap="none" dirty="0">
                <a:solidFill>
                  <a:srgbClr val="C8E0EF"/>
                </a:solidFill>
                <a:latin typeface="Calibri"/>
                <a:ea typeface="Calibri"/>
                <a:cs typeface="Calibri"/>
                <a:sym typeface="Calibri"/>
              </a:rPr>
              <a:t> — slightly positive</a:t>
            </a:r>
            <a:endParaRPr sz="1050" b="0" i="0" u="none" strike="noStrike" cap="none" dirty="0">
              <a:solidFill>
                <a:schemeClr val="dk1"/>
              </a:solidFill>
              <a:latin typeface="Calibri"/>
              <a:ea typeface="Calibri"/>
              <a:cs typeface="Calibri"/>
              <a:sym typeface="Calibri"/>
            </a:endParaRPr>
          </a:p>
          <a:p>
            <a:pPr marL="342900" marR="0" lvl="0" indent="-342900" algn="l" rtl="0">
              <a:spcBef>
                <a:spcPts val="0"/>
              </a:spcBef>
              <a:spcAft>
                <a:spcPts val="0"/>
              </a:spcAft>
              <a:buClr>
                <a:srgbClr val="C8E0EF"/>
              </a:buClr>
              <a:buSzPts val="1050"/>
              <a:buFont typeface="Calibri"/>
              <a:buChar char="•"/>
            </a:pPr>
            <a:r>
              <a:rPr lang="en-US" sz="1050" b="0" i="0" u="none" strike="noStrike" cap="none" dirty="0">
                <a:solidFill>
                  <a:srgbClr val="C8E0EF"/>
                </a:solidFill>
                <a:latin typeface="Calibri"/>
                <a:ea typeface="Calibri"/>
                <a:cs typeface="Calibri"/>
                <a:sym typeface="Calibri"/>
              </a:rPr>
              <a:t>Mean subjectivity ≈ </a:t>
            </a:r>
            <a:r>
              <a:rPr lang="en-US" sz="1050" dirty="0">
                <a:solidFill>
                  <a:srgbClr val="C8E0EF"/>
                </a:solidFill>
                <a:latin typeface="Calibri"/>
                <a:ea typeface="Calibri"/>
                <a:cs typeface="Calibri"/>
                <a:sym typeface="Calibri"/>
              </a:rPr>
              <a:t>0.0785 </a:t>
            </a:r>
            <a:r>
              <a:rPr lang="en-US" sz="1050" b="0" i="0" u="none" strike="noStrike" cap="none" dirty="0">
                <a:solidFill>
                  <a:srgbClr val="C8E0EF"/>
                </a:solidFill>
                <a:latin typeface="Calibri"/>
                <a:ea typeface="Calibri"/>
                <a:cs typeface="Calibri"/>
                <a:sym typeface="Calibri"/>
              </a:rPr>
              <a:t> — moderately objective</a:t>
            </a:r>
            <a:endParaRPr sz="1050" b="0" i="0" u="none" strike="noStrike" cap="none" dirty="0">
              <a:solidFill>
                <a:schemeClr val="dk1"/>
              </a:solidFill>
              <a:latin typeface="Calibri"/>
              <a:ea typeface="Calibri"/>
              <a:cs typeface="Calibri"/>
              <a:sym typeface="Calibri"/>
            </a:endParaRPr>
          </a:p>
        </p:txBody>
      </p:sp>
      <p:sp>
        <p:nvSpPr>
          <p:cNvPr id="352" name="Google Shape;352;p13"/>
          <p:cNvSpPr/>
          <p:nvPr/>
        </p:nvSpPr>
        <p:spPr>
          <a:xfrm>
            <a:off x="256018" y="2807200"/>
            <a:ext cx="8613600" cy="2194500"/>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3"/>
          <p:cNvSpPr/>
          <p:nvPr/>
        </p:nvSpPr>
        <p:spPr>
          <a:xfrm>
            <a:off x="256032" y="2807208"/>
            <a:ext cx="4251960" cy="50292"/>
          </a:xfrm>
          <a:prstGeom prst="rect">
            <a:avLst/>
          </a:prstGeom>
          <a:solidFill>
            <a:srgbClr val="06C17A"/>
          </a:solidFill>
          <a:ln w="12700" cap="flat" cmpd="sng">
            <a:solidFill>
              <a:srgbClr val="06C17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3"/>
          <p:cNvSpPr/>
          <p:nvPr/>
        </p:nvSpPr>
        <p:spPr>
          <a:xfrm>
            <a:off x="402336" y="2916936"/>
            <a:ext cx="393192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2.2  NRC Emotion Features (NRCLex)</a:t>
            </a:r>
            <a:endParaRPr sz="1200" b="0" i="0" u="none" strike="noStrike" cap="none">
              <a:solidFill>
                <a:schemeClr val="dk1"/>
              </a:solidFill>
              <a:latin typeface="Calibri"/>
              <a:ea typeface="Calibri"/>
              <a:cs typeface="Calibri"/>
              <a:sym typeface="Calibri"/>
            </a:endParaRPr>
          </a:p>
        </p:txBody>
      </p:sp>
      <p:sp>
        <p:nvSpPr>
          <p:cNvPr id="355" name="Google Shape;355;p13"/>
          <p:cNvSpPr/>
          <p:nvPr/>
        </p:nvSpPr>
        <p:spPr>
          <a:xfrm>
            <a:off x="347607" y="3140950"/>
            <a:ext cx="4160400" cy="1591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000" b="0" i="0" u="none" strike="noStrike" cap="none">
              <a:solidFill>
                <a:schemeClr val="dk1"/>
              </a:solidFill>
              <a:latin typeface="Calibri"/>
              <a:ea typeface="Calibri"/>
              <a:cs typeface="Calibri"/>
              <a:sym typeface="Calibri"/>
            </a:endParaRPr>
          </a:p>
          <a:p>
            <a:pPr marL="342900" marR="0" lvl="0" indent="-349250" algn="l" rtl="0">
              <a:spcBef>
                <a:spcPts val="0"/>
              </a:spcBef>
              <a:spcAft>
                <a:spcPts val="0"/>
              </a:spcAft>
              <a:buClr>
                <a:srgbClr val="C8E0EF"/>
              </a:buClr>
              <a:buSzPts val="1100"/>
              <a:buFont typeface="Calibri"/>
              <a:buChar char="•"/>
            </a:pPr>
            <a:r>
              <a:rPr lang="en-US" sz="1100" b="0" i="0" u="none" strike="noStrike" cap="none">
                <a:solidFill>
                  <a:srgbClr val="C8E0EF"/>
                </a:solidFill>
                <a:latin typeface="Calibri"/>
                <a:ea typeface="Calibri"/>
                <a:cs typeface="Calibri"/>
                <a:sym typeface="Calibri"/>
              </a:rPr>
              <a:t>8 emotions: joy, trust, fear, surprise, sadness, disgust, anger, anticipation</a:t>
            </a:r>
            <a:endParaRPr sz="1100" b="0" i="0" u="none" strike="noStrike" cap="none">
              <a:solidFill>
                <a:schemeClr val="dk1"/>
              </a:solidFill>
              <a:latin typeface="Calibri"/>
              <a:ea typeface="Calibri"/>
              <a:cs typeface="Calibri"/>
              <a:sym typeface="Calibri"/>
            </a:endParaRPr>
          </a:p>
          <a:p>
            <a:pPr marL="342900" marR="0" lvl="0" indent="-349250" algn="l" rtl="0">
              <a:spcBef>
                <a:spcPts val="0"/>
              </a:spcBef>
              <a:spcAft>
                <a:spcPts val="0"/>
              </a:spcAft>
              <a:buClr>
                <a:srgbClr val="C8E0EF"/>
              </a:buClr>
              <a:buSzPts val="1100"/>
              <a:buFont typeface="Calibri"/>
              <a:buChar char="•"/>
            </a:pPr>
            <a:r>
              <a:rPr lang="en-US" sz="1100" b="0" i="0" u="none" strike="noStrike" cap="none">
                <a:solidFill>
                  <a:srgbClr val="C8E0EF"/>
                </a:solidFill>
                <a:latin typeface="Calibri"/>
                <a:ea typeface="Calibri"/>
                <a:cs typeface="Calibri"/>
                <a:sym typeface="Calibri"/>
              </a:rPr>
              <a:t>2 valence: positive, negative</a:t>
            </a:r>
            <a:endParaRPr sz="1100" b="0" i="0" u="none" strike="noStrike" cap="none">
              <a:solidFill>
                <a:schemeClr val="dk1"/>
              </a:solidFill>
              <a:latin typeface="Calibri"/>
              <a:ea typeface="Calibri"/>
              <a:cs typeface="Calibri"/>
              <a:sym typeface="Calibri"/>
            </a:endParaRPr>
          </a:p>
          <a:p>
            <a:pPr marL="342900" marR="0" lvl="0" indent="-349250" algn="l" rtl="0">
              <a:spcBef>
                <a:spcPts val="0"/>
              </a:spcBef>
              <a:spcAft>
                <a:spcPts val="0"/>
              </a:spcAft>
              <a:buClr>
                <a:srgbClr val="C8E0EF"/>
              </a:buClr>
              <a:buSzPts val="1100"/>
              <a:buFont typeface="Calibri"/>
              <a:buChar char="•"/>
            </a:pPr>
            <a:r>
              <a:rPr lang="en-US" sz="1100" b="0" i="0" u="none" strike="noStrike" cap="none">
                <a:solidFill>
                  <a:srgbClr val="C8E0EF"/>
                </a:solidFill>
                <a:latin typeface="Calibri"/>
                <a:ea typeface="Calibri"/>
                <a:cs typeface="Calibri"/>
                <a:sym typeface="Calibri"/>
              </a:rPr>
              <a:t>~21.7% of tweets have all-zero emotion scores (short text limitation)</a:t>
            </a:r>
            <a:endParaRPr sz="1100" b="0" i="0" u="none" strike="noStrike" cap="none">
              <a:solidFill>
                <a:schemeClr val="dk1"/>
              </a:solidFill>
              <a:latin typeface="Calibri"/>
              <a:ea typeface="Calibri"/>
              <a:cs typeface="Calibri"/>
              <a:sym typeface="Calibri"/>
            </a:endParaRPr>
          </a:p>
        </p:txBody>
      </p:sp>
      <p:sp>
        <p:nvSpPr>
          <p:cNvPr id="356" name="Google Shape;356;p13"/>
          <p:cNvSpPr/>
          <p:nvPr/>
        </p:nvSpPr>
        <p:spPr>
          <a:xfrm>
            <a:off x="4709160" y="749808"/>
            <a:ext cx="4160520" cy="1920240"/>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3"/>
          <p:cNvSpPr/>
          <p:nvPr/>
        </p:nvSpPr>
        <p:spPr>
          <a:xfrm>
            <a:off x="4709160" y="749808"/>
            <a:ext cx="4160520" cy="50292"/>
          </a:xfrm>
          <a:prstGeom prst="rect">
            <a:avLst/>
          </a:prstGeom>
          <a:solidFill>
            <a:srgbClr val="F5A623"/>
          </a:solidFill>
          <a:ln w="12700" cap="flat" cmpd="sng">
            <a:solidFill>
              <a:srgbClr val="F5A62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3"/>
          <p:cNvSpPr/>
          <p:nvPr/>
        </p:nvSpPr>
        <p:spPr>
          <a:xfrm>
            <a:off x="4846320" y="859536"/>
            <a:ext cx="384048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TextBlob Summary Statistics</a:t>
            </a:r>
            <a:endParaRPr sz="1200" b="0" i="0" u="none" strike="noStrike" cap="none">
              <a:solidFill>
                <a:schemeClr val="dk1"/>
              </a:solidFill>
              <a:latin typeface="Calibri"/>
              <a:ea typeface="Calibri"/>
              <a:cs typeface="Calibri"/>
              <a:sym typeface="Calibri"/>
            </a:endParaRPr>
          </a:p>
        </p:txBody>
      </p:sp>
      <p:sp>
        <p:nvSpPr>
          <p:cNvPr id="359" name="Google Shape;359;p13"/>
          <p:cNvSpPr/>
          <p:nvPr/>
        </p:nvSpPr>
        <p:spPr>
          <a:xfrm>
            <a:off x="4846320" y="1243584"/>
            <a:ext cx="3858768" cy="164592"/>
          </a:xfrm>
          <a:prstGeom prst="rect">
            <a:avLst/>
          </a:prstGeom>
          <a:solidFill>
            <a:srgbClr val="162840"/>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3"/>
          <p:cNvSpPr/>
          <p:nvPr/>
        </p:nvSpPr>
        <p:spPr>
          <a:xfrm>
            <a:off x="4919472" y="1243584"/>
            <a:ext cx="1828800" cy="16459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90AA"/>
              </a:buClr>
              <a:buSzPts val="900"/>
              <a:buFont typeface="Calibri"/>
              <a:buNone/>
            </a:pPr>
            <a:r>
              <a:rPr lang="en-US" sz="900" b="0" i="0" u="none" strike="noStrike" cap="none">
                <a:solidFill>
                  <a:srgbClr val="6B90AA"/>
                </a:solidFill>
                <a:latin typeface="Calibri"/>
                <a:ea typeface="Calibri"/>
                <a:cs typeface="Calibri"/>
                <a:sym typeface="Calibri"/>
              </a:rPr>
              <a:t>count</a:t>
            </a:r>
            <a:endParaRPr sz="900" b="0" i="0" u="none" strike="noStrike" cap="none">
              <a:solidFill>
                <a:schemeClr val="dk1"/>
              </a:solidFill>
              <a:latin typeface="Calibri"/>
              <a:ea typeface="Calibri"/>
              <a:cs typeface="Calibri"/>
              <a:sym typeface="Calibri"/>
            </a:endParaRPr>
          </a:p>
        </p:txBody>
      </p:sp>
      <p:sp>
        <p:nvSpPr>
          <p:cNvPr id="361" name="Google Shape;361;p13"/>
          <p:cNvSpPr/>
          <p:nvPr/>
        </p:nvSpPr>
        <p:spPr>
          <a:xfrm>
            <a:off x="6748272" y="1243584"/>
            <a:ext cx="969264" cy="1645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00C2D4"/>
              </a:buClr>
              <a:buSzPts val="900"/>
              <a:buFont typeface="Calibri"/>
              <a:buNone/>
            </a:pPr>
            <a:r>
              <a:rPr lang="en-US" sz="900" b="1">
                <a:solidFill>
                  <a:srgbClr val="00C2D4"/>
                </a:solidFill>
                <a:latin typeface="Calibri"/>
                <a:ea typeface="Calibri"/>
                <a:cs typeface="Calibri"/>
                <a:sym typeface="Calibri"/>
              </a:rPr>
              <a:t>179288</a:t>
            </a:r>
            <a:endParaRPr sz="900" b="0" i="0" u="none" strike="noStrike" cap="none">
              <a:solidFill>
                <a:schemeClr val="dk1"/>
              </a:solidFill>
              <a:latin typeface="Calibri"/>
              <a:ea typeface="Calibri"/>
              <a:cs typeface="Calibri"/>
              <a:sym typeface="Calibri"/>
            </a:endParaRPr>
          </a:p>
        </p:txBody>
      </p:sp>
      <p:sp>
        <p:nvSpPr>
          <p:cNvPr id="362" name="Google Shape;362;p13"/>
          <p:cNvSpPr/>
          <p:nvPr/>
        </p:nvSpPr>
        <p:spPr>
          <a:xfrm>
            <a:off x="4846320" y="1426464"/>
            <a:ext cx="3858768" cy="164592"/>
          </a:xfrm>
          <a:prstGeom prst="rect">
            <a:avLst/>
          </a:prstGeom>
          <a:solidFill>
            <a:srgbClr val="192D44"/>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3"/>
          <p:cNvSpPr/>
          <p:nvPr/>
        </p:nvSpPr>
        <p:spPr>
          <a:xfrm>
            <a:off x="4919472" y="1426464"/>
            <a:ext cx="1828800" cy="16459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90AA"/>
              </a:buClr>
              <a:buSzPts val="900"/>
              <a:buFont typeface="Calibri"/>
              <a:buNone/>
            </a:pPr>
            <a:r>
              <a:rPr lang="en-US" sz="900" b="0" i="0" u="none" strike="noStrike" cap="none">
                <a:solidFill>
                  <a:srgbClr val="6B90AA"/>
                </a:solidFill>
                <a:latin typeface="Calibri"/>
                <a:ea typeface="Calibri"/>
                <a:cs typeface="Calibri"/>
                <a:sym typeface="Calibri"/>
              </a:rPr>
              <a:t>mean</a:t>
            </a:r>
            <a:endParaRPr sz="900" b="0" i="0" u="none" strike="noStrike" cap="none">
              <a:solidFill>
                <a:schemeClr val="dk1"/>
              </a:solidFill>
              <a:latin typeface="Calibri"/>
              <a:ea typeface="Calibri"/>
              <a:cs typeface="Calibri"/>
              <a:sym typeface="Calibri"/>
            </a:endParaRPr>
          </a:p>
        </p:txBody>
      </p:sp>
      <p:sp>
        <p:nvSpPr>
          <p:cNvPr id="364" name="Google Shape;364;p13"/>
          <p:cNvSpPr/>
          <p:nvPr/>
        </p:nvSpPr>
        <p:spPr>
          <a:xfrm>
            <a:off x="6748272" y="1426464"/>
            <a:ext cx="969264" cy="1645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00C2D4"/>
              </a:buClr>
              <a:buSzPts val="900"/>
              <a:buFont typeface="Calibri"/>
              <a:buNone/>
            </a:pPr>
            <a:r>
              <a:rPr lang="en-US" sz="900" b="1">
                <a:solidFill>
                  <a:srgbClr val="00C2D4"/>
                </a:solidFill>
                <a:latin typeface="Calibri"/>
                <a:ea typeface="Calibri"/>
                <a:cs typeface="Calibri"/>
                <a:sym typeface="Calibri"/>
              </a:rPr>
              <a:t>0.0785</a:t>
            </a:r>
            <a:endParaRPr sz="900" b="0" i="0" u="none" strike="noStrike" cap="none">
              <a:solidFill>
                <a:schemeClr val="dk1"/>
              </a:solidFill>
              <a:latin typeface="Calibri"/>
              <a:ea typeface="Calibri"/>
              <a:cs typeface="Calibri"/>
              <a:sym typeface="Calibri"/>
            </a:endParaRPr>
          </a:p>
        </p:txBody>
      </p:sp>
      <p:sp>
        <p:nvSpPr>
          <p:cNvPr id="365" name="Google Shape;365;p13"/>
          <p:cNvSpPr/>
          <p:nvPr/>
        </p:nvSpPr>
        <p:spPr>
          <a:xfrm>
            <a:off x="4846320" y="1609344"/>
            <a:ext cx="3858768" cy="164592"/>
          </a:xfrm>
          <a:prstGeom prst="rect">
            <a:avLst/>
          </a:prstGeom>
          <a:solidFill>
            <a:srgbClr val="162840"/>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3"/>
          <p:cNvSpPr/>
          <p:nvPr/>
        </p:nvSpPr>
        <p:spPr>
          <a:xfrm>
            <a:off x="4919472" y="1609344"/>
            <a:ext cx="1828800" cy="16459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90AA"/>
              </a:buClr>
              <a:buSzPts val="900"/>
              <a:buFont typeface="Calibri"/>
              <a:buNone/>
            </a:pPr>
            <a:r>
              <a:rPr lang="en-US" sz="900" b="0" i="0" u="none" strike="noStrike" cap="none">
                <a:solidFill>
                  <a:srgbClr val="6B90AA"/>
                </a:solidFill>
                <a:latin typeface="Calibri"/>
                <a:ea typeface="Calibri"/>
                <a:cs typeface="Calibri"/>
                <a:sym typeface="Calibri"/>
              </a:rPr>
              <a:t>std</a:t>
            </a:r>
            <a:endParaRPr sz="900" b="0" i="0" u="none" strike="noStrike" cap="none">
              <a:solidFill>
                <a:schemeClr val="dk1"/>
              </a:solidFill>
              <a:latin typeface="Calibri"/>
              <a:ea typeface="Calibri"/>
              <a:cs typeface="Calibri"/>
              <a:sym typeface="Calibri"/>
            </a:endParaRPr>
          </a:p>
        </p:txBody>
      </p:sp>
      <p:sp>
        <p:nvSpPr>
          <p:cNvPr id="367" name="Google Shape;367;p13"/>
          <p:cNvSpPr/>
          <p:nvPr/>
        </p:nvSpPr>
        <p:spPr>
          <a:xfrm>
            <a:off x="6748272" y="1609344"/>
            <a:ext cx="969264" cy="1645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00C2D4"/>
              </a:buClr>
              <a:buSzPts val="900"/>
              <a:buFont typeface="Calibri"/>
              <a:buNone/>
            </a:pPr>
            <a:r>
              <a:rPr lang="en-US" sz="900" b="1">
                <a:solidFill>
                  <a:srgbClr val="00C2D4"/>
                </a:solidFill>
                <a:latin typeface="Calibri"/>
                <a:ea typeface="Calibri"/>
                <a:cs typeface="Calibri"/>
                <a:sym typeface="Calibri"/>
              </a:rPr>
              <a:t>0.2847</a:t>
            </a:r>
            <a:endParaRPr sz="900" b="0" i="0" u="none" strike="noStrike" cap="none">
              <a:solidFill>
                <a:schemeClr val="dk1"/>
              </a:solidFill>
              <a:latin typeface="Calibri"/>
              <a:ea typeface="Calibri"/>
              <a:cs typeface="Calibri"/>
              <a:sym typeface="Calibri"/>
            </a:endParaRPr>
          </a:p>
        </p:txBody>
      </p:sp>
      <p:sp>
        <p:nvSpPr>
          <p:cNvPr id="368" name="Google Shape;368;p13"/>
          <p:cNvSpPr/>
          <p:nvPr/>
        </p:nvSpPr>
        <p:spPr>
          <a:xfrm>
            <a:off x="4846320" y="1792224"/>
            <a:ext cx="3858768" cy="164592"/>
          </a:xfrm>
          <a:prstGeom prst="rect">
            <a:avLst/>
          </a:prstGeom>
          <a:solidFill>
            <a:srgbClr val="192D44"/>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13"/>
          <p:cNvSpPr/>
          <p:nvPr/>
        </p:nvSpPr>
        <p:spPr>
          <a:xfrm>
            <a:off x="4919472" y="1792224"/>
            <a:ext cx="1828800" cy="16459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90AA"/>
              </a:buClr>
              <a:buSzPts val="900"/>
              <a:buFont typeface="Calibri"/>
              <a:buNone/>
            </a:pPr>
            <a:r>
              <a:rPr lang="en-US" sz="900" b="0" i="0" u="none" strike="noStrike" cap="none">
                <a:solidFill>
                  <a:srgbClr val="6B90AA"/>
                </a:solidFill>
                <a:latin typeface="Calibri"/>
                <a:ea typeface="Calibri"/>
                <a:cs typeface="Calibri"/>
                <a:sym typeface="Calibri"/>
              </a:rPr>
              <a:t>min</a:t>
            </a:r>
            <a:endParaRPr sz="900" b="0" i="0" u="none" strike="noStrike" cap="none">
              <a:solidFill>
                <a:schemeClr val="dk1"/>
              </a:solidFill>
              <a:latin typeface="Calibri"/>
              <a:ea typeface="Calibri"/>
              <a:cs typeface="Calibri"/>
              <a:sym typeface="Calibri"/>
            </a:endParaRPr>
          </a:p>
        </p:txBody>
      </p:sp>
      <p:sp>
        <p:nvSpPr>
          <p:cNvPr id="370" name="Google Shape;370;p13"/>
          <p:cNvSpPr/>
          <p:nvPr/>
        </p:nvSpPr>
        <p:spPr>
          <a:xfrm>
            <a:off x="6748272" y="1792224"/>
            <a:ext cx="969264" cy="1645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00C2D4"/>
              </a:buClr>
              <a:buSzPts val="900"/>
              <a:buFont typeface="Calibri"/>
              <a:buNone/>
            </a:pPr>
            <a:r>
              <a:rPr lang="en-US" sz="900" b="1" i="0" u="none" strike="noStrike" cap="none">
                <a:solidFill>
                  <a:srgbClr val="00C2D4"/>
                </a:solidFill>
                <a:latin typeface="Calibri"/>
                <a:ea typeface="Calibri"/>
                <a:cs typeface="Calibri"/>
                <a:sym typeface="Calibri"/>
              </a:rPr>
              <a:t>–1.0000</a:t>
            </a:r>
            <a:endParaRPr sz="900" b="0" i="0" u="none" strike="noStrike" cap="none">
              <a:solidFill>
                <a:schemeClr val="dk1"/>
              </a:solidFill>
              <a:latin typeface="Calibri"/>
              <a:ea typeface="Calibri"/>
              <a:cs typeface="Calibri"/>
              <a:sym typeface="Calibri"/>
            </a:endParaRPr>
          </a:p>
        </p:txBody>
      </p:sp>
      <p:sp>
        <p:nvSpPr>
          <p:cNvPr id="371" name="Google Shape;371;p13"/>
          <p:cNvSpPr/>
          <p:nvPr/>
        </p:nvSpPr>
        <p:spPr>
          <a:xfrm>
            <a:off x="4846320" y="1975104"/>
            <a:ext cx="3858768" cy="164592"/>
          </a:xfrm>
          <a:prstGeom prst="rect">
            <a:avLst/>
          </a:prstGeom>
          <a:solidFill>
            <a:srgbClr val="162840"/>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3"/>
          <p:cNvSpPr/>
          <p:nvPr/>
        </p:nvSpPr>
        <p:spPr>
          <a:xfrm>
            <a:off x="4919472" y="1975104"/>
            <a:ext cx="1828800" cy="16459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90AA"/>
              </a:buClr>
              <a:buSzPts val="900"/>
              <a:buFont typeface="Calibri"/>
              <a:buNone/>
            </a:pPr>
            <a:r>
              <a:rPr lang="en-US" sz="900" b="0" i="0" u="none" strike="noStrike" cap="none">
                <a:solidFill>
                  <a:srgbClr val="6B90AA"/>
                </a:solidFill>
                <a:latin typeface="Calibri"/>
                <a:ea typeface="Calibri"/>
                <a:cs typeface="Calibri"/>
                <a:sym typeface="Calibri"/>
              </a:rPr>
              <a:t>25%</a:t>
            </a:r>
            <a:endParaRPr sz="900" b="0" i="0" u="none" strike="noStrike" cap="none">
              <a:solidFill>
                <a:schemeClr val="dk1"/>
              </a:solidFill>
              <a:latin typeface="Calibri"/>
              <a:ea typeface="Calibri"/>
              <a:cs typeface="Calibri"/>
              <a:sym typeface="Calibri"/>
            </a:endParaRPr>
          </a:p>
        </p:txBody>
      </p:sp>
      <p:sp>
        <p:nvSpPr>
          <p:cNvPr id="373" name="Google Shape;373;p13"/>
          <p:cNvSpPr/>
          <p:nvPr/>
        </p:nvSpPr>
        <p:spPr>
          <a:xfrm>
            <a:off x="6748272" y="1975104"/>
            <a:ext cx="969264" cy="1645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00C2D4"/>
              </a:buClr>
              <a:buSzPts val="900"/>
              <a:buFont typeface="Calibri"/>
              <a:buNone/>
            </a:pPr>
            <a:r>
              <a:rPr lang="en-US" sz="900" b="1" i="0" u="none" strike="noStrike" cap="none">
                <a:solidFill>
                  <a:srgbClr val="00C2D4"/>
                </a:solidFill>
                <a:latin typeface="Calibri"/>
                <a:ea typeface="Calibri"/>
                <a:cs typeface="Calibri"/>
                <a:sym typeface="Calibri"/>
              </a:rPr>
              <a:t>0.0000</a:t>
            </a:r>
            <a:endParaRPr sz="900" b="0" i="0" u="none" strike="noStrike" cap="none">
              <a:solidFill>
                <a:schemeClr val="dk1"/>
              </a:solidFill>
              <a:latin typeface="Calibri"/>
              <a:ea typeface="Calibri"/>
              <a:cs typeface="Calibri"/>
              <a:sym typeface="Calibri"/>
            </a:endParaRPr>
          </a:p>
        </p:txBody>
      </p:sp>
      <p:sp>
        <p:nvSpPr>
          <p:cNvPr id="374" name="Google Shape;374;p13"/>
          <p:cNvSpPr/>
          <p:nvPr/>
        </p:nvSpPr>
        <p:spPr>
          <a:xfrm>
            <a:off x="4846320" y="2157984"/>
            <a:ext cx="3858768" cy="164592"/>
          </a:xfrm>
          <a:prstGeom prst="rect">
            <a:avLst/>
          </a:prstGeom>
          <a:solidFill>
            <a:srgbClr val="192D44"/>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3"/>
          <p:cNvSpPr/>
          <p:nvPr/>
        </p:nvSpPr>
        <p:spPr>
          <a:xfrm>
            <a:off x="4919472" y="2157984"/>
            <a:ext cx="1828800" cy="16459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90AA"/>
              </a:buClr>
              <a:buSzPts val="900"/>
              <a:buFont typeface="Calibri"/>
              <a:buNone/>
            </a:pPr>
            <a:r>
              <a:rPr lang="en-US" sz="900" b="0" i="0" u="none" strike="noStrike" cap="none">
                <a:solidFill>
                  <a:srgbClr val="6B90AA"/>
                </a:solidFill>
                <a:latin typeface="Calibri"/>
                <a:ea typeface="Calibri"/>
                <a:cs typeface="Calibri"/>
                <a:sym typeface="Calibri"/>
              </a:rPr>
              <a:t>50% (median)</a:t>
            </a:r>
            <a:endParaRPr sz="900" b="0" i="0" u="none" strike="noStrike" cap="none">
              <a:solidFill>
                <a:schemeClr val="dk1"/>
              </a:solidFill>
              <a:latin typeface="Calibri"/>
              <a:ea typeface="Calibri"/>
              <a:cs typeface="Calibri"/>
              <a:sym typeface="Calibri"/>
            </a:endParaRPr>
          </a:p>
        </p:txBody>
      </p:sp>
      <p:sp>
        <p:nvSpPr>
          <p:cNvPr id="376" name="Google Shape;376;p13"/>
          <p:cNvSpPr/>
          <p:nvPr/>
        </p:nvSpPr>
        <p:spPr>
          <a:xfrm>
            <a:off x="6748272" y="2157984"/>
            <a:ext cx="969264" cy="1645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00C2D4"/>
              </a:buClr>
              <a:buSzPts val="900"/>
              <a:buFont typeface="Calibri"/>
              <a:buNone/>
            </a:pPr>
            <a:r>
              <a:rPr lang="en-US" sz="900" b="1" i="0" u="none" strike="noStrike" cap="none">
                <a:solidFill>
                  <a:srgbClr val="00C2D4"/>
                </a:solidFill>
                <a:latin typeface="Calibri"/>
                <a:ea typeface="Calibri"/>
                <a:cs typeface="Calibri"/>
                <a:sym typeface="Calibri"/>
              </a:rPr>
              <a:t>0.0000</a:t>
            </a:r>
            <a:endParaRPr sz="900" b="0" i="0" u="none" strike="noStrike" cap="none">
              <a:solidFill>
                <a:schemeClr val="dk1"/>
              </a:solidFill>
              <a:latin typeface="Calibri"/>
              <a:ea typeface="Calibri"/>
              <a:cs typeface="Calibri"/>
              <a:sym typeface="Calibri"/>
            </a:endParaRPr>
          </a:p>
        </p:txBody>
      </p:sp>
      <p:sp>
        <p:nvSpPr>
          <p:cNvPr id="377" name="Google Shape;377;p13"/>
          <p:cNvSpPr/>
          <p:nvPr/>
        </p:nvSpPr>
        <p:spPr>
          <a:xfrm>
            <a:off x="4846320" y="2340864"/>
            <a:ext cx="3858768" cy="164592"/>
          </a:xfrm>
          <a:prstGeom prst="rect">
            <a:avLst/>
          </a:prstGeom>
          <a:solidFill>
            <a:srgbClr val="162840"/>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3"/>
          <p:cNvSpPr/>
          <p:nvPr/>
        </p:nvSpPr>
        <p:spPr>
          <a:xfrm>
            <a:off x="4919472" y="2340864"/>
            <a:ext cx="1828800" cy="16459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90AA"/>
              </a:buClr>
              <a:buSzPts val="900"/>
              <a:buFont typeface="Calibri"/>
              <a:buNone/>
            </a:pPr>
            <a:r>
              <a:rPr lang="en-US" sz="900" b="0" i="0" u="none" strike="noStrike" cap="none">
                <a:solidFill>
                  <a:srgbClr val="6B90AA"/>
                </a:solidFill>
                <a:latin typeface="Calibri"/>
                <a:ea typeface="Calibri"/>
                <a:cs typeface="Calibri"/>
                <a:sym typeface="Calibri"/>
              </a:rPr>
              <a:t>75%</a:t>
            </a:r>
            <a:endParaRPr sz="900" b="0" i="0" u="none" strike="noStrike" cap="none">
              <a:solidFill>
                <a:schemeClr val="dk1"/>
              </a:solidFill>
              <a:latin typeface="Calibri"/>
              <a:ea typeface="Calibri"/>
              <a:cs typeface="Calibri"/>
              <a:sym typeface="Calibri"/>
            </a:endParaRPr>
          </a:p>
        </p:txBody>
      </p:sp>
      <p:sp>
        <p:nvSpPr>
          <p:cNvPr id="379" name="Google Shape;379;p13"/>
          <p:cNvSpPr/>
          <p:nvPr/>
        </p:nvSpPr>
        <p:spPr>
          <a:xfrm>
            <a:off x="6748272" y="2340864"/>
            <a:ext cx="969264" cy="1645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00C2D4"/>
              </a:buClr>
              <a:buSzPts val="900"/>
              <a:buFont typeface="Calibri"/>
              <a:buNone/>
            </a:pPr>
            <a:r>
              <a:rPr lang="en-US" sz="900" b="1">
                <a:solidFill>
                  <a:srgbClr val="00C2D4"/>
                </a:solidFill>
                <a:latin typeface="Calibri"/>
                <a:ea typeface="Calibri"/>
                <a:cs typeface="Calibri"/>
                <a:sym typeface="Calibri"/>
              </a:rPr>
              <a:t>0.2000</a:t>
            </a:r>
            <a:endParaRPr sz="900" b="0" i="0" u="none" strike="noStrike" cap="none">
              <a:solidFill>
                <a:schemeClr val="dk1"/>
              </a:solidFill>
              <a:latin typeface="Calibri"/>
              <a:ea typeface="Calibri"/>
              <a:cs typeface="Calibri"/>
              <a:sym typeface="Calibri"/>
            </a:endParaRPr>
          </a:p>
        </p:txBody>
      </p:sp>
      <p:sp>
        <p:nvSpPr>
          <p:cNvPr id="380" name="Google Shape;380;p13"/>
          <p:cNvSpPr/>
          <p:nvPr/>
        </p:nvSpPr>
        <p:spPr>
          <a:xfrm>
            <a:off x="4846320" y="2523744"/>
            <a:ext cx="3858768" cy="164592"/>
          </a:xfrm>
          <a:prstGeom prst="rect">
            <a:avLst/>
          </a:prstGeom>
          <a:solidFill>
            <a:srgbClr val="192D44"/>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13"/>
          <p:cNvSpPr/>
          <p:nvPr/>
        </p:nvSpPr>
        <p:spPr>
          <a:xfrm>
            <a:off x="4919472" y="2523744"/>
            <a:ext cx="1828800" cy="16459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90AA"/>
              </a:buClr>
              <a:buSzPts val="900"/>
              <a:buFont typeface="Calibri"/>
              <a:buNone/>
            </a:pPr>
            <a:r>
              <a:rPr lang="en-US" sz="900" b="0" i="0" u="none" strike="noStrike" cap="none">
                <a:solidFill>
                  <a:srgbClr val="6B90AA"/>
                </a:solidFill>
                <a:latin typeface="Calibri"/>
                <a:ea typeface="Calibri"/>
                <a:cs typeface="Calibri"/>
                <a:sym typeface="Calibri"/>
              </a:rPr>
              <a:t>max</a:t>
            </a:r>
            <a:endParaRPr sz="900" b="0" i="0" u="none" strike="noStrike" cap="none">
              <a:solidFill>
                <a:schemeClr val="dk1"/>
              </a:solidFill>
              <a:latin typeface="Calibri"/>
              <a:ea typeface="Calibri"/>
              <a:cs typeface="Calibri"/>
              <a:sym typeface="Calibri"/>
            </a:endParaRPr>
          </a:p>
        </p:txBody>
      </p:sp>
      <p:sp>
        <p:nvSpPr>
          <p:cNvPr id="382" name="Google Shape;382;p13"/>
          <p:cNvSpPr/>
          <p:nvPr/>
        </p:nvSpPr>
        <p:spPr>
          <a:xfrm>
            <a:off x="6748272" y="2523744"/>
            <a:ext cx="969264" cy="1645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00C2D4"/>
              </a:buClr>
              <a:buSzPts val="900"/>
              <a:buFont typeface="Calibri"/>
              <a:buNone/>
            </a:pPr>
            <a:r>
              <a:rPr lang="en-US" sz="900" b="1" i="0" u="none" strike="noStrike" cap="none">
                <a:solidFill>
                  <a:srgbClr val="00C2D4"/>
                </a:solidFill>
                <a:latin typeface="Calibri"/>
                <a:ea typeface="Calibri"/>
                <a:cs typeface="Calibri"/>
                <a:sym typeface="Calibri"/>
              </a:rPr>
              <a:t>1.0000</a:t>
            </a:r>
            <a:endParaRPr sz="900" b="0" i="0" u="none" strike="noStrike" cap="none">
              <a:solidFill>
                <a:schemeClr val="dk1"/>
              </a:solidFill>
              <a:latin typeface="Calibri"/>
              <a:ea typeface="Calibri"/>
              <a:cs typeface="Calibri"/>
              <a:sym typeface="Calibri"/>
            </a:endParaRPr>
          </a:p>
        </p:txBody>
      </p:sp>
      <p:pic>
        <p:nvPicPr>
          <p:cNvPr id="383" name="Google Shape;383;p13"/>
          <p:cNvPicPr preferRelativeResize="0"/>
          <p:nvPr/>
        </p:nvPicPr>
        <p:blipFill rotWithShape="1">
          <a:blip r:embed="rId3">
            <a:alphaModFix/>
          </a:blip>
          <a:srcRect l="-1370" t="-4290" r="1370" b="4290"/>
          <a:stretch/>
        </p:blipFill>
        <p:spPr>
          <a:xfrm>
            <a:off x="4508000" y="3072375"/>
            <a:ext cx="4160401" cy="16097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388"/>
        <p:cNvGrpSpPr/>
        <p:nvPr/>
      </p:nvGrpSpPr>
      <p:grpSpPr>
        <a:xfrm>
          <a:off x="0" y="0"/>
          <a:ext cx="0" cy="0"/>
          <a:chOff x="0" y="0"/>
          <a:chExt cx="0" cy="0"/>
        </a:xfrm>
      </p:grpSpPr>
      <p:sp>
        <p:nvSpPr>
          <p:cNvPr id="389" name="Google Shape;389;p14"/>
          <p:cNvSpPr/>
          <p:nvPr/>
        </p:nvSpPr>
        <p:spPr>
          <a:xfrm>
            <a:off x="0" y="0"/>
            <a:ext cx="9144000" cy="621792"/>
          </a:xfrm>
          <a:prstGeom prst="rect">
            <a:avLst/>
          </a:prstGeom>
          <a:solidFill>
            <a:srgbClr val="112236"/>
          </a:solidFill>
          <a:ln w="12700" cap="flat" cmpd="sng">
            <a:solidFill>
              <a:srgbClr val="1122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4"/>
          <p:cNvSpPr/>
          <p:nvPr/>
        </p:nvSpPr>
        <p:spPr>
          <a:xfrm>
            <a:off x="0" y="0"/>
            <a:ext cx="128016" cy="621792"/>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4"/>
          <p:cNvSpPr/>
          <p:nvPr/>
        </p:nvSpPr>
        <p:spPr>
          <a:xfrm>
            <a:off x="219456" y="0"/>
            <a:ext cx="640080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02  FEATURE GENERATION — Text Complexity &amp; Engagement</a:t>
            </a:r>
            <a:endParaRPr sz="2000" b="0" i="0" u="none" strike="noStrike" cap="none">
              <a:solidFill>
                <a:schemeClr val="dk1"/>
              </a:solidFill>
              <a:latin typeface="Calibri"/>
              <a:ea typeface="Calibri"/>
              <a:cs typeface="Calibri"/>
              <a:sym typeface="Calibri"/>
            </a:endParaRPr>
          </a:p>
        </p:txBody>
      </p:sp>
      <p:sp>
        <p:nvSpPr>
          <p:cNvPr id="392" name="Google Shape;392;p14"/>
          <p:cNvSpPr/>
          <p:nvPr/>
        </p:nvSpPr>
        <p:spPr>
          <a:xfrm>
            <a:off x="6675120" y="137160"/>
            <a:ext cx="2286000" cy="34747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90AA"/>
              </a:buClr>
              <a:buSzPts val="1000"/>
              <a:buFont typeface="Calibri"/>
              <a:buNone/>
            </a:pPr>
            <a:r>
              <a:rPr lang="en-US" sz="1000" b="0" i="0" u="none" strike="noStrike" cap="none">
                <a:solidFill>
                  <a:srgbClr val="6B90AA"/>
                </a:solidFill>
                <a:latin typeface="Calibri"/>
                <a:ea typeface="Calibri"/>
                <a:cs typeface="Calibri"/>
                <a:sym typeface="Calibri"/>
              </a:rPr>
              <a:t>MANDATORY</a:t>
            </a:r>
            <a:endParaRPr sz="1000" b="0" i="0" u="none" strike="noStrike" cap="none">
              <a:solidFill>
                <a:schemeClr val="dk1"/>
              </a:solidFill>
              <a:latin typeface="Calibri"/>
              <a:ea typeface="Calibri"/>
              <a:cs typeface="Calibri"/>
              <a:sym typeface="Calibri"/>
            </a:endParaRPr>
          </a:p>
        </p:txBody>
      </p:sp>
      <p:sp>
        <p:nvSpPr>
          <p:cNvPr id="393" name="Google Shape;393;p14"/>
          <p:cNvSpPr/>
          <p:nvPr/>
        </p:nvSpPr>
        <p:spPr>
          <a:xfrm>
            <a:off x="7882128" y="91440"/>
            <a:ext cx="1170432" cy="274320"/>
          </a:xfrm>
          <a:prstGeom prst="roundRect">
            <a:avLst>
              <a:gd name="adj" fmla="val 13333"/>
            </a:avLst>
          </a:prstGeom>
          <a:solidFill>
            <a:srgbClr val="B83232"/>
          </a:solidFill>
          <a:ln w="12700" cap="flat" cmpd="sng">
            <a:solidFill>
              <a:srgbClr val="B832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4"/>
          <p:cNvSpPr/>
          <p:nvPr/>
        </p:nvSpPr>
        <p:spPr>
          <a:xfrm>
            <a:off x="7882128" y="91440"/>
            <a:ext cx="1170432"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en-US" sz="800" b="1" i="0" u="none" strike="noStrike" cap="none">
                <a:solidFill>
                  <a:srgbClr val="FFFFFF"/>
                </a:solidFill>
                <a:latin typeface="Calibri"/>
                <a:ea typeface="Calibri"/>
                <a:cs typeface="Calibri"/>
                <a:sym typeface="Calibri"/>
              </a:rPr>
              <a:t>MANDATORY</a:t>
            </a:r>
            <a:endParaRPr sz="800" b="0" i="0" u="none" strike="noStrike" cap="none">
              <a:solidFill>
                <a:schemeClr val="dk1"/>
              </a:solidFill>
              <a:latin typeface="Calibri"/>
              <a:ea typeface="Calibri"/>
              <a:cs typeface="Calibri"/>
              <a:sym typeface="Calibri"/>
            </a:endParaRPr>
          </a:p>
        </p:txBody>
      </p:sp>
      <p:sp>
        <p:nvSpPr>
          <p:cNvPr id="395" name="Google Shape;395;p14"/>
          <p:cNvSpPr/>
          <p:nvPr/>
        </p:nvSpPr>
        <p:spPr>
          <a:xfrm>
            <a:off x="256032" y="777240"/>
            <a:ext cx="4224528" cy="2057400"/>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4"/>
          <p:cNvSpPr/>
          <p:nvPr/>
        </p:nvSpPr>
        <p:spPr>
          <a:xfrm>
            <a:off x="256032" y="777240"/>
            <a:ext cx="4224528" cy="50292"/>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4"/>
          <p:cNvSpPr/>
          <p:nvPr/>
        </p:nvSpPr>
        <p:spPr>
          <a:xfrm>
            <a:off x="402336" y="868680"/>
            <a:ext cx="393192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Text Complexity Features</a:t>
            </a:r>
            <a:endParaRPr sz="1200" b="0" i="0" u="none" strike="noStrike" cap="none">
              <a:solidFill>
                <a:schemeClr val="dk1"/>
              </a:solidFill>
              <a:latin typeface="Calibri"/>
              <a:ea typeface="Calibri"/>
              <a:cs typeface="Calibri"/>
              <a:sym typeface="Calibri"/>
            </a:endParaRPr>
          </a:p>
        </p:txBody>
      </p:sp>
      <p:sp>
        <p:nvSpPr>
          <p:cNvPr id="398" name="Google Shape;398;p14"/>
          <p:cNvSpPr/>
          <p:nvPr/>
        </p:nvSpPr>
        <p:spPr>
          <a:xfrm>
            <a:off x="402336" y="1234440"/>
            <a:ext cx="3931920" cy="1481328"/>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C8E0EF"/>
              </a:buClr>
              <a:buSzPts val="1050"/>
              <a:buFont typeface="Calibri"/>
              <a:buChar char="•"/>
            </a:pPr>
            <a:r>
              <a:rPr lang="en-US" sz="1050" b="0" i="0" u="none" strike="noStrike" cap="none">
                <a:solidFill>
                  <a:srgbClr val="C8E0EF"/>
                </a:solidFill>
                <a:latin typeface="Calibri"/>
                <a:ea typeface="Calibri"/>
                <a:cs typeface="Calibri"/>
                <a:sym typeface="Calibri"/>
              </a:rPr>
              <a:t>word_count — number of tokens in clean_text</a:t>
            </a:r>
            <a:endParaRPr sz="105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C8E0EF"/>
              </a:buClr>
              <a:buSzPts val="1050"/>
              <a:buFont typeface="Calibri"/>
              <a:buChar char="•"/>
            </a:pPr>
            <a:r>
              <a:rPr lang="en-US" sz="1050" b="0" i="0" u="none" strike="noStrike" cap="none">
                <a:solidFill>
                  <a:srgbClr val="C8E0EF"/>
                </a:solidFill>
                <a:latin typeface="Calibri"/>
                <a:ea typeface="Calibri"/>
                <a:cs typeface="Calibri"/>
                <a:sym typeface="Calibri"/>
              </a:rPr>
              <a:t>char_count — character length of full_text</a:t>
            </a:r>
            <a:endParaRPr sz="105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C8E0EF"/>
              </a:buClr>
              <a:buSzPts val="1050"/>
              <a:buFont typeface="Calibri"/>
              <a:buChar char="•"/>
            </a:pPr>
            <a:r>
              <a:rPr lang="en-US" sz="1050" b="0" i="0" u="none" strike="noStrike" cap="none">
                <a:solidFill>
                  <a:srgbClr val="C8E0EF"/>
                </a:solidFill>
                <a:latin typeface="Calibri"/>
                <a:ea typeface="Calibri"/>
                <a:cs typeface="Calibri"/>
                <a:sym typeface="Calibri"/>
              </a:rPr>
              <a:t>lexical_diversity — unique words ÷ total words</a:t>
            </a:r>
            <a:endParaRPr sz="105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C8E0EF"/>
              </a:buClr>
              <a:buSzPts val="1050"/>
              <a:buFont typeface="Calibri"/>
              <a:buChar char="•"/>
            </a:pPr>
            <a:r>
              <a:rPr lang="en-US" sz="1050" b="0" i="0" u="none" strike="noStrike" cap="none">
                <a:solidFill>
                  <a:srgbClr val="C8E0EF"/>
                </a:solidFill>
                <a:latin typeface="Calibri"/>
                <a:ea typeface="Calibri"/>
                <a:cs typeface="Calibri"/>
                <a:sym typeface="Calibri"/>
              </a:rPr>
              <a:t>flesch_reading_ease — Flesch formula: 206.835 − 1.015×(words/sentences) − 84.6×(syllables/words)</a:t>
            </a:r>
            <a:endParaRPr sz="1050" b="0" i="0" u="none" strike="noStrike" cap="none">
              <a:solidFill>
                <a:schemeClr val="dk1"/>
              </a:solidFill>
              <a:latin typeface="Calibri"/>
              <a:ea typeface="Calibri"/>
              <a:cs typeface="Calibri"/>
              <a:sym typeface="Calibri"/>
            </a:endParaRPr>
          </a:p>
        </p:txBody>
      </p:sp>
      <p:sp>
        <p:nvSpPr>
          <p:cNvPr id="399" name="Google Shape;399;p14"/>
          <p:cNvSpPr/>
          <p:nvPr/>
        </p:nvSpPr>
        <p:spPr>
          <a:xfrm>
            <a:off x="4736592" y="777240"/>
            <a:ext cx="4224528" cy="2057400"/>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14"/>
          <p:cNvSpPr/>
          <p:nvPr/>
        </p:nvSpPr>
        <p:spPr>
          <a:xfrm>
            <a:off x="4736592" y="777240"/>
            <a:ext cx="4224528" cy="50292"/>
          </a:xfrm>
          <a:prstGeom prst="rect">
            <a:avLst/>
          </a:prstGeom>
          <a:solidFill>
            <a:srgbClr val="FF8C00"/>
          </a:solidFill>
          <a:ln w="12700" cap="flat" cmpd="sng">
            <a:solidFill>
              <a:srgbClr val="FF8C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14"/>
          <p:cNvSpPr/>
          <p:nvPr/>
        </p:nvSpPr>
        <p:spPr>
          <a:xfrm>
            <a:off x="4882896" y="868680"/>
            <a:ext cx="3931920" cy="32004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Engagement &amp; Social Features</a:t>
            </a:r>
            <a:endParaRPr sz="1200" b="0" i="0" u="none" strike="noStrike" cap="none">
              <a:solidFill>
                <a:schemeClr val="dk1"/>
              </a:solidFill>
              <a:latin typeface="Calibri"/>
              <a:ea typeface="Calibri"/>
              <a:cs typeface="Calibri"/>
              <a:sym typeface="Calibri"/>
            </a:endParaRPr>
          </a:p>
        </p:txBody>
      </p:sp>
      <p:sp>
        <p:nvSpPr>
          <p:cNvPr id="402" name="Google Shape;402;p14"/>
          <p:cNvSpPr/>
          <p:nvPr/>
        </p:nvSpPr>
        <p:spPr>
          <a:xfrm>
            <a:off x="4882896" y="1234440"/>
            <a:ext cx="3931920" cy="1481328"/>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C8E0EF"/>
              </a:buClr>
              <a:buSzPts val="1050"/>
              <a:buFont typeface="Calibri"/>
              <a:buChar char="•"/>
            </a:pPr>
            <a:r>
              <a:rPr lang="en-US" sz="1050" b="0" i="0" u="none" strike="noStrike" cap="none">
                <a:solidFill>
                  <a:srgbClr val="C8E0EF"/>
                </a:solidFill>
                <a:latin typeface="Calibri"/>
                <a:ea typeface="Calibri"/>
                <a:cs typeface="Calibri"/>
                <a:sym typeface="Calibri"/>
              </a:rPr>
              <a:t>has_hashtag — boolean: tweet contains #tag</a:t>
            </a:r>
            <a:endParaRPr sz="105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C8E0EF"/>
              </a:buClr>
              <a:buSzPts val="1050"/>
              <a:buFont typeface="Calibri"/>
              <a:buChar char="•"/>
            </a:pPr>
            <a:r>
              <a:rPr lang="en-US" sz="1050" b="0" i="0" u="none" strike="noStrike" cap="none">
                <a:solidFill>
                  <a:srgbClr val="C8E0EF"/>
                </a:solidFill>
                <a:latin typeface="Calibri"/>
                <a:ea typeface="Calibri"/>
                <a:cs typeface="Calibri"/>
                <a:sym typeface="Calibri"/>
              </a:rPr>
              <a:t>hashtag_count — number of #tags</a:t>
            </a:r>
            <a:endParaRPr sz="105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C8E0EF"/>
              </a:buClr>
              <a:buSzPts val="1050"/>
              <a:buFont typeface="Calibri"/>
              <a:buChar char="•"/>
            </a:pPr>
            <a:r>
              <a:rPr lang="en-US" sz="1050" b="0" i="0" u="none" strike="noStrike" cap="none">
                <a:solidFill>
                  <a:srgbClr val="C8E0EF"/>
                </a:solidFill>
                <a:latin typeface="Calibri"/>
                <a:ea typeface="Calibri"/>
                <a:cs typeface="Calibri"/>
                <a:sym typeface="Calibri"/>
              </a:rPr>
              <a:t>has_mention — boolean: tweet contains @mention</a:t>
            </a:r>
            <a:endParaRPr sz="105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C8E0EF"/>
              </a:buClr>
              <a:buSzPts val="1050"/>
              <a:buFont typeface="Calibri"/>
              <a:buChar char="•"/>
            </a:pPr>
            <a:r>
              <a:rPr lang="en-US" sz="1050" b="0" i="0" u="none" strike="noStrike" cap="none">
                <a:solidFill>
                  <a:srgbClr val="C8E0EF"/>
                </a:solidFill>
                <a:latin typeface="Calibri"/>
                <a:ea typeface="Calibri"/>
                <a:cs typeface="Calibri"/>
                <a:sym typeface="Calibri"/>
              </a:rPr>
              <a:t>mention_count — number of @mentions</a:t>
            </a:r>
            <a:endParaRPr sz="105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C8E0EF"/>
              </a:buClr>
              <a:buSzPts val="1050"/>
              <a:buFont typeface="Calibri"/>
              <a:buChar char="•"/>
            </a:pPr>
            <a:r>
              <a:rPr lang="en-US" sz="1050" b="0" i="0" u="none" strike="noStrike" cap="none">
                <a:solidFill>
                  <a:srgbClr val="C8E0EF"/>
                </a:solidFill>
                <a:latin typeface="Calibri"/>
                <a:ea typeface="Calibri"/>
                <a:cs typeface="Calibri"/>
                <a:sym typeface="Calibri"/>
              </a:rPr>
              <a:t>has_url — boolean: tweet contains URL</a:t>
            </a:r>
            <a:endParaRPr sz="105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C8E0EF"/>
              </a:buClr>
              <a:buSzPts val="1050"/>
              <a:buFont typeface="Calibri"/>
              <a:buChar char="•"/>
            </a:pPr>
            <a:r>
              <a:rPr lang="en-US" sz="1050" b="0" i="0" u="none" strike="noStrike" cap="none">
                <a:solidFill>
                  <a:srgbClr val="C8E0EF"/>
                </a:solidFill>
                <a:latin typeface="Calibri"/>
                <a:ea typeface="Calibri"/>
                <a:cs typeface="Calibri"/>
                <a:sym typeface="Calibri"/>
              </a:rPr>
              <a:t>popularity_score = retweet_count + favorite_count</a:t>
            </a:r>
            <a:endParaRPr sz="1050" b="0" i="0" u="none" strike="noStrike" cap="none">
              <a:solidFill>
                <a:schemeClr val="dk1"/>
              </a:solidFill>
              <a:latin typeface="Calibri"/>
              <a:ea typeface="Calibri"/>
              <a:cs typeface="Calibri"/>
              <a:sym typeface="Calibri"/>
            </a:endParaRPr>
          </a:p>
        </p:txBody>
      </p:sp>
      <p:sp>
        <p:nvSpPr>
          <p:cNvPr id="403" name="Google Shape;403;p14"/>
          <p:cNvSpPr/>
          <p:nvPr/>
        </p:nvSpPr>
        <p:spPr>
          <a:xfrm>
            <a:off x="256032" y="2926080"/>
            <a:ext cx="4224528" cy="50292"/>
          </a:xfrm>
          <a:prstGeom prst="rect">
            <a:avLst/>
          </a:prstGeom>
          <a:solidFill>
            <a:srgbClr val="06C17A"/>
          </a:solidFill>
          <a:ln w="12700" cap="flat" cmpd="sng">
            <a:solidFill>
              <a:srgbClr val="06C17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4"/>
          <p:cNvSpPr/>
          <p:nvPr/>
        </p:nvSpPr>
        <p:spPr>
          <a:xfrm>
            <a:off x="4736592" y="2926080"/>
            <a:ext cx="4224528" cy="50292"/>
          </a:xfrm>
          <a:prstGeom prst="rect">
            <a:avLst/>
          </a:prstGeom>
          <a:solidFill>
            <a:srgbClr val="E8445A"/>
          </a:solidFill>
          <a:ln w="12700" cap="flat" cmpd="sng">
            <a:solidFill>
              <a:srgbClr val="E8445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05" name="Google Shape;405;p14"/>
          <p:cNvPicPr preferRelativeResize="0"/>
          <p:nvPr/>
        </p:nvPicPr>
        <p:blipFill>
          <a:blip r:embed="rId3">
            <a:alphaModFix/>
          </a:blip>
          <a:stretch>
            <a:fillRect/>
          </a:stretch>
        </p:blipFill>
        <p:spPr>
          <a:xfrm>
            <a:off x="219450" y="2636450"/>
            <a:ext cx="8741677" cy="24398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410"/>
        <p:cNvGrpSpPr/>
        <p:nvPr/>
      </p:nvGrpSpPr>
      <p:grpSpPr>
        <a:xfrm>
          <a:off x="0" y="0"/>
          <a:ext cx="0" cy="0"/>
          <a:chOff x="0" y="0"/>
          <a:chExt cx="0" cy="0"/>
        </a:xfrm>
      </p:grpSpPr>
      <p:sp>
        <p:nvSpPr>
          <p:cNvPr id="411" name="Google Shape;411;p15"/>
          <p:cNvSpPr/>
          <p:nvPr/>
        </p:nvSpPr>
        <p:spPr>
          <a:xfrm>
            <a:off x="5943600" y="-731520"/>
            <a:ext cx="4572000" cy="4572000"/>
          </a:xfrm>
          <a:prstGeom prst="ellipse">
            <a:avLst/>
          </a:prstGeom>
          <a:solidFill>
            <a:srgbClr val="06C17A">
              <a:alpha val="12156"/>
            </a:srgbClr>
          </a:solidFill>
          <a:ln w="12700" cap="flat" cmpd="sng">
            <a:solidFill>
              <a:srgbClr val="06C17A">
                <a:alpha val="12156"/>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5"/>
          <p:cNvSpPr/>
          <p:nvPr/>
        </p:nvSpPr>
        <p:spPr>
          <a:xfrm>
            <a:off x="-914400" y="1828800"/>
            <a:ext cx="3200400" cy="3200400"/>
          </a:xfrm>
          <a:prstGeom prst="ellipse">
            <a:avLst/>
          </a:prstGeom>
          <a:solidFill>
            <a:srgbClr val="00C2D4">
              <a:alpha val="7843"/>
            </a:srgbClr>
          </a:solidFill>
          <a:ln w="12700" cap="flat" cmpd="sng">
            <a:solidFill>
              <a:srgbClr val="00C2D4">
                <a:alpha val="784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15"/>
          <p:cNvSpPr/>
          <p:nvPr/>
        </p:nvSpPr>
        <p:spPr>
          <a:xfrm>
            <a:off x="548640" y="1645920"/>
            <a:ext cx="91440" cy="1828800"/>
          </a:xfrm>
          <a:prstGeom prst="rect">
            <a:avLst/>
          </a:prstGeom>
          <a:solidFill>
            <a:srgbClr val="06C17A"/>
          </a:solidFill>
          <a:ln w="12700" cap="flat" cmpd="sng">
            <a:solidFill>
              <a:srgbClr val="06C17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5"/>
          <p:cNvSpPr/>
          <p:nvPr/>
        </p:nvSpPr>
        <p:spPr>
          <a:xfrm>
            <a:off x="777240" y="1554480"/>
            <a:ext cx="2743200" cy="5029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6C17A"/>
              </a:buClr>
              <a:buSzPts val="1300"/>
              <a:buFont typeface="Calibri"/>
              <a:buNone/>
            </a:pPr>
            <a:r>
              <a:rPr lang="en-US" sz="1300" b="1" i="0" u="none" strike="noStrike" cap="none">
                <a:solidFill>
                  <a:srgbClr val="06C17A"/>
                </a:solidFill>
                <a:latin typeface="Calibri"/>
                <a:ea typeface="Calibri"/>
                <a:cs typeface="Calibri"/>
                <a:sym typeface="Calibri"/>
              </a:rPr>
              <a:t>SECTION 03</a:t>
            </a:r>
            <a:endParaRPr sz="1300" b="0" i="0" u="none" strike="noStrike" cap="none">
              <a:solidFill>
                <a:schemeClr val="dk1"/>
              </a:solidFill>
              <a:latin typeface="Calibri"/>
              <a:ea typeface="Calibri"/>
              <a:cs typeface="Calibri"/>
              <a:sym typeface="Calibri"/>
            </a:endParaRPr>
          </a:p>
        </p:txBody>
      </p:sp>
      <p:sp>
        <p:nvSpPr>
          <p:cNvPr id="415" name="Google Shape;415;p15"/>
          <p:cNvSpPr/>
          <p:nvPr/>
        </p:nvSpPr>
        <p:spPr>
          <a:xfrm>
            <a:off x="777240" y="2011680"/>
            <a:ext cx="6858000" cy="10972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4000"/>
              <a:buFont typeface="Calibri"/>
              <a:buNone/>
            </a:pPr>
            <a:r>
              <a:rPr lang="en-US" sz="4000" b="1" i="0" u="none" strike="noStrike" cap="none">
                <a:solidFill>
                  <a:srgbClr val="FFFFFF"/>
                </a:solidFill>
                <a:latin typeface="Calibri"/>
                <a:ea typeface="Calibri"/>
                <a:cs typeface="Calibri"/>
                <a:sym typeface="Calibri"/>
              </a:rPr>
              <a:t>EXPLORATORY DATA ANALYSIS</a:t>
            </a:r>
            <a:endParaRPr sz="40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420"/>
        <p:cNvGrpSpPr/>
        <p:nvPr/>
      </p:nvGrpSpPr>
      <p:grpSpPr>
        <a:xfrm>
          <a:off x="0" y="0"/>
          <a:ext cx="0" cy="0"/>
          <a:chOff x="0" y="0"/>
          <a:chExt cx="0" cy="0"/>
        </a:xfrm>
      </p:grpSpPr>
      <p:sp>
        <p:nvSpPr>
          <p:cNvPr id="421" name="Google Shape;421;p16"/>
          <p:cNvSpPr/>
          <p:nvPr/>
        </p:nvSpPr>
        <p:spPr>
          <a:xfrm>
            <a:off x="0" y="0"/>
            <a:ext cx="9144000" cy="621792"/>
          </a:xfrm>
          <a:prstGeom prst="rect">
            <a:avLst/>
          </a:prstGeom>
          <a:solidFill>
            <a:srgbClr val="112236"/>
          </a:solidFill>
          <a:ln w="12700" cap="flat" cmpd="sng">
            <a:solidFill>
              <a:srgbClr val="1122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16"/>
          <p:cNvSpPr/>
          <p:nvPr/>
        </p:nvSpPr>
        <p:spPr>
          <a:xfrm>
            <a:off x="0" y="0"/>
            <a:ext cx="128016" cy="621792"/>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6"/>
          <p:cNvSpPr/>
          <p:nvPr/>
        </p:nvSpPr>
        <p:spPr>
          <a:xfrm>
            <a:off x="219456" y="0"/>
            <a:ext cx="877824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03.1  EDA — Word Frequency </a:t>
            </a:r>
            <a:endParaRPr sz="2000" b="0" i="0" u="none" strike="noStrike" cap="none">
              <a:solidFill>
                <a:schemeClr val="dk1"/>
              </a:solidFill>
              <a:latin typeface="Calibri"/>
              <a:ea typeface="Calibri"/>
              <a:cs typeface="Calibri"/>
              <a:sym typeface="Calibri"/>
            </a:endParaRPr>
          </a:p>
        </p:txBody>
      </p:sp>
      <p:sp>
        <p:nvSpPr>
          <p:cNvPr id="424" name="Google Shape;424;p16"/>
          <p:cNvSpPr/>
          <p:nvPr/>
        </p:nvSpPr>
        <p:spPr>
          <a:xfrm>
            <a:off x="6217925" y="749798"/>
            <a:ext cx="2651700" cy="3351300"/>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25" name="Google Shape;425;p16"/>
          <p:cNvSpPr/>
          <p:nvPr/>
        </p:nvSpPr>
        <p:spPr>
          <a:xfrm>
            <a:off x="6364224" y="822960"/>
            <a:ext cx="2377440"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A623"/>
              </a:buClr>
              <a:buSzPts val="1100"/>
              <a:buFont typeface="Calibri"/>
              <a:buNone/>
            </a:pPr>
            <a:r>
              <a:rPr lang="en-US" sz="1100" b="1" i="0" u="none" strike="noStrike" cap="none" dirty="0">
                <a:solidFill>
                  <a:srgbClr val="F5A623"/>
                </a:solidFill>
                <a:latin typeface="Calibri"/>
                <a:ea typeface="Calibri"/>
                <a:cs typeface="Calibri"/>
                <a:sym typeface="Calibri"/>
              </a:rPr>
              <a:t>Key Findings</a:t>
            </a:r>
            <a:endParaRPr sz="1100" b="0" i="0" u="none" strike="noStrike" cap="none" dirty="0">
              <a:solidFill>
                <a:schemeClr val="dk1"/>
              </a:solidFill>
              <a:latin typeface="Calibri"/>
              <a:ea typeface="Calibri"/>
              <a:cs typeface="Calibri"/>
              <a:sym typeface="Calibri"/>
            </a:endParaRPr>
          </a:p>
        </p:txBody>
      </p:sp>
      <p:sp>
        <p:nvSpPr>
          <p:cNvPr id="429" name="Google Shape;429;p16"/>
          <p:cNvSpPr/>
          <p:nvPr/>
        </p:nvSpPr>
        <p:spPr>
          <a:xfrm>
            <a:off x="6492240" y="1828800"/>
            <a:ext cx="2249400" cy="201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90AA"/>
              </a:buClr>
              <a:buSzPts val="900"/>
              <a:buFont typeface="Calibri"/>
              <a:buNone/>
            </a:pPr>
            <a:endParaRPr sz="900" b="0" i="0" u="none" strike="noStrike" cap="none">
              <a:solidFill>
                <a:schemeClr val="dk1"/>
              </a:solidFill>
              <a:latin typeface="Calibri"/>
              <a:ea typeface="Calibri"/>
              <a:cs typeface="Calibri"/>
              <a:sym typeface="Calibri"/>
            </a:endParaRPr>
          </a:p>
        </p:txBody>
      </p:sp>
      <p:pic>
        <p:nvPicPr>
          <p:cNvPr id="430" name="Google Shape;430;p16"/>
          <p:cNvPicPr preferRelativeResize="0"/>
          <p:nvPr/>
        </p:nvPicPr>
        <p:blipFill>
          <a:blip r:embed="rId3">
            <a:alphaModFix/>
          </a:blip>
          <a:stretch>
            <a:fillRect/>
          </a:stretch>
        </p:blipFill>
        <p:spPr>
          <a:xfrm>
            <a:off x="189825" y="780173"/>
            <a:ext cx="5913125" cy="3409650"/>
          </a:xfrm>
          <a:prstGeom prst="rect">
            <a:avLst/>
          </a:prstGeom>
          <a:noFill/>
          <a:ln>
            <a:noFill/>
          </a:ln>
        </p:spPr>
      </p:pic>
      <p:sp>
        <p:nvSpPr>
          <p:cNvPr id="6" name="Rectangle 2">
            <a:extLst>
              <a:ext uri="{FF2B5EF4-FFF2-40B4-BE49-F238E27FC236}">
                <a16:creationId xmlns:a16="http://schemas.microsoft.com/office/drawing/2014/main" id="{6DC6F6EE-A808-F42D-10E7-6D24774B5786}"/>
              </a:ext>
            </a:extLst>
          </p:cNvPr>
          <p:cNvSpPr>
            <a:spLocks noChangeArrowheads="1"/>
          </p:cNvSpPr>
          <p:nvPr/>
        </p:nvSpPr>
        <p:spPr bwMode="auto">
          <a:xfrm>
            <a:off x="6217925" y="1243574"/>
            <a:ext cx="25599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The most frequent word is </a:t>
            </a:r>
            <a:r>
              <a:rPr kumimoji="0" lang="en-US" altLang="en-US" sz="9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“vote”</a:t>
            </a:r>
          </a:p>
          <a:p>
            <a:pPr marR="0" lvl="0" algn="l" defTabSz="914400" rtl="0" eaLnBrk="0" fontAlgn="base" latinLnBrk="0" hangingPunct="0">
              <a:lnSpc>
                <a:spcPct val="100000"/>
              </a:lnSpc>
              <a:spcBef>
                <a:spcPct val="0"/>
              </a:spcBef>
              <a:spcAft>
                <a:spcPct val="0"/>
              </a:spcAft>
              <a:buClrTx/>
              <a:buSzTx/>
              <a:tabLst/>
            </a:pPr>
            <a:endParaRPr kumimoji="0" lang="en-US" altLang="en-US" sz="9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914400" rtl="0" eaLnBrk="0" fontAlgn="base" latinLnBrk="0" hangingPunct="0">
              <a:lnSpc>
                <a:spcPct val="100000"/>
              </a:lnSpc>
              <a:spcBef>
                <a:spcPct val="0"/>
              </a:spcBef>
              <a:spcAft>
                <a:spcPct val="0"/>
              </a:spcAft>
              <a:buClrTx/>
              <a:buSzTx/>
              <a:buFontTx/>
              <a:buChar char="-"/>
              <a:tabLst/>
            </a:pPr>
            <a:r>
              <a:rPr kumimoji="0" lang="en-US" altLang="en-US" sz="9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Highly common words such as </a:t>
            </a:r>
            <a:r>
              <a:rPr kumimoji="0" lang="en-US" altLang="en-US" sz="9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“labor,” “party,” “people,”</a:t>
            </a:r>
            <a:r>
              <a:rPr kumimoji="0" lang="en-US" altLang="en-US" sz="9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and </a:t>
            </a:r>
            <a:r>
              <a:rPr kumimoji="0" lang="en-US" altLang="en-US" sz="9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“liberal”</a:t>
            </a:r>
            <a:endParaRPr kumimoji="0" lang="en-US" altLang="en-US" sz="9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435"/>
        <p:cNvGrpSpPr/>
        <p:nvPr/>
      </p:nvGrpSpPr>
      <p:grpSpPr>
        <a:xfrm>
          <a:off x="0" y="0"/>
          <a:ext cx="0" cy="0"/>
          <a:chOff x="0" y="0"/>
          <a:chExt cx="0" cy="0"/>
        </a:xfrm>
      </p:grpSpPr>
      <p:sp>
        <p:nvSpPr>
          <p:cNvPr id="436" name="Google Shape;436;p17"/>
          <p:cNvSpPr/>
          <p:nvPr/>
        </p:nvSpPr>
        <p:spPr>
          <a:xfrm>
            <a:off x="0" y="0"/>
            <a:ext cx="9144000" cy="621900"/>
          </a:xfrm>
          <a:prstGeom prst="rect">
            <a:avLst/>
          </a:prstGeom>
          <a:solidFill>
            <a:srgbClr val="112236"/>
          </a:solidFill>
          <a:ln w="12700" cap="flat" cmpd="sng">
            <a:solidFill>
              <a:srgbClr val="1122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17"/>
          <p:cNvSpPr/>
          <p:nvPr/>
        </p:nvSpPr>
        <p:spPr>
          <a:xfrm>
            <a:off x="0" y="0"/>
            <a:ext cx="128100" cy="621900"/>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17"/>
          <p:cNvSpPr/>
          <p:nvPr/>
        </p:nvSpPr>
        <p:spPr>
          <a:xfrm>
            <a:off x="219456" y="0"/>
            <a:ext cx="8778300" cy="621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1F2A3C"/>
              </a:buClr>
              <a:buSzPts val="2800"/>
              <a:buFont typeface="Calibri"/>
              <a:buNone/>
            </a:pPr>
            <a:r>
              <a:rPr lang="en-US" sz="2000" b="1">
                <a:solidFill>
                  <a:schemeClr val="lt1"/>
                </a:solidFill>
                <a:latin typeface="Calibri"/>
                <a:ea typeface="Calibri"/>
                <a:cs typeface="Calibri"/>
                <a:sym typeface="Calibri"/>
              </a:rPr>
              <a:t>03.1  EDA —</a:t>
            </a:r>
            <a:r>
              <a:rPr lang="en-US" sz="1900" b="1">
                <a:solidFill>
                  <a:schemeClr val="lt1"/>
                </a:solidFill>
                <a:latin typeface="Calibri"/>
                <a:ea typeface="Calibri"/>
                <a:cs typeface="Calibri"/>
                <a:sym typeface="Calibri"/>
              </a:rPr>
              <a:t>Word Clouds : Content vs. User Profiles</a:t>
            </a:r>
            <a:endParaRPr sz="1900" b="1">
              <a:solidFill>
                <a:schemeClr val="lt1"/>
              </a:solidFill>
              <a:latin typeface="Calibri"/>
              <a:ea typeface="Calibri"/>
              <a:cs typeface="Calibri"/>
              <a:sym typeface="Calibri"/>
            </a:endParaRPr>
          </a:p>
        </p:txBody>
      </p:sp>
      <p:sp>
        <p:nvSpPr>
          <p:cNvPr id="439" name="Google Shape;439;p17"/>
          <p:cNvSpPr/>
          <p:nvPr/>
        </p:nvSpPr>
        <p:spPr>
          <a:xfrm>
            <a:off x="6364224" y="2084832"/>
            <a:ext cx="63900" cy="329100"/>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17"/>
          <p:cNvSpPr/>
          <p:nvPr/>
        </p:nvSpPr>
        <p:spPr>
          <a:xfrm>
            <a:off x="6364224" y="2542032"/>
            <a:ext cx="63900" cy="329100"/>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17"/>
          <p:cNvSpPr/>
          <p:nvPr/>
        </p:nvSpPr>
        <p:spPr>
          <a:xfrm>
            <a:off x="6364224" y="2999232"/>
            <a:ext cx="63900" cy="329100"/>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42" name="Google Shape;442;p17" descr="fig_024_0.png"/>
          <p:cNvPicPr preferRelativeResize="0"/>
          <p:nvPr/>
        </p:nvPicPr>
        <p:blipFill rotWithShape="1">
          <a:blip r:embed="rId3">
            <a:alphaModFix/>
          </a:blip>
          <a:srcRect/>
          <a:stretch/>
        </p:blipFill>
        <p:spPr>
          <a:xfrm>
            <a:off x="219438" y="882569"/>
            <a:ext cx="8625473" cy="2107973"/>
          </a:xfrm>
          <a:prstGeom prst="rect">
            <a:avLst/>
          </a:prstGeom>
          <a:noFill/>
          <a:ln>
            <a:noFill/>
          </a:ln>
        </p:spPr>
      </p:pic>
      <p:sp>
        <p:nvSpPr>
          <p:cNvPr id="443" name="Google Shape;443;p17"/>
          <p:cNvSpPr/>
          <p:nvPr/>
        </p:nvSpPr>
        <p:spPr>
          <a:xfrm>
            <a:off x="219450" y="2990543"/>
            <a:ext cx="8625300" cy="2152957"/>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285750" lvl="0" indent="-285750" eaLnBrk="0" fontAlgn="base" hangingPunct="0">
              <a:spcBef>
                <a:spcPct val="0"/>
              </a:spcBef>
              <a:spcAft>
                <a:spcPct val="0"/>
              </a:spcAft>
              <a:buClrTx/>
              <a:buFont typeface="Arial" panose="020B0604020202020204" pitchFamily="34" charset="0"/>
              <a:buChar char="•"/>
            </a:pPr>
            <a:r>
              <a:rPr lang="en-US" altLang="en-US" dirty="0">
                <a:solidFill>
                  <a:schemeClr val="bg1"/>
                </a:solidFill>
                <a:latin typeface="Calibri" panose="020F0502020204030204" pitchFamily="34" charset="0"/>
                <a:ea typeface="Calibri" panose="020F0502020204030204" pitchFamily="34" charset="0"/>
                <a:cs typeface="Calibri" panose="020F0502020204030204" pitchFamily="34" charset="0"/>
              </a:rPr>
              <a:t>The largest words such as </a:t>
            </a:r>
            <a:r>
              <a:rPr lang="en-US" altLang="en-US" b="1" dirty="0">
                <a:solidFill>
                  <a:schemeClr val="bg1"/>
                </a:solidFill>
                <a:latin typeface="Calibri" panose="020F0502020204030204" pitchFamily="34" charset="0"/>
                <a:ea typeface="Calibri" panose="020F0502020204030204" pitchFamily="34" charset="0"/>
                <a:cs typeface="Calibri" panose="020F0502020204030204" pitchFamily="34" charset="0"/>
              </a:rPr>
              <a:t>“vote,” “labor,” “people,” “one,” and “get”</a:t>
            </a:r>
            <a:r>
              <a:rPr lang="en-US" altLang="en-US" dirty="0">
                <a:solidFill>
                  <a:schemeClr val="bg1"/>
                </a:solidFill>
                <a:latin typeface="Calibri" panose="020F0502020204030204" pitchFamily="34" charset="0"/>
                <a:ea typeface="Calibri" panose="020F0502020204030204" pitchFamily="34" charset="0"/>
                <a:cs typeface="Calibri" panose="020F0502020204030204" pitchFamily="34" charset="0"/>
              </a:rPr>
              <a:t> indicate the most frequent terms in tweets </a:t>
            </a:r>
          </a:p>
          <a:p>
            <a:pPr marL="285750" lvl="0" indent="-285750" eaLnBrk="0" fontAlgn="base" hangingPunct="0">
              <a:spcBef>
                <a:spcPct val="0"/>
              </a:spcBef>
              <a:spcAft>
                <a:spcPct val="0"/>
              </a:spcAft>
              <a:buClrTx/>
              <a:buFont typeface="Arial" panose="020B0604020202020204" pitchFamily="34" charset="0"/>
              <a:buChar char="•"/>
            </a:pPr>
            <a:r>
              <a:rPr lang="en-US" altLang="en-US" dirty="0">
                <a:solidFill>
                  <a:schemeClr val="bg1"/>
                </a:solidFill>
                <a:latin typeface="Calibri" panose="020F0502020204030204" pitchFamily="34" charset="0"/>
                <a:ea typeface="Calibri" panose="020F0502020204030204" pitchFamily="34" charset="0"/>
                <a:cs typeface="Calibri" panose="020F0502020204030204" pitchFamily="34" charset="0"/>
              </a:rPr>
              <a:t>Strong presence of political terms like </a:t>
            </a:r>
            <a:r>
              <a:rPr lang="en-US" altLang="en-US" b="1" dirty="0">
                <a:solidFill>
                  <a:schemeClr val="bg1"/>
                </a:solidFill>
                <a:latin typeface="Calibri" panose="020F0502020204030204" pitchFamily="34" charset="0"/>
                <a:ea typeface="Calibri" panose="020F0502020204030204" pitchFamily="34" charset="0"/>
                <a:cs typeface="Calibri" panose="020F0502020204030204" pitchFamily="34" charset="0"/>
              </a:rPr>
              <a:t>“prime minister,” “policy,” “government,”</a:t>
            </a:r>
            <a:r>
              <a:rPr lang="en-US" altLang="en-US" dirty="0">
                <a:solidFill>
                  <a:schemeClr val="bg1"/>
                </a:solidFill>
                <a:latin typeface="Calibri" panose="020F0502020204030204" pitchFamily="34" charset="0"/>
                <a:ea typeface="Calibri" panose="020F0502020204030204" pitchFamily="34" charset="0"/>
                <a:cs typeface="Calibri" panose="020F0502020204030204" pitchFamily="34" charset="0"/>
              </a:rPr>
              <a:t> and </a:t>
            </a:r>
            <a:r>
              <a:rPr lang="en-US" altLang="en-US" b="1" dirty="0">
                <a:solidFill>
                  <a:schemeClr val="bg1"/>
                </a:solidFill>
                <a:latin typeface="Calibri" panose="020F0502020204030204" pitchFamily="34" charset="0"/>
                <a:ea typeface="Calibri" panose="020F0502020204030204" pitchFamily="34" charset="0"/>
                <a:cs typeface="Calibri" panose="020F0502020204030204" pitchFamily="34" charset="0"/>
              </a:rPr>
              <a:t>“bill”</a:t>
            </a:r>
            <a:r>
              <a:rPr lang="en-US" altLang="en-US" dirty="0">
                <a:solidFill>
                  <a:schemeClr val="bg1"/>
                </a:solidFill>
                <a:latin typeface="Calibri" panose="020F0502020204030204" pitchFamily="34" charset="0"/>
                <a:ea typeface="Calibri" panose="020F0502020204030204" pitchFamily="34" charset="0"/>
                <a:cs typeface="Calibri" panose="020F0502020204030204" pitchFamily="34" charset="0"/>
              </a:rPr>
              <a:t> </a:t>
            </a:r>
          </a:p>
          <a:p>
            <a:pPr marL="285750" lvl="0" indent="-285750" eaLnBrk="0" fontAlgn="base" hangingPunct="0">
              <a:spcBef>
                <a:spcPct val="0"/>
              </a:spcBef>
              <a:spcAft>
                <a:spcPct val="0"/>
              </a:spcAft>
              <a:buClrTx/>
              <a:buFont typeface="Arial" panose="020B0604020202020204" pitchFamily="34" charset="0"/>
              <a:buChar char="•"/>
            </a:pPr>
            <a:r>
              <a:rPr lang="en-US" altLang="en-US" dirty="0">
                <a:solidFill>
                  <a:schemeClr val="bg1"/>
                </a:solidFill>
                <a:latin typeface="Calibri" panose="020F0502020204030204" pitchFamily="34" charset="0"/>
                <a:ea typeface="Calibri" panose="020F0502020204030204" pitchFamily="34" charset="0"/>
                <a:cs typeface="Calibri" panose="020F0502020204030204" pitchFamily="34" charset="0"/>
              </a:rPr>
              <a:t>Mentions of political figures such as </a:t>
            </a:r>
            <a:r>
              <a:rPr lang="en-US" altLang="en-US" b="1" dirty="0">
                <a:solidFill>
                  <a:schemeClr val="bg1"/>
                </a:solidFill>
                <a:latin typeface="Calibri" panose="020F0502020204030204" pitchFamily="34" charset="0"/>
                <a:ea typeface="Calibri" panose="020F0502020204030204" pitchFamily="34" charset="0"/>
                <a:cs typeface="Calibri" panose="020F0502020204030204" pitchFamily="34" charset="0"/>
              </a:rPr>
              <a:t>“Scott Morrison”</a:t>
            </a:r>
            <a:r>
              <a:rPr lang="en-US" altLang="en-US" dirty="0">
                <a:solidFill>
                  <a:schemeClr val="bg1"/>
                </a:solidFill>
                <a:latin typeface="Calibri" panose="020F0502020204030204" pitchFamily="34" charset="0"/>
                <a:ea typeface="Calibri" panose="020F0502020204030204" pitchFamily="34" charset="0"/>
                <a:cs typeface="Calibri" panose="020F0502020204030204" pitchFamily="34" charset="0"/>
              </a:rPr>
              <a:t> and </a:t>
            </a:r>
            <a:r>
              <a:rPr lang="en-US" altLang="en-US" b="1" dirty="0">
                <a:solidFill>
                  <a:schemeClr val="bg1"/>
                </a:solidFill>
                <a:latin typeface="Calibri" panose="020F0502020204030204" pitchFamily="34" charset="0"/>
                <a:ea typeface="Calibri" panose="020F0502020204030204" pitchFamily="34" charset="0"/>
                <a:cs typeface="Calibri" panose="020F0502020204030204" pitchFamily="34" charset="0"/>
              </a:rPr>
              <a:t>“Bob Hawke”</a:t>
            </a:r>
            <a:r>
              <a:rPr lang="en-US" altLang="en-US" dirty="0">
                <a:solidFill>
                  <a:schemeClr val="bg1"/>
                </a:solidFill>
                <a:latin typeface="Calibri" panose="020F0502020204030204" pitchFamily="34" charset="0"/>
                <a:ea typeface="Calibri" panose="020F0502020204030204" pitchFamily="34" charset="0"/>
                <a:cs typeface="Calibri" panose="020F0502020204030204" pitchFamily="34" charset="0"/>
              </a:rPr>
              <a:t> </a:t>
            </a:r>
          </a:p>
          <a:p>
            <a:pPr marL="457200" lvl="0" indent="-311150" algn="l" rtl="0">
              <a:lnSpc>
                <a:spcPct val="150000"/>
              </a:lnSpc>
              <a:spcBef>
                <a:spcPts val="0"/>
              </a:spcBef>
              <a:spcAft>
                <a:spcPts val="0"/>
              </a:spcAft>
              <a:buClr>
                <a:schemeClr val="lt1"/>
              </a:buClr>
              <a:buSzPts val="1300"/>
              <a:buChar char="●"/>
            </a:pPr>
            <a:endParaRPr dirty="0">
              <a:solidFill>
                <a:schemeClr val="lt1"/>
              </a:solidFill>
              <a:latin typeface="Calibri" panose="020F0502020204030204" pitchFamily="34" charset="0"/>
              <a:ea typeface="Calibri" panose="020F0502020204030204" pitchFamily="34" charset="0"/>
              <a:cs typeface="Calibri" panose="020F0502020204030204" pitchFamily="34" charset="0"/>
            </a:endParaRPr>
          </a:p>
        </p:txBody>
      </p:sp>
      <p:sp>
        <p:nvSpPr>
          <p:cNvPr id="444" name="Google Shape;444;p17"/>
          <p:cNvSpPr/>
          <p:nvPr/>
        </p:nvSpPr>
        <p:spPr>
          <a:xfrm>
            <a:off x="299250" y="3124032"/>
            <a:ext cx="5517600" cy="2043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A623"/>
              </a:buClr>
              <a:buSzPts val="1100"/>
              <a:buFont typeface="Calibri"/>
              <a:buNone/>
            </a:pPr>
            <a:r>
              <a:rPr lang="en-US" sz="2000" b="1" i="0" u="none" strike="noStrike" cap="none" dirty="0">
                <a:solidFill>
                  <a:srgbClr val="F5A623"/>
                </a:solidFill>
                <a:latin typeface="Calibri"/>
                <a:ea typeface="Calibri"/>
                <a:cs typeface="Calibri"/>
                <a:sym typeface="Calibri"/>
              </a:rPr>
              <a:t>Key Findings</a:t>
            </a:r>
            <a:endParaRPr sz="2000" b="0" i="0" u="none" strike="noStrike" cap="none" dirty="0">
              <a:solidFill>
                <a:schemeClr val="dk1"/>
              </a:solidFill>
              <a:latin typeface="Calibri"/>
              <a:ea typeface="Calibri"/>
              <a:cs typeface="Calibri"/>
              <a:sym typeface="Calibri"/>
            </a:endParaRPr>
          </a:p>
        </p:txBody>
      </p:sp>
      <p:sp>
        <p:nvSpPr>
          <p:cNvPr id="7" name="Rectangle 6">
            <a:extLst>
              <a:ext uri="{FF2B5EF4-FFF2-40B4-BE49-F238E27FC236}">
                <a16:creationId xmlns:a16="http://schemas.microsoft.com/office/drawing/2014/main" id="{B8B090C6-7516-6787-113C-383D20355D11}"/>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449"/>
        <p:cNvGrpSpPr/>
        <p:nvPr/>
      </p:nvGrpSpPr>
      <p:grpSpPr>
        <a:xfrm>
          <a:off x="0" y="0"/>
          <a:ext cx="0" cy="0"/>
          <a:chOff x="0" y="0"/>
          <a:chExt cx="0" cy="0"/>
        </a:xfrm>
      </p:grpSpPr>
      <p:sp>
        <p:nvSpPr>
          <p:cNvPr id="450" name="Google Shape;450;p18"/>
          <p:cNvSpPr/>
          <p:nvPr/>
        </p:nvSpPr>
        <p:spPr>
          <a:xfrm>
            <a:off x="0" y="0"/>
            <a:ext cx="9144000" cy="621792"/>
          </a:xfrm>
          <a:prstGeom prst="rect">
            <a:avLst/>
          </a:prstGeom>
          <a:solidFill>
            <a:srgbClr val="112236"/>
          </a:solidFill>
          <a:ln w="12700" cap="flat" cmpd="sng">
            <a:solidFill>
              <a:srgbClr val="1122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8"/>
          <p:cNvSpPr/>
          <p:nvPr/>
        </p:nvSpPr>
        <p:spPr>
          <a:xfrm>
            <a:off x="0" y="0"/>
            <a:ext cx="128016" cy="621792"/>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18"/>
          <p:cNvSpPr/>
          <p:nvPr/>
        </p:nvSpPr>
        <p:spPr>
          <a:xfrm>
            <a:off x="219456" y="0"/>
            <a:ext cx="877824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03.1  EDA — Tweet Activity Over Time</a:t>
            </a:r>
            <a:endParaRPr sz="2000" b="0" i="0" u="none" strike="noStrike" cap="none">
              <a:solidFill>
                <a:schemeClr val="dk1"/>
              </a:solidFill>
              <a:latin typeface="Calibri"/>
              <a:ea typeface="Calibri"/>
              <a:cs typeface="Calibri"/>
              <a:sym typeface="Calibri"/>
            </a:endParaRPr>
          </a:p>
        </p:txBody>
      </p:sp>
      <p:sp>
        <p:nvSpPr>
          <p:cNvPr id="453" name="Google Shape;453;p18"/>
          <p:cNvSpPr/>
          <p:nvPr/>
        </p:nvSpPr>
        <p:spPr>
          <a:xfrm>
            <a:off x="5833872" y="749808"/>
            <a:ext cx="3035808" cy="2331720"/>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8"/>
          <p:cNvSpPr/>
          <p:nvPr/>
        </p:nvSpPr>
        <p:spPr>
          <a:xfrm>
            <a:off x="5980176" y="822960"/>
            <a:ext cx="2743200"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A623"/>
              </a:buClr>
              <a:buSzPts val="1100"/>
              <a:buFont typeface="Calibri"/>
              <a:buNone/>
            </a:pPr>
            <a:r>
              <a:rPr lang="en-US" sz="1100" b="1" i="0" u="none" strike="noStrike" cap="none">
                <a:solidFill>
                  <a:srgbClr val="F5A623"/>
                </a:solidFill>
                <a:latin typeface="Calibri"/>
                <a:ea typeface="Calibri"/>
                <a:cs typeface="Calibri"/>
                <a:sym typeface="Calibri"/>
              </a:rPr>
              <a:t>Daily Volume Insights</a:t>
            </a:r>
            <a:endParaRPr sz="1100" b="0" i="0" u="none" strike="noStrike" cap="none">
              <a:solidFill>
                <a:schemeClr val="dk1"/>
              </a:solidFill>
              <a:latin typeface="Calibri"/>
              <a:ea typeface="Calibri"/>
              <a:cs typeface="Calibri"/>
              <a:sym typeface="Calibri"/>
            </a:endParaRPr>
          </a:p>
        </p:txBody>
      </p:sp>
      <p:sp>
        <p:nvSpPr>
          <p:cNvPr id="455" name="Google Shape;455;p18"/>
          <p:cNvSpPr/>
          <p:nvPr/>
        </p:nvSpPr>
        <p:spPr>
          <a:xfrm>
            <a:off x="5980176" y="1170432"/>
            <a:ext cx="2743200" cy="173736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C8E0EF"/>
              </a:buClr>
              <a:buSzPts val="1000"/>
              <a:buFont typeface="Calibri"/>
              <a:buChar char="•"/>
            </a:pPr>
            <a:r>
              <a:rPr lang="en-US" sz="1000" b="0" i="0" u="none" strike="noStrike" cap="none">
                <a:solidFill>
                  <a:srgbClr val="C8E0EF"/>
                </a:solidFill>
                <a:latin typeface="Calibri"/>
                <a:ea typeface="Calibri"/>
                <a:cs typeface="Calibri"/>
                <a:sym typeface="Calibri"/>
              </a:rPr>
              <a:t>Steady rise May 10 → May 17</a:t>
            </a:r>
            <a:endParaRPr sz="100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C8E0EF"/>
              </a:buClr>
              <a:buSzPts val="1000"/>
              <a:buFont typeface="Calibri"/>
              <a:buChar char="•"/>
            </a:pPr>
            <a:r>
              <a:rPr lang="en-US" sz="1000" b="0" i="0" u="none" strike="noStrike" cap="none">
                <a:solidFill>
                  <a:srgbClr val="C8E0EF"/>
                </a:solidFill>
                <a:latin typeface="Calibri"/>
                <a:ea typeface="Calibri"/>
                <a:cs typeface="Calibri"/>
                <a:sym typeface="Calibri"/>
              </a:rPr>
              <a:t>Peak on May 18 (Election Day): ~</a:t>
            </a:r>
            <a:r>
              <a:rPr lang="en-US" sz="1000">
                <a:solidFill>
                  <a:srgbClr val="C8E0EF"/>
                </a:solidFill>
                <a:latin typeface="Calibri"/>
                <a:ea typeface="Calibri"/>
                <a:cs typeface="Calibri"/>
                <a:sym typeface="Calibri"/>
              </a:rPr>
              <a:t>63</a:t>
            </a:r>
            <a:r>
              <a:rPr lang="en-US" sz="1000" b="0" i="0" u="none" strike="noStrike" cap="none">
                <a:solidFill>
                  <a:srgbClr val="C8E0EF"/>
                </a:solidFill>
                <a:latin typeface="Calibri"/>
                <a:ea typeface="Calibri"/>
                <a:cs typeface="Calibri"/>
                <a:sym typeface="Calibri"/>
              </a:rPr>
              <a:t>K tweets </a:t>
            </a:r>
            <a:endParaRPr sz="1000">
              <a:solidFill>
                <a:srgbClr val="C8E0EF"/>
              </a:solidFill>
              <a:latin typeface="Calibri"/>
              <a:ea typeface="Calibri"/>
              <a:cs typeface="Calibri"/>
              <a:sym typeface="Calibri"/>
            </a:endParaRPr>
          </a:p>
          <a:p>
            <a:pPr marL="342900" marR="0" lvl="0" indent="-342900" algn="l" rtl="0">
              <a:spcBef>
                <a:spcPts val="0"/>
              </a:spcBef>
              <a:spcAft>
                <a:spcPts val="0"/>
              </a:spcAft>
              <a:buClr>
                <a:srgbClr val="C8E0EF"/>
              </a:buClr>
              <a:buSzPts val="1000"/>
              <a:buFont typeface="Calibri"/>
              <a:buChar char="•"/>
            </a:pPr>
            <a:r>
              <a:rPr lang="en-US" sz="1000" b="0" i="0" u="none" strike="noStrike" cap="none">
                <a:solidFill>
                  <a:srgbClr val="C8E0EF"/>
                </a:solidFill>
                <a:latin typeface="Calibri"/>
                <a:ea typeface="Calibri"/>
                <a:cs typeface="Calibri"/>
                <a:sym typeface="Calibri"/>
              </a:rPr>
              <a:t>Sharp drop May 19 post-results</a:t>
            </a:r>
            <a:endParaRPr sz="10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None/>
            </a:pPr>
            <a:endParaRPr sz="1000" b="0" i="0" u="none" strike="noStrike" cap="none">
              <a:solidFill>
                <a:schemeClr val="dk1"/>
              </a:solidFill>
              <a:latin typeface="Calibri"/>
              <a:ea typeface="Calibri"/>
              <a:cs typeface="Calibri"/>
              <a:sym typeface="Calibri"/>
            </a:endParaRPr>
          </a:p>
        </p:txBody>
      </p:sp>
      <p:sp>
        <p:nvSpPr>
          <p:cNvPr id="456" name="Google Shape;456;p18"/>
          <p:cNvSpPr/>
          <p:nvPr/>
        </p:nvSpPr>
        <p:spPr>
          <a:xfrm>
            <a:off x="5833872" y="3172968"/>
            <a:ext cx="3035808" cy="1828800"/>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18"/>
          <p:cNvSpPr/>
          <p:nvPr/>
        </p:nvSpPr>
        <p:spPr>
          <a:xfrm>
            <a:off x="5980176" y="3246120"/>
            <a:ext cx="2743200"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A623"/>
              </a:buClr>
              <a:buSzPts val="1100"/>
              <a:buFont typeface="Calibri"/>
              <a:buNone/>
            </a:pPr>
            <a:r>
              <a:rPr lang="en-US" sz="1100" b="1" i="0" u="none" strike="noStrike" cap="none">
                <a:solidFill>
                  <a:srgbClr val="F5A623"/>
                </a:solidFill>
                <a:latin typeface="Calibri"/>
                <a:ea typeface="Calibri"/>
                <a:cs typeface="Calibri"/>
                <a:sym typeface="Calibri"/>
              </a:rPr>
              <a:t>Hourly Pattern Insights</a:t>
            </a:r>
            <a:endParaRPr sz="1100" b="0" i="0" u="none" strike="noStrike" cap="none">
              <a:solidFill>
                <a:schemeClr val="dk1"/>
              </a:solidFill>
              <a:latin typeface="Calibri"/>
              <a:ea typeface="Calibri"/>
              <a:cs typeface="Calibri"/>
              <a:sym typeface="Calibri"/>
            </a:endParaRPr>
          </a:p>
        </p:txBody>
      </p:sp>
      <p:sp>
        <p:nvSpPr>
          <p:cNvPr id="458" name="Google Shape;458;p18"/>
          <p:cNvSpPr/>
          <p:nvPr/>
        </p:nvSpPr>
        <p:spPr>
          <a:xfrm>
            <a:off x="5980176" y="3602736"/>
            <a:ext cx="2743200" cy="1261872"/>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C8E0EF"/>
              </a:buClr>
              <a:buSzPts val="1000"/>
              <a:buFont typeface="Calibri"/>
              <a:buChar char="•"/>
            </a:pPr>
            <a:r>
              <a:rPr lang="en-US" sz="1000" b="0" i="0" u="none" strike="noStrike" cap="none">
                <a:solidFill>
                  <a:srgbClr val="C8E0EF"/>
                </a:solidFill>
                <a:latin typeface="Calibri"/>
                <a:ea typeface="Calibri"/>
                <a:cs typeface="Calibri"/>
                <a:sym typeface="Calibri"/>
              </a:rPr>
              <a:t>Peak hours: 10–12 (Australian morning news cycle)</a:t>
            </a:r>
            <a:endParaRPr sz="100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C8E0EF"/>
              </a:buClr>
              <a:buSzPts val="1000"/>
              <a:buFont typeface="Calibri"/>
              <a:buChar char="•"/>
            </a:pPr>
            <a:r>
              <a:rPr lang="en-US" sz="1000" b="0" i="0" u="none" strike="noStrike" cap="none">
                <a:solidFill>
                  <a:srgbClr val="C8E0EF"/>
                </a:solidFill>
                <a:latin typeface="Calibri"/>
                <a:ea typeface="Calibri"/>
                <a:cs typeface="Calibri"/>
                <a:sym typeface="Calibri"/>
              </a:rPr>
              <a:t>Secondary peak: late-night hours 21–23</a:t>
            </a:r>
            <a:endParaRPr sz="100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C8E0EF"/>
              </a:buClr>
              <a:buSzPts val="1000"/>
              <a:buFont typeface="Calibri"/>
              <a:buChar char="•"/>
            </a:pPr>
            <a:r>
              <a:rPr lang="en-US" sz="1000" b="0" i="0" u="none" strike="noStrike" cap="none">
                <a:solidFill>
                  <a:srgbClr val="C8E0EF"/>
                </a:solidFill>
                <a:latin typeface="Calibri"/>
                <a:ea typeface="Calibri"/>
                <a:cs typeface="Calibri"/>
                <a:sym typeface="Calibri"/>
              </a:rPr>
              <a:t>Afternoon dip: 14–17 (work hours)</a:t>
            </a:r>
            <a:endParaRPr sz="100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C8E0EF"/>
              </a:buClr>
              <a:buSzPts val="1000"/>
              <a:buFont typeface="Calibri"/>
              <a:buChar char="•"/>
            </a:pPr>
            <a:r>
              <a:rPr lang="en-US" sz="1000" b="0" i="0" u="none" strike="noStrike" cap="none">
                <a:solidFill>
                  <a:srgbClr val="C8E0EF"/>
                </a:solidFill>
                <a:latin typeface="Calibri"/>
                <a:ea typeface="Calibri"/>
                <a:cs typeface="Calibri"/>
                <a:sym typeface="Calibri"/>
              </a:rPr>
              <a:t>Time zone effect: international tweets contribute to off-peak spikes</a:t>
            </a:r>
            <a:endParaRPr sz="1000" b="0" i="0" u="none" strike="noStrike" cap="none">
              <a:solidFill>
                <a:schemeClr val="dk1"/>
              </a:solidFill>
              <a:latin typeface="Calibri"/>
              <a:ea typeface="Calibri"/>
              <a:cs typeface="Calibri"/>
              <a:sym typeface="Calibri"/>
            </a:endParaRPr>
          </a:p>
        </p:txBody>
      </p:sp>
      <p:pic>
        <p:nvPicPr>
          <p:cNvPr id="459" name="Google Shape;459;p18"/>
          <p:cNvPicPr preferRelativeResize="0"/>
          <p:nvPr/>
        </p:nvPicPr>
        <p:blipFill>
          <a:blip r:embed="rId3">
            <a:alphaModFix/>
          </a:blip>
          <a:stretch>
            <a:fillRect/>
          </a:stretch>
        </p:blipFill>
        <p:spPr>
          <a:xfrm>
            <a:off x="564700" y="792475"/>
            <a:ext cx="4491925" cy="2246375"/>
          </a:xfrm>
          <a:prstGeom prst="rect">
            <a:avLst/>
          </a:prstGeom>
          <a:noFill/>
          <a:ln>
            <a:noFill/>
          </a:ln>
        </p:spPr>
      </p:pic>
      <p:pic>
        <p:nvPicPr>
          <p:cNvPr id="460" name="Google Shape;460;p18"/>
          <p:cNvPicPr preferRelativeResize="0"/>
          <p:nvPr/>
        </p:nvPicPr>
        <p:blipFill>
          <a:blip r:embed="rId4">
            <a:alphaModFix/>
          </a:blip>
          <a:stretch>
            <a:fillRect/>
          </a:stretch>
        </p:blipFill>
        <p:spPr>
          <a:xfrm>
            <a:off x="564700" y="3209525"/>
            <a:ext cx="4491924" cy="17998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465"/>
        <p:cNvGrpSpPr/>
        <p:nvPr/>
      </p:nvGrpSpPr>
      <p:grpSpPr>
        <a:xfrm>
          <a:off x="0" y="0"/>
          <a:ext cx="0" cy="0"/>
          <a:chOff x="0" y="0"/>
          <a:chExt cx="0" cy="0"/>
        </a:xfrm>
      </p:grpSpPr>
      <p:sp>
        <p:nvSpPr>
          <p:cNvPr id="466" name="Google Shape;466;p19"/>
          <p:cNvSpPr/>
          <p:nvPr/>
        </p:nvSpPr>
        <p:spPr>
          <a:xfrm>
            <a:off x="0" y="0"/>
            <a:ext cx="9144000" cy="621792"/>
          </a:xfrm>
          <a:prstGeom prst="rect">
            <a:avLst/>
          </a:prstGeom>
          <a:solidFill>
            <a:srgbClr val="112236"/>
          </a:solidFill>
          <a:ln w="12700" cap="flat" cmpd="sng">
            <a:solidFill>
              <a:srgbClr val="1122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19"/>
          <p:cNvSpPr/>
          <p:nvPr/>
        </p:nvSpPr>
        <p:spPr>
          <a:xfrm>
            <a:off x="0" y="0"/>
            <a:ext cx="128016" cy="621792"/>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9"/>
          <p:cNvSpPr/>
          <p:nvPr/>
        </p:nvSpPr>
        <p:spPr>
          <a:xfrm>
            <a:off x="219456" y="0"/>
            <a:ext cx="877824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03.1  EDA — Hashtags, Mentions &amp; Engagement Distribution</a:t>
            </a:r>
            <a:endParaRPr sz="2000" b="0" i="0" u="none" strike="noStrike" cap="none">
              <a:solidFill>
                <a:schemeClr val="dk1"/>
              </a:solidFill>
              <a:latin typeface="Calibri"/>
              <a:ea typeface="Calibri"/>
              <a:cs typeface="Calibri"/>
              <a:sym typeface="Calibri"/>
            </a:endParaRPr>
          </a:p>
        </p:txBody>
      </p:sp>
      <p:pic>
        <p:nvPicPr>
          <p:cNvPr id="469" name="Google Shape;469;p19"/>
          <p:cNvPicPr preferRelativeResize="0"/>
          <p:nvPr/>
        </p:nvPicPr>
        <p:blipFill>
          <a:blip r:embed="rId3">
            <a:alphaModFix/>
          </a:blip>
          <a:stretch>
            <a:fillRect/>
          </a:stretch>
        </p:blipFill>
        <p:spPr>
          <a:xfrm>
            <a:off x="256025" y="665604"/>
            <a:ext cx="4206225" cy="2145775"/>
          </a:xfrm>
          <a:prstGeom prst="rect">
            <a:avLst/>
          </a:prstGeom>
          <a:noFill/>
          <a:ln>
            <a:noFill/>
          </a:ln>
        </p:spPr>
      </p:pic>
      <p:pic>
        <p:nvPicPr>
          <p:cNvPr id="470" name="Google Shape;470;p19"/>
          <p:cNvPicPr preferRelativeResize="0"/>
          <p:nvPr/>
        </p:nvPicPr>
        <p:blipFill>
          <a:blip r:embed="rId4">
            <a:alphaModFix/>
          </a:blip>
          <a:stretch>
            <a:fillRect/>
          </a:stretch>
        </p:blipFill>
        <p:spPr>
          <a:xfrm>
            <a:off x="4511025" y="665604"/>
            <a:ext cx="4358649" cy="2145774"/>
          </a:xfrm>
          <a:prstGeom prst="rect">
            <a:avLst/>
          </a:prstGeom>
          <a:noFill/>
          <a:ln>
            <a:noFill/>
          </a:ln>
        </p:spPr>
      </p:pic>
      <p:pic>
        <p:nvPicPr>
          <p:cNvPr id="471" name="Google Shape;471;p19"/>
          <p:cNvPicPr preferRelativeResize="0"/>
          <p:nvPr/>
        </p:nvPicPr>
        <p:blipFill>
          <a:blip r:embed="rId5">
            <a:alphaModFix/>
          </a:blip>
          <a:stretch>
            <a:fillRect/>
          </a:stretch>
        </p:blipFill>
        <p:spPr>
          <a:xfrm>
            <a:off x="256025" y="2845325"/>
            <a:ext cx="8613651" cy="21457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476"/>
        <p:cNvGrpSpPr/>
        <p:nvPr/>
      </p:nvGrpSpPr>
      <p:grpSpPr>
        <a:xfrm>
          <a:off x="0" y="0"/>
          <a:ext cx="0" cy="0"/>
          <a:chOff x="0" y="0"/>
          <a:chExt cx="0" cy="0"/>
        </a:xfrm>
      </p:grpSpPr>
      <p:sp>
        <p:nvSpPr>
          <p:cNvPr id="477" name="Google Shape;477;p20"/>
          <p:cNvSpPr/>
          <p:nvPr/>
        </p:nvSpPr>
        <p:spPr>
          <a:xfrm>
            <a:off x="0" y="0"/>
            <a:ext cx="9144000" cy="621792"/>
          </a:xfrm>
          <a:prstGeom prst="rect">
            <a:avLst/>
          </a:prstGeom>
          <a:solidFill>
            <a:srgbClr val="112236"/>
          </a:solidFill>
          <a:ln w="12700" cap="flat" cmpd="sng">
            <a:solidFill>
              <a:srgbClr val="1122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0"/>
          <p:cNvSpPr/>
          <p:nvPr/>
        </p:nvSpPr>
        <p:spPr>
          <a:xfrm>
            <a:off x="0" y="0"/>
            <a:ext cx="128016" cy="621792"/>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0"/>
          <p:cNvSpPr/>
          <p:nvPr/>
        </p:nvSpPr>
        <p:spPr>
          <a:xfrm>
            <a:off x="219456" y="0"/>
            <a:ext cx="877824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03.1  EDA — Top Influential Users</a:t>
            </a:r>
            <a:endParaRPr sz="2000" b="0" i="0" u="none" strike="noStrike" cap="none">
              <a:solidFill>
                <a:schemeClr val="dk1"/>
              </a:solidFill>
              <a:latin typeface="Calibri"/>
              <a:ea typeface="Calibri"/>
              <a:cs typeface="Calibri"/>
              <a:sym typeface="Calibri"/>
            </a:endParaRPr>
          </a:p>
        </p:txBody>
      </p:sp>
      <p:sp>
        <p:nvSpPr>
          <p:cNvPr id="480" name="Google Shape;480;p20"/>
          <p:cNvSpPr/>
          <p:nvPr/>
        </p:nvSpPr>
        <p:spPr>
          <a:xfrm>
            <a:off x="5925312" y="749808"/>
            <a:ext cx="2944368" cy="3840480"/>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0"/>
          <p:cNvSpPr/>
          <p:nvPr/>
        </p:nvSpPr>
        <p:spPr>
          <a:xfrm>
            <a:off x="6071616" y="822960"/>
            <a:ext cx="2651760"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A623"/>
              </a:buClr>
              <a:buSzPts val="1100"/>
              <a:buFont typeface="Calibri"/>
              <a:buNone/>
            </a:pPr>
            <a:r>
              <a:rPr lang="en-US" sz="1100" b="1" i="0" u="none" strike="noStrike" cap="none">
                <a:solidFill>
                  <a:srgbClr val="F5A623"/>
                </a:solidFill>
                <a:latin typeface="Calibri"/>
                <a:ea typeface="Calibri"/>
                <a:cs typeface="Calibri"/>
                <a:sym typeface="Calibri"/>
              </a:rPr>
              <a:t>Influence Score Insights</a:t>
            </a:r>
            <a:endParaRPr sz="1100" b="0" i="0" u="none" strike="noStrike" cap="none">
              <a:solidFill>
                <a:schemeClr val="dk1"/>
              </a:solidFill>
              <a:latin typeface="Calibri"/>
              <a:ea typeface="Calibri"/>
              <a:cs typeface="Calibri"/>
              <a:sym typeface="Calibri"/>
            </a:endParaRPr>
          </a:p>
        </p:txBody>
      </p:sp>
      <p:sp>
        <p:nvSpPr>
          <p:cNvPr id="482" name="Google Shape;482;p20"/>
          <p:cNvSpPr/>
          <p:nvPr/>
        </p:nvSpPr>
        <p:spPr>
          <a:xfrm>
            <a:off x="6071616" y="1207008"/>
            <a:ext cx="2651760" cy="530352"/>
          </a:xfrm>
          <a:prstGeom prst="rect">
            <a:avLst/>
          </a:prstGeom>
          <a:solidFill>
            <a:srgbClr val="162840"/>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0"/>
          <p:cNvSpPr/>
          <p:nvPr/>
        </p:nvSpPr>
        <p:spPr>
          <a:xfrm>
            <a:off x="6144768" y="1243584"/>
            <a:ext cx="1645920" cy="21945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2D4"/>
              </a:buClr>
              <a:buSzPts val="950"/>
              <a:buFont typeface="Calibri"/>
              <a:buNone/>
            </a:pPr>
            <a:r>
              <a:rPr lang="en-US" sz="950" b="1" i="0" u="none" strike="noStrike" cap="none">
                <a:solidFill>
                  <a:srgbClr val="00C2D4"/>
                </a:solidFill>
                <a:latin typeface="Calibri"/>
                <a:ea typeface="Calibri"/>
                <a:cs typeface="Calibri"/>
                <a:sym typeface="Calibri"/>
              </a:rPr>
              <a:t>@vanbadham</a:t>
            </a:r>
            <a:endParaRPr sz="950" b="0" i="0" u="none" strike="noStrike" cap="none">
              <a:solidFill>
                <a:schemeClr val="dk1"/>
              </a:solidFill>
              <a:latin typeface="Calibri"/>
              <a:ea typeface="Calibri"/>
              <a:cs typeface="Calibri"/>
              <a:sym typeface="Calibri"/>
            </a:endParaRPr>
          </a:p>
        </p:txBody>
      </p:sp>
      <p:sp>
        <p:nvSpPr>
          <p:cNvPr id="484" name="Google Shape;484;p20"/>
          <p:cNvSpPr/>
          <p:nvPr/>
        </p:nvSpPr>
        <p:spPr>
          <a:xfrm>
            <a:off x="7900416" y="1243584"/>
            <a:ext cx="713232" cy="21945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F5A623"/>
              </a:buClr>
              <a:buSzPts val="1100"/>
              <a:buFont typeface="Calibri"/>
              <a:buNone/>
            </a:pPr>
            <a:r>
              <a:rPr lang="en-US" sz="1100" b="1">
                <a:solidFill>
                  <a:srgbClr val="F5A623"/>
                </a:solidFill>
                <a:latin typeface="Calibri"/>
                <a:ea typeface="Calibri"/>
                <a:cs typeface="Calibri"/>
                <a:sym typeface="Calibri"/>
              </a:rPr>
              <a:t>62,521</a:t>
            </a:r>
            <a:endParaRPr sz="1100" b="0" i="0" u="none" strike="noStrike" cap="none">
              <a:solidFill>
                <a:schemeClr val="dk1"/>
              </a:solidFill>
              <a:latin typeface="Calibri"/>
              <a:ea typeface="Calibri"/>
              <a:cs typeface="Calibri"/>
              <a:sym typeface="Calibri"/>
            </a:endParaRPr>
          </a:p>
        </p:txBody>
      </p:sp>
      <p:sp>
        <p:nvSpPr>
          <p:cNvPr id="485" name="Google Shape;485;p20"/>
          <p:cNvSpPr/>
          <p:nvPr/>
        </p:nvSpPr>
        <p:spPr>
          <a:xfrm>
            <a:off x="6071616" y="1810512"/>
            <a:ext cx="2651760" cy="530352"/>
          </a:xfrm>
          <a:prstGeom prst="rect">
            <a:avLst/>
          </a:prstGeom>
          <a:solidFill>
            <a:srgbClr val="192D44"/>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0"/>
          <p:cNvSpPr/>
          <p:nvPr/>
        </p:nvSpPr>
        <p:spPr>
          <a:xfrm>
            <a:off x="6144768" y="1847088"/>
            <a:ext cx="1645920" cy="21945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2D4"/>
              </a:buClr>
              <a:buSzPts val="950"/>
              <a:buFont typeface="Calibri"/>
              <a:buNone/>
            </a:pPr>
            <a:r>
              <a:rPr lang="en-US" sz="950" b="1" i="0" u="none" strike="noStrike" cap="none">
                <a:solidFill>
                  <a:srgbClr val="00C2D4"/>
                </a:solidFill>
                <a:latin typeface="Calibri"/>
                <a:ea typeface="Calibri"/>
                <a:cs typeface="Calibri"/>
                <a:sym typeface="Calibri"/>
              </a:rPr>
              <a:t>@LesStonehouse</a:t>
            </a:r>
            <a:endParaRPr sz="950" b="0" i="0" u="none" strike="noStrike" cap="none">
              <a:solidFill>
                <a:schemeClr val="dk1"/>
              </a:solidFill>
              <a:latin typeface="Calibri"/>
              <a:ea typeface="Calibri"/>
              <a:cs typeface="Calibri"/>
              <a:sym typeface="Calibri"/>
            </a:endParaRPr>
          </a:p>
        </p:txBody>
      </p:sp>
      <p:sp>
        <p:nvSpPr>
          <p:cNvPr id="487" name="Google Shape;487;p20"/>
          <p:cNvSpPr/>
          <p:nvPr/>
        </p:nvSpPr>
        <p:spPr>
          <a:xfrm>
            <a:off x="7900416" y="1847088"/>
            <a:ext cx="713232" cy="21945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F5A623"/>
              </a:buClr>
              <a:buSzPts val="1100"/>
              <a:buFont typeface="Calibri"/>
              <a:buNone/>
            </a:pPr>
            <a:r>
              <a:rPr lang="en-US" sz="1100" b="1">
                <a:solidFill>
                  <a:srgbClr val="F5A623"/>
                </a:solidFill>
                <a:latin typeface="Calibri"/>
                <a:ea typeface="Calibri"/>
                <a:cs typeface="Calibri"/>
                <a:sym typeface="Calibri"/>
              </a:rPr>
              <a:t>41,570</a:t>
            </a:r>
            <a:endParaRPr sz="1100" b="0" i="0" u="none" strike="noStrike" cap="none">
              <a:solidFill>
                <a:schemeClr val="dk1"/>
              </a:solidFill>
              <a:latin typeface="Calibri"/>
              <a:ea typeface="Calibri"/>
              <a:cs typeface="Calibri"/>
              <a:sym typeface="Calibri"/>
            </a:endParaRPr>
          </a:p>
        </p:txBody>
      </p:sp>
      <p:sp>
        <p:nvSpPr>
          <p:cNvPr id="488" name="Google Shape;488;p20"/>
          <p:cNvSpPr/>
          <p:nvPr/>
        </p:nvSpPr>
        <p:spPr>
          <a:xfrm>
            <a:off x="6071616" y="2414016"/>
            <a:ext cx="2651760" cy="530352"/>
          </a:xfrm>
          <a:prstGeom prst="rect">
            <a:avLst/>
          </a:prstGeom>
          <a:solidFill>
            <a:srgbClr val="162840"/>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0"/>
          <p:cNvSpPr/>
          <p:nvPr/>
        </p:nvSpPr>
        <p:spPr>
          <a:xfrm>
            <a:off x="6144768" y="2450592"/>
            <a:ext cx="1645920" cy="21945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2D4"/>
              </a:buClr>
              <a:buSzPts val="950"/>
              <a:buFont typeface="Calibri"/>
              <a:buNone/>
            </a:pPr>
            <a:r>
              <a:rPr lang="en-US" sz="950" b="1" i="0" u="none" strike="noStrike" cap="none">
                <a:solidFill>
                  <a:srgbClr val="00C2D4"/>
                </a:solidFill>
                <a:latin typeface="Calibri"/>
                <a:ea typeface="Calibri"/>
                <a:cs typeface="Calibri"/>
                <a:sym typeface="Calibri"/>
              </a:rPr>
              <a:t>@BelindaJones68</a:t>
            </a:r>
            <a:endParaRPr sz="950" b="0" i="0" u="none" strike="noStrike" cap="none">
              <a:solidFill>
                <a:schemeClr val="dk1"/>
              </a:solidFill>
              <a:latin typeface="Calibri"/>
              <a:ea typeface="Calibri"/>
              <a:cs typeface="Calibri"/>
              <a:sym typeface="Calibri"/>
            </a:endParaRPr>
          </a:p>
        </p:txBody>
      </p:sp>
      <p:sp>
        <p:nvSpPr>
          <p:cNvPr id="490" name="Google Shape;490;p20"/>
          <p:cNvSpPr/>
          <p:nvPr/>
        </p:nvSpPr>
        <p:spPr>
          <a:xfrm>
            <a:off x="7900416" y="2450592"/>
            <a:ext cx="713232" cy="21945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F5A623"/>
              </a:buClr>
              <a:buSzPts val="1100"/>
              <a:buFont typeface="Calibri"/>
              <a:buNone/>
            </a:pPr>
            <a:r>
              <a:rPr lang="en-US" sz="1100" b="1">
                <a:solidFill>
                  <a:srgbClr val="F5A623"/>
                </a:solidFill>
                <a:latin typeface="Calibri"/>
                <a:ea typeface="Calibri"/>
                <a:cs typeface="Calibri"/>
                <a:sym typeface="Calibri"/>
              </a:rPr>
              <a:t>38,404</a:t>
            </a:r>
            <a:endParaRPr sz="1100" b="0" i="0" u="none" strike="noStrike" cap="none">
              <a:solidFill>
                <a:schemeClr val="dk1"/>
              </a:solidFill>
              <a:latin typeface="Calibri"/>
              <a:ea typeface="Calibri"/>
              <a:cs typeface="Calibri"/>
              <a:sym typeface="Calibri"/>
            </a:endParaRPr>
          </a:p>
        </p:txBody>
      </p:sp>
      <p:sp>
        <p:nvSpPr>
          <p:cNvPr id="491" name="Google Shape;491;p20"/>
          <p:cNvSpPr/>
          <p:nvPr/>
        </p:nvSpPr>
        <p:spPr>
          <a:xfrm>
            <a:off x="6071616" y="3017520"/>
            <a:ext cx="2651760" cy="530352"/>
          </a:xfrm>
          <a:prstGeom prst="rect">
            <a:avLst/>
          </a:prstGeom>
          <a:solidFill>
            <a:srgbClr val="192D44"/>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0"/>
          <p:cNvSpPr/>
          <p:nvPr/>
        </p:nvSpPr>
        <p:spPr>
          <a:xfrm>
            <a:off x="6144768" y="3054096"/>
            <a:ext cx="1645920" cy="21945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C2D4"/>
              </a:buClr>
              <a:buSzPts val="950"/>
              <a:buFont typeface="Calibri"/>
              <a:buNone/>
            </a:pPr>
            <a:r>
              <a:rPr lang="en-US" sz="950" b="1" i="0" u="none" strike="noStrike" cap="none">
                <a:solidFill>
                  <a:srgbClr val="00C2D4"/>
                </a:solidFill>
                <a:latin typeface="Calibri"/>
                <a:ea typeface="Calibri"/>
                <a:cs typeface="Calibri"/>
                <a:sym typeface="Calibri"/>
              </a:rPr>
              <a:t>@Paul_KeatingPM</a:t>
            </a:r>
            <a:endParaRPr sz="950" b="0" i="0" u="none" strike="noStrike" cap="none">
              <a:solidFill>
                <a:schemeClr val="dk1"/>
              </a:solidFill>
              <a:latin typeface="Calibri"/>
              <a:ea typeface="Calibri"/>
              <a:cs typeface="Calibri"/>
              <a:sym typeface="Calibri"/>
            </a:endParaRPr>
          </a:p>
        </p:txBody>
      </p:sp>
      <p:sp>
        <p:nvSpPr>
          <p:cNvPr id="493" name="Google Shape;493;p20"/>
          <p:cNvSpPr/>
          <p:nvPr/>
        </p:nvSpPr>
        <p:spPr>
          <a:xfrm>
            <a:off x="7900416" y="3054096"/>
            <a:ext cx="713232" cy="21945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F5A623"/>
              </a:buClr>
              <a:buSzPts val="1100"/>
              <a:buFont typeface="Calibri"/>
              <a:buNone/>
            </a:pPr>
            <a:r>
              <a:rPr lang="en-US" sz="1100" b="1">
                <a:solidFill>
                  <a:srgbClr val="F5A623"/>
                </a:solidFill>
                <a:latin typeface="Calibri"/>
                <a:ea typeface="Calibri"/>
                <a:cs typeface="Calibri"/>
                <a:sym typeface="Calibri"/>
              </a:rPr>
              <a:t>33,637</a:t>
            </a:r>
            <a:endParaRPr sz="1100" b="0" i="0" u="none" strike="noStrike" cap="none">
              <a:solidFill>
                <a:schemeClr val="dk1"/>
              </a:solidFill>
              <a:latin typeface="Calibri"/>
              <a:ea typeface="Calibri"/>
              <a:cs typeface="Calibri"/>
              <a:sym typeface="Calibri"/>
            </a:endParaRPr>
          </a:p>
        </p:txBody>
      </p:sp>
      <p:sp>
        <p:nvSpPr>
          <p:cNvPr id="494" name="Google Shape;494;p20"/>
          <p:cNvSpPr/>
          <p:nvPr/>
        </p:nvSpPr>
        <p:spPr>
          <a:xfrm>
            <a:off x="6071616" y="4169664"/>
            <a:ext cx="2651760" cy="34747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90AA"/>
              </a:buClr>
              <a:buSzPts val="850"/>
              <a:buFont typeface="Calibri"/>
              <a:buNone/>
            </a:pPr>
            <a:r>
              <a:rPr lang="en-US" sz="850" b="0" i="1" u="none" strike="noStrike" cap="none">
                <a:solidFill>
                  <a:srgbClr val="6B90AA"/>
                </a:solidFill>
                <a:latin typeface="Calibri"/>
                <a:ea typeface="Calibri"/>
                <a:cs typeface="Calibri"/>
                <a:sym typeface="Calibri"/>
              </a:rPr>
              <a:t>Influence score = total (retweet_count + favorite_count) per user across all tweets</a:t>
            </a:r>
            <a:endParaRPr sz="850" b="0" i="0" u="none" strike="noStrike" cap="none">
              <a:solidFill>
                <a:schemeClr val="dk1"/>
              </a:solidFill>
              <a:latin typeface="Calibri"/>
              <a:ea typeface="Calibri"/>
              <a:cs typeface="Calibri"/>
              <a:sym typeface="Calibri"/>
            </a:endParaRPr>
          </a:p>
        </p:txBody>
      </p:sp>
      <p:pic>
        <p:nvPicPr>
          <p:cNvPr id="495" name="Google Shape;495;p20"/>
          <p:cNvPicPr preferRelativeResize="0"/>
          <p:nvPr/>
        </p:nvPicPr>
        <p:blipFill>
          <a:blip r:embed="rId3">
            <a:alphaModFix/>
          </a:blip>
          <a:stretch>
            <a:fillRect/>
          </a:stretch>
        </p:blipFill>
        <p:spPr>
          <a:xfrm>
            <a:off x="152400" y="774200"/>
            <a:ext cx="5772901" cy="3840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500"/>
        <p:cNvGrpSpPr/>
        <p:nvPr/>
      </p:nvGrpSpPr>
      <p:grpSpPr>
        <a:xfrm>
          <a:off x="0" y="0"/>
          <a:ext cx="0" cy="0"/>
          <a:chOff x="0" y="0"/>
          <a:chExt cx="0" cy="0"/>
        </a:xfrm>
      </p:grpSpPr>
      <p:sp>
        <p:nvSpPr>
          <p:cNvPr id="501" name="Google Shape;501;p21"/>
          <p:cNvSpPr/>
          <p:nvPr/>
        </p:nvSpPr>
        <p:spPr>
          <a:xfrm>
            <a:off x="5943600" y="-731520"/>
            <a:ext cx="4572000" cy="4572000"/>
          </a:xfrm>
          <a:prstGeom prst="ellipse">
            <a:avLst/>
          </a:prstGeom>
          <a:solidFill>
            <a:srgbClr val="00AACC">
              <a:alpha val="12156"/>
            </a:srgbClr>
          </a:solidFill>
          <a:ln w="12700" cap="flat" cmpd="sng">
            <a:solidFill>
              <a:srgbClr val="00AACC">
                <a:alpha val="12156"/>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1"/>
          <p:cNvSpPr/>
          <p:nvPr/>
        </p:nvSpPr>
        <p:spPr>
          <a:xfrm>
            <a:off x="548640" y="1645920"/>
            <a:ext cx="91440" cy="1828800"/>
          </a:xfrm>
          <a:prstGeom prst="rect">
            <a:avLst/>
          </a:prstGeom>
          <a:solidFill>
            <a:srgbClr val="00AACC"/>
          </a:solidFill>
          <a:ln w="12700" cap="flat" cmpd="sng">
            <a:solidFill>
              <a:srgbClr val="00AA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1"/>
          <p:cNvSpPr/>
          <p:nvPr/>
        </p:nvSpPr>
        <p:spPr>
          <a:xfrm>
            <a:off x="777240" y="1554480"/>
            <a:ext cx="2743200" cy="5029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AACC"/>
              </a:buClr>
              <a:buSzPts val="1300"/>
              <a:buFont typeface="Calibri"/>
              <a:buNone/>
            </a:pPr>
            <a:r>
              <a:rPr lang="en-US" sz="1300" b="1" i="0" u="none" strike="noStrike" cap="none">
                <a:solidFill>
                  <a:srgbClr val="00AACC"/>
                </a:solidFill>
                <a:latin typeface="Calibri"/>
                <a:ea typeface="Calibri"/>
                <a:cs typeface="Calibri"/>
                <a:sym typeface="Calibri"/>
              </a:rPr>
              <a:t>SECTION 3.2</a:t>
            </a:r>
            <a:endParaRPr sz="1300" b="0" i="0" u="none" strike="noStrike" cap="none">
              <a:solidFill>
                <a:schemeClr val="dk1"/>
              </a:solidFill>
              <a:latin typeface="Calibri"/>
              <a:ea typeface="Calibri"/>
              <a:cs typeface="Calibri"/>
              <a:sym typeface="Calibri"/>
            </a:endParaRPr>
          </a:p>
        </p:txBody>
      </p:sp>
      <p:sp>
        <p:nvSpPr>
          <p:cNvPr id="504" name="Google Shape;504;p21"/>
          <p:cNvSpPr/>
          <p:nvPr/>
        </p:nvSpPr>
        <p:spPr>
          <a:xfrm>
            <a:off x="777240" y="2011680"/>
            <a:ext cx="6858000" cy="10972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4000"/>
              <a:buFont typeface="Calibri"/>
              <a:buNone/>
            </a:pPr>
            <a:r>
              <a:rPr lang="en-US" sz="4000" b="1" i="0" u="none" strike="noStrike" cap="none">
                <a:solidFill>
                  <a:srgbClr val="FFFFFF"/>
                </a:solidFill>
                <a:latin typeface="Calibri"/>
                <a:ea typeface="Calibri"/>
                <a:cs typeface="Calibri"/>
                <a:sym typeface="Calibri"/>
              </a:rPr>
              <a:t>SENTIMENT ANALYSIS</a:t>
            </a:r>
            <a:endParaRPr sz="4000" b="0"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509"/>
        <p:cNvGrpSpPr/>
        <p:nvPr/>
      </p:nvGrpSpPr>
      <p:grpSpPr>
        <a:xfrm>
          <a:off x="0" y="0"/>
          <a:ext cx="0" cy="0"/>
          <a:chOff x="0" y="0"/>
          <a:chExt cx="0" cy="0"/>
        </a:xfrm>
      </p:grpSpPr>
      <p:sp>
        <p:nvSpPr>
          <p:cNvPr id="510" name="Google Shape;510;p22"/>
          <p:cNvSpPr/>
          <p:nvPr/>
        </p:nvSpPr>
        <p:spPr>
          <a:xfrm>
            <a:off x="0" y="0"/>
            <a:ext cx="9144000" cy="621792"/>
          </a:xfrm>
          <a:prstGeom prst="rect">
            <a:avLst/>
          </a:prstGeom>
          <a:solidFill>
            <a:srgbClr val="112236"/>
          </a:solidFill>
          <a:ln w="12700" cap="flat" cmpd="sng">
            <a:solidFill>
              <a:srgbClr val="1122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2"/>
          <p:cNvSpPr/>
          <p:nvPr/>
        </p:nvSpPr>
        <p:spPr>
          <a:xfrm>
            <a:off x="0" y="0"/>
            <a:ext cx="128016" cy="621792"/>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2"/>
          <p:cNvSpPr/>
          <p:nvPr/>
        </p:nvSpPr>
        <p:spPr>
          <a:xfrm>
            <a:off x="219456" y="0"/>
            <a:ext cx="640080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3.2  SENTIMENT ANALYSIS — Distribution &amp; Categories</a:t>
            </a:r>
            <a:endParaRPr sz="2000" b="0" i="0" u="none" strike="noStrike" cap="none">
              <a:solidFill>
                <a:schemeClr val="dk1"/>
              </a:solidFill>
              <a:latin typeface="Calibri"/>
              <a:ea typeface="Calibri"/>
              <a:cs typeface="Calibri"/>
              <a:sym typeface="Calibri"/>
            </a:endParaRPr>
          </a:p>
        </p:txBody>
      </p:sp>
      <p:sp>
        <p:nvSpPr>
          <p:cNvPr id="513" name="Google Shape;513;p22"/>
          <p:cNvSpPr/>
          <p:nvPr/>
        </p:nvSpPr>
        <p:spPr>
          <a:xfrm>
            <a:off x="6675120" y="137160"/>
            <a:ext cx="2286000" cy="34747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90AA"/>
              </a:buClr>
              <a:buSzPts val="1000"/>
              <a:buFont typeface="Calibri"/>
              <a:buNone/>
            </a:pPr>
            <a:r>
              <a:rPr lang="en-US" sz="1000" b="0" i="0" u="none" strike="noStrike" cap="none">
                <a:solidFill>
                  <a:srgbClr val="6B90AA"/>
                </a:solidFill>
                <a:latin typeface="Calibri"/>
                <a:ea typeface="Calibri"/>
                <a:cs typeface="Calibri"/>
                <a:sym typeface="Calibri"/>
              </a:rPr>
              <a:t>MANDATORY</a:t>
            </a:r>
            <a:endParaRPr sz="1000" b="0" i="0" u="none" strike="noStrike" cap="none">
              <a:solidFill>
                <a:schemeClr val="dk1"/>
              </a:solidFill>
              <a:latin typeface="Calibri"/>
              <a:ea typeface="Calibri"/>
              <a:cs typeface="Calibri"/>
              <a:sym typeface="Calibri"/>
            </a:endParaRPr>
          </a:p>
        </p:txBody>
      </p:sp>
      <p:sp>
        <p:nvSpPr>
          <p:cNvPr id="514" name="Google Shape;514;p22"/>
          <p:cNvSpPr/>
          <p:nvPr/>
        </p:nvSpPr>
        <p:spPr>
          <a:xfrm>
            <a:off x="7882128" y="91440"/>
            <a:ext cx="1170432" cy="274320"/>
          </a:xfrm>
          <a:prstGeom prst="roundRect">
            <a:avLst>
              <a:gd name="adj" fmla="val 13333"/>
            </a:avLst>
          </a:prstGeom>
          <a:solidFill>
            <a:srgbClr val="B83232"/>
          </a:solidFill>
          <a:ln w="12700" cap="flat" cmpd="sng">
            <a:solidFill>
              <a:srgbClr val="B832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2"/>
          <p:cNvSpPr/>
          <p:nvPr/>
        </p:nvSpPr>
        <p:spPr>
          <a:xfrm>
            <a:off x="7882128" y="91440"/>
            <a:ext cx="1170432"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en-US" sz="800" b="1" i="0" u="none" strike="noStrike" cap="none">
                <a:solidFill>
                  <a:srgbClr val="FFFFFF"/>
                </a:solidFill>
                <a:latin typeface="Calibri"/>
                <a:ea typeface="Calibri"/>
                <a:cs typeface="Calibri"/>
                <a:sym typeface="Calibri"/>
              </a:rPr>
              <a:t>MANDATORY</a:t>
            </a:r>
            <a:endParaRPr sz="800" b="0" i="0" u="none" strike="noStrike" cap="none">
              <a:solidFill>
                <a:schemeClr val="dk1"/>
              </a:solidFill>
              <a:latin typeface="Calibri"/>
              <a:ea typeface="Calibri"/>
              <a:cs typeface="Calibri"/>
              <a:sym typeface="Calibri"/>
            </a:endParaRPr>
          </a:p>
        </p:txBody>
      </p:sp>
      <p:sp>
        <p:nvSpPr>
          <p:cNvPr id="516" name="Google Shape;516;p22"/>
          <p:cNvSpPr/>
          <p:nvPr/>
        </p:nvSpPr>
        <p:spPr>
          <a:xfrm>
            <a:off x="256032" y="3538728"/>
            <a:ext cx="4224528" cy="1393880"/>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2"/>
          <p:cNvSpPr/>
          <p:nvPr/>
        </p:nvSpPr>
        <p:spPr>
          <a:xfrm>
            <a:off x="256032" y="3538728"/>
            <a:ext cx="4224528" cy="50292"/>
          </a:xfrm>
          <a:prstGeom prst="rect">
            <a:avLst/>
          </a:prstGeom>
          <a:solidFill>
            <a:srgbClr val="6B90AA"/>
          </a:solidFill>
          <a:ln w="12700" cap="flat" cmpd="sng">
            <a:solidFill>
              <a:srgbClr val="6B90A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2"/>
          <p:cNvSpPr/>
          <p:nvPr/>
        </p:nvSpPr>
        <p:spPr>
          <a:xfrm>
            <a:off x="402336" y="3630168"/>
            <a:ext cx="3931920" cy="2560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50"/>
              <a:buFont typeface="Calibri"/>
              <a:buNone/>
            </a:pPr>
            <a:r>
              <a:rPr lang="en-US" sz="1050" b="1" i="0" u="none" strike="noStrike" cap="none">
                <a:solidFill>
                  <a:srgbClr val="FFFFFF"/>
                </a:solidFill>
                <a:latin typeface="Calibri"/>
                <a:ea typeface="Calibri"/>
                <a:cs typeface="Calibri"/>
                <a:sym typeface="Calibri"/>
              </a:rPr>
              <a:t>Neutral Dominant</a:t>
            </a:r>
            <a:endParaRPr sz="1050" b="0" i="0" u="none" strike="noStrike" cap="none">
              <a:solidFill>
                <a:schemeClr val="dk1"/>
              </a:solidFill>
              <a:latin typeface="Calibri"/>
              <a:ea typeface="Calibri"/>
              <a:cs typeface="Calibri"/>
              <a:sym typeface="Calibri"/>
            </a:endParaRPr>
          </a:p>
        </p:txBody>
      </p:sp>
      <p:sp>
        <p:nvSpPr>
          <p:cNvPr id="520" name="Google Shape;520;p22"/>
          <p:cNvSpPr/>
          <p:nvPr/>
        </p:nvSpPr>
        <p:spPr>
          <a:xfrm>
            <a:off x="4736592" y="3538728"/>
            <a:ext cx="4224528" cy="1417320"/>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2"/>
          <p:cNvSpPr/>
          <p:nvPr/>
        </p:nvSpPr>
        <p:spPr>
          <a:xfrm>
            <a:off x="4736592" y="3538728"/>
            <a:ext cx="4224528" cy="50292"/>
          </a:xfrm>
          <a:prstGeom prst="rect">
            <a:avLst/>
          </a:prstGeom>
          <a:solidFill>
            <a:srgbClr val="06C17A"/>
          </a:solidFill>
          <a:ln w="12700" cap="flat" cmpd="sng">
            <a:solidFill>
              <a:srgbClr val="06C17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2"/>
          <p:cNvSpPr/>
          <p:nvPr/>
        </p:nvSpPr>
        <p:spPr>
          <a:xfrm>
            <a:off x="4882896" y="3630168"/>
            <a:ext cx="3931920" cy="25603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50"/>
              <a:buFont typeface="Calibri"/>
              <a:buNone/>
            </a:pPr>
            <a:r>
              <a:rPr lang="en-US" sz="1050" b="1" i="0" u="none" strike="noStrike" cap="none">
                <a:solidFill>
                  <a:srgbClr val="FFFFFF"/>
                </a:solidFill>
                <a:latin typeface="Calibri"/>
                <a:ea typeface="Calibri"/>
                <a:cs typeface="Calibri"/>
                <a:sym typeface="Calibri"/>
              </a:rPr>
              <a:t>Slight Positive Bias</a:t>
            </a:r>
            <a:endParaRPr sz="1050" b="0" i="0" u="none" strike="noStrike" cap="none">
              <a:solidFill>
                <a:schemeClr val="dk1"/>
              </a:solidFill>
              <a:latin typeface="Calibri"/>
              <a:ea typeface="Calibri"/>
              <a:cs typeface="Calibri"/>
              <a:sym typeface="Calibri"/>
            </a:endParaRPr>
          </a:p>
        </p:txBody>
      </p:sp>
      <p:pic>
        <p:nvPicPr>
          <p:cNvPr id="532" name="Google Shape;532;p22"/>
          <p:cNvPicPr preferRelativeResize="0"/>
          <p:nvPr/>
        </p:nvPicPr>
        <p:blipFill>
          <a:blip r:embed="rId3">
            <a:alphaModFix/>
          </a:blip>
          <a:stretch>
            <a:fillRect/>
          </a:stretch>
        </p:blipFill>
        <p:spPr>
          <a:xfrm>
            <a:off x="545550" y="774200"/>
            <a:ext cx="8052901" cy="2612125"/>
          </a:xfrm>
          <a:prstGeom prst="rect">
            <a:avLst/>
          </a:prstGeom>
          <a:noFill/>
          <a:ln>
            <a:noFill/>
          </a:ln>
        </p:spPr>
      </p:pic>
      <p:sp>
        <p:nvSpPr>
          <p:cNvPr id="4" name="TextBox 3">
            <a:extLst>
              <a:ext uri="{FF2B5EF4-FFF2-40B4-BE49-F238E27FC236}">
                <a16:creationId xmlns:a16="http://schemas.microsoft.com/office/drawing/2014/main" id="{C808E4E0-1CD2-D581-A7BF-85C2B1CEE1D8}"/>
              </a:ext>
            </a:extLst>
          </p:cNvPr>
          <p:cNvSpPr txBox="1"/>
          <p:nvPr/>
        </p:nvSpPr>
        <p:spPr>
          <a:xfrm>
            <a:off x="256032" y="3676038"/>
            <a:ext cx="4224528" cy="132343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0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Sentiment scores range from </a:t>
            </a:r>
            <a:r>
              <a:rPr kumimoji="0" lang="en-US" altLang="en-US" sz="10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-1 (negative) to +1 (positive)</a:t>
            </a:r>
            <a:r>
              <a:rPr kumimoji="0" lang="en-US" altLang="en-US" sz="10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0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Most tweets are concentrated around </a:t>
            </a:r>
            <a:r>
              <a:rPr kumimoji="0" lang="en-US" altLang="en-US" sz="10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0 (neutral sentiment)</a:t>
            </a:r>
            <a:r>
              <a:rPr kumimoji="0" lang="en-US" altLang="en-US" sz="10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0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The mean sentiment is slightly positive (~0.08)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0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Distribution is </a:t>
            </a:r>
            <a:r>
              <a:rPr kumimoji="0" lang="en-US" altLang="en-US" sz="10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slightly right-skewed</a:t>
            </a:r>
            <a:r>
              <a:rPr kumimoji="0" lang="en-US" altLang="en-US" sz="10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indicating more positive than negative tweets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0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Extreme negative and positive values are relatively rare </a:t>
            </a:r>
          </a:p>
          <a:p>
            <a:pPr lvl="0" eaLnBrk="0" fontAlgn="base" hangingPunct="0">
              <a:spcBef>
                <a:spcPct val="0"/>
              </a:spcBef>
              <a:spcAft>
                <a:spcPct val="0"/>
              </a:spcAft>
              <a:buClrTx/>
            </a:pPr>
            <a:r>
              <a:rPr lang="en-US" altLang="en-US" sz="1000" b="1" dirty="0">
                <a:solidFill>
                  <a:schemeClr val="accent2">
                    <a:lumMod val="40000"/>
                    <a:lumOff val="60000"/>
                  </a:schemeClr>
                </a:solidFill>
                <a:latin typeface="Calibri" panose="020F0502020204030204" pitchFamily="34" charset="0"/>
                <a:ea typeface="Calibri" panose="020F0502020204030204" pitchFamily="34" charset="0"/>
                <a:cs typeface="Calibri" panose="020F0502020204030204" pitchFamily="34" charset="0"/>
              </a:rPr>
              <a:t>=&gt; </a:t>
            </a:r>
            <a:r>
              <a:rPr lang="en-US" sz="1000" b="1" dirty="0">
                <a:solidFill>
                  <a:schemeClr val="accent2">
                    <a:lumMod val="40000"/>
                    <a:lumOff val="60000"/>
                  </a:schemeClr>
                </a:solidFill>
                <a:latin typeface="Calibri" panose="020F0502020204030204" pitchFamily="34" charset="0"/>
                <a:ea typeface="Calibri" panose="020F0502020204030204" pitchFamily="34" charset="0"/>
                <a:cs typeface="Calibri" panose="020F0502020204030204" pitchFamily="34" charset="0"/>
              </a:rPr>
              <a:t>Public opinion is mostly neutral with a slight positive tendency</a:t>
            </a:r>
            <a:endParaRPr kumimoji="0" lang="en-US" altLang="en-US" sz="1000" b="1" i="0" u="none" strike="noStrike" cap="none" normalizeH="0" baseline="0" dirty="0">
              <a:ln>
                <a:noFill/>
              </a:ln>
              <a:solidFill>
                <a:schemeClr val="accent2">
                  <a:lumMod val="40000"/>
                  <a:lumOff val="60000"/>
                </a:schemeClr>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95623715-F008-B00D-07D2-B6657054008B}"/>
              </a:ext>
            </a:extLst>
          </p:cNvPr>
          <p:cNvSpPr txBox="1"/>
          <p:nvPr/>
        </p:nvSpPr>
        <p:spPr>
          <a:xfrm>
            <a:off x="4812062" y="3886200"/>
            <a:ext cx="4075906" cy="861774"/>
          </a:xfrm>
          <a:prstGeom prst="rect">
            <a:avLst/>
          </a:prstGeom>
          <a:noFill/>
        </p:spPr>
        <p:txBody>
          <a:bodyPr wrap="square">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0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Neutral: ~40.8%</a:t>
            </a:r>
            <a:r>
              <a:rPr kumimoji="0" lang="en-US" altLang="en-US" sz="10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(largest group)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0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Positive: ~40.4%</a:t>
            </a:r>
            <a:r>
              <a:rPr kumimoji="0" lang="en-US" altLang="en-US" sz="10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0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Negative: ~18.8%</a:t>
            </a:r>
            <a:r>
              <a:rPr kumimoji="0" lang="en-US" altLang="en-US" sz="10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(smallest group)</a:t>
            </a:r>
          </a:p>
          <a:p>
            <a:pPr lvl="0" eaLnBrk="0" fontAlgn="base" hangingPunct="0">
              <a:spcBef>
                <a:spcPct val="0"/>
              </a:spcBef>
              <a:spcAft>
                <a:spcPct val="0"/>
              </a:spcAft>
              <a:buClrTx/>
            </a:pPr>
            <a:r>
              <a:rPr lang="en-US" alt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=&gt; </a:t>
            </a:r>
            <a:r>
              <a:rPr lang="en-US" sz="1000" dirty="0">
                <a:solidFill>
                  <a:schemeClr val="accent2">
                    <a:lumMod val="20000"/>
                    <a:lumOff val="80000"/>
                  </a:schemeClr>
                </a:solidFill>
                <a:latin typeface="Calibri" panose="020F0502020204030204" pitchFamily="34" charset="0"/>
                <a:ea typeface="Calibri" panose="020F0502020204030204" pitchFamily="34" charset="0"/>
                <a:cs typeface="Calibri" panose="020F0502020204030204" pitchFamily="34" charset="0"/>
              </a:rPr>
              <a:t>Tweets are </a:t>
            </a:r>
            <a:r>
              <a:rPr lang="en-US" sz="1000" b="1" dirty="0">
                <a:solidFill>
                  <a:schemeClr val="accent2">
                    <a:lumMod val="20000"/>
                    <a:lumOff val="80000"/>
                  </a:schemeClr>
                </a:solidFill>
                <a:latin typeface="Calibri" panose="020F0502020204030204" pitchFamily="34" charset="0"/>
                <a:ea typeface="Calibri" panose="020F0502020204030204" pitchFamily="34" charset="0"/>
                <a:cs typeface="Calibri" panose="020F0502020204030204" pitchFamily="34" charset="0"/>
              </a:rPr>
              <a:t>balanced between neutral and positive</a:t>
            </a:r>
            <a:r>
              <a:rPr lang="en-US" sz="1000" dirty="0">
                <a:solidFill>
                  <a:schemeClr val="accent2">
                    <a:lumMod val="20000"/>
                    <a:lumOff val="80000"/>
                  </a:schemeClr>
                </a:solidFill>
                <a:latin typeface="Calibri" panose="020F0502020204030204" pitchFamily="34" charset="0"/>
                <a:ea typeface="Calibri" panose="020F0502020204030204" pitchFamily="34" charset="0"/>
                <a:cs typeface="Calibri" panose="020F0502020204030204" pitchFamily="34" charset="0"/>
              </a:rPr>
              <a:t>, with fewer strongly negative opinions</a:t>
            </a:r>
            <a:r>
              <a:rPr kumimoji="0" lang="en-US" altLang="en-US" sz="1000" b="0" i="0" u="none" strike="noStrike" cap="none" normalizeH="0" baseline="0" dirty="0">
                <a:ln>
                  <a:noFill/>
                </a:ln>
                <a:solidFill>
                  <a:schemeClr val="accent2">
                    <a:lumMod val="20000"/>
                    <a:lumOff val="80000"/>
                  </a:schemeClr>
                </a:solidFill>
                <a:effectLst/>
                <a:latin typeface="Calibri" panose="020F0502020204030204" pitchFamily="34" charset="0"/>
                <a:ea typeface="Calibri" panose="020F0502020204030204" pitchFamily="34" charset="0"/>
                <a:cs typeface="Calibri" panose="020F0502020204030204" pitchFamily="34" charset="0"/>
              </a:rPr>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537"/>
        <p:cNvGrpSpPr/>
        <p:nvPr/>
      </p:nvGrpSpPr>
      <p:grpSpPr>
        <a:xfrm>
          <a:off x="0" y="0"/>
          <a:ext cx="0" cy="0"/>
          <a:chOff x="0" y="0"/>
          <a:chExt cx="0" cy="0"/>
        </a:xfrm>
      </p:grpSpPr>
      <p:sp>
        <p:nvSpPr>
          <p:cNvPr id="538" name="Google Shape;538;p23"/>
          <p:cNvSpPr/>
          <p:nvPr/>
        </p:nvSpPr>
        <p:spPr>
          <a:xfrm>
            <a:off x="0" y="0"/>
            <a:ext cx="9144000" cy="621792"/>
          </a:xfrm>
          <a:prstGeom prst="rect">
            <a:avLst/>
          </a:prstGeom>
          <a:solidFill>
            <a:srgbClr val="112236"/>
          </a:solidFill>
          <a:ln w="12700" cap="flat" cmpd="sng">
            <a:solidFill>
              <a:srgbClr val="1122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3"/>
          <p:cNvSpPr/>
          <p:nvPr/>
        </p:nvSpPr>
        <p:spPr>
          <a:xfrm>
            <a:off x="0" y="0"/>
            <a:ext cx="128016" cy="621792"/>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3"/>
          <p:cNvSpPr/>
          <p:nvPr/>
        </p:nvSpPr>
        <p:spPr>
          <a:xfrm>
            <a:off x="219456" y="0"/>
            <a:ext cx="640080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3.2  SENTIMENT ANALYSIS — Trends Over Time &amp; Emotion Profile</a:t>
            </a:r>
            <a:endParaRPr sz="2000" b="0" i="0" u="none" strike="noStrike" cap="none">
              <a:solidFill>
                <a:schemeClr val="dk1"/>
              </a:solidFill>
              <a:latin typeface="Calibri"/>
              <a:ea typeface="Calibri"/>
              <a:cs typeface="Calibri"/>
              <a:sym typeface="Calibri"/>
            </a:endParaRPr>
          </a:p>
        </p:txBody>
      </p:sp>
      <p:sp>
        <p:nvSpPr>
          <p:cNvPr id="541" name="Google Shape;541;p23"/>
          <p:cNvSpPr/>
          <p:nvPr/>
        </p:nvSpPr>
        <p:spPr>
          <a:xfrm>
            <a:off x="6675120" y="137160"/>
            <a:ext cx="2286000" cy="34747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90AA"/>
              </a:buClr>
              <a:buSzPts val="1000"/>
              <a:buFont typeface="Calibri"/>
              <a:buNone/>
            </a:pPr>
            <a:r>
              <a:rPr lang="en-US" sz="1000" b="0" i="0" u="none" strike="noStrike" cap="none">
                <a:solidFill>
                  <a:srgbClr val="6B90AA"/>
                </a:solidFill>
                <a:latin typeface="Calibri"/>
                <a:ea typeface="Calibri"/>
                <a:cs typeface="Calibri"/>
                <a:sym typeface="Calibri"/>
              </a:rPr>
              <a:t>MANDATORY</a:t>
            </a:r>
            <a:endParaRPr sz="1000" b="0" i="0" u="none" strike="noStrike" cap="none">
              <a:solidFill>
                <a:schemeClr val="dk1"/>
              </a:solidFill>
              <a:latin typeface="Calibri"/>
              <a:ea typeface="Calibri"/>
              <a:cs typeface="Calibri"/>
              <a:sym typeface="Calibri"/>
            </a:endParaRPr>
          </a:p>
        </p:txBody>
      </p:sp>
      <p:sp>
        <p:nvSpPr>
          <p:cNvPr id="542" name="Google Shape;542;p23"/>
          <p:cNvSpPr/>
          <p:nvPr/>
        </p:nvSpPr>
        <p:spPr>
          <a:xfrm>
            <a:off x="7882128" y="91440"/>
            <a:ext cx="1170432" cy="274320"/>
          </a:xfrm>
          <a:prstGeom prst="roundRect">
            <a:avLst>
              <a:gd name="adj" fmla="val 13333"/>
            </a:avLst>
          </a:prstGeom>
          <a:solidFill>
            <a:srgbClr val="B83232"/>
          </a:solidFill>
          <a:ln w="12700" cap="flat" cmpd="sng">
            <a:solidFill>
              <a:srgbClr val="B832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3"/>
          <p:cNvSpPr/>
          <p:nvPr/>
        </p:nvSpPr>
        <p:spPr>
          <a:xfrm>
            <a:off x="7882128" y="91440"/>
            <a:ext cx="1170432"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en-US" sz="800" b="1" i="0" u="none" strike="noStrike" cap="none">
                <a:solidFill>
                  <a:srgbClr val="FFFFFF"/>
                </a:solidFill>
                <a:latin typeface="Calibri"/>
                <a:ea typeface="Calibri"/>
                <a:cs typeface="Calibri"/>
                <a:sym typeface="Calibri"/>
              </a:rPr>
              <a:t>MANDATORY</a:t>
            </a:r>
            <a:endParaRPr sz="800" b="0" i="0" u="none" strike="noStrike" cap="none">
              <a:solidFill>
                <a:schemeClr val="dk1"/>
              </a:solidFill>
              <a:latin typeface="Calibri"/>
              <a:ea typeface="Calibri"/>
              <a:cs typeface="Calibri"/>
              <a:sym typeface="Calibri"/>
            </a:endParaRPr>
          </a:p>
        </p:txBody>
      </p:sp>
      <p:sp>
        <p:nvSpPr>
          <p:cNvPr id="544" name="Google Shape;544;p23"/>
          <p:cNvSpPr/>
          <p:nvPr/>
        </p:nvSpPr>
        <p:spPr>
          <a:xfrm>
            <a:off x="5559552" y="749808"/>
            <a:ext cx="3310128" cy="2194560"/>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3"/>
          <p:cNvSpPr/>
          <p:nvPr/>
        </p:nvSpPr>
        <p:spPr>
          <a:xfrm>
            <a:off x="5705856" y="822960"/>
            <a:ext cx="3017520"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A623"/>
              </a:buClr>
              <a:buSzPts val="1100"/>
              <a:buFont typeface="Calibri"/>
              <a:buNone/>
            </a:pPr>
            <a:r>
              <a:rPr lang="en-US" sz="1100" b="1" i="0" u="none" strike="noStrike" cap="none">
                <a:solidFill>
                  <a:srgbClr val="F5A623"/>
                </a:solidFill>
                <a:latin typeface="Calibri"/>
                <a:ea typeface="Calibri"/>
                <a:cs typeface="Calibri"/>
                <a:sym typeface="Calibri"/>
              </a:rPr>
              <a:t>Sentiment Trend Observations</a:t>
            </a:r>
            <a:endParaRPr sz="1100" b="0" i="0" u="none" strike="noStrike" cap="none">
              <a:solidFill>
                <a:schemeClr val="dk1"/>
              </a:solidFill>
              <a:latin typeface="Calibri"/>
              <a:ea typeface="Calibri"/>
              <a:cs typeface="Calibri"/>
              <a:sym typeface="Calibri"/>
            </a:endParaRPr>
          </a:p>
        </p:txBody>
      </p:sp>
      <p:sp>
        <p:nvSpPr>
          <p:cNvPr id="546" name="Google Shape;546;p23"/>
          <p:cNvSpPr/>
          <p:nvPr/>
        </p:nvSpPr>
        <p:spPr>
          <a:xfrm>
            <a:off x="5705856" y="1188720"/>
            <a:ext cx="3017520" cy="1627632"/>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C8E0EF"/>
              </a:buClr>
              <a:buSzPts val="950"/>
              <a:buFont typeface="Calibri"/>
              <a:buChar char="•"/>
            </a:pPr>
            <a:r>
              <a:rPr lang="en-US" sz="950" b="0" i="0" u="none" strike="noStrike" cap="none">
                <a:solidFill>
                  <a:srgbClr val="C8E0EF"/>
                </a:solidFill>
                <a:latin typeface="Calibri"/>
                <a:ea typeface="Calibri"/>
                <a:cs typeface="Calibri"/>
                <a:sym typeface="Calibri"/>
              </a:rPr>
              <a:t>📈 Gradual upward trend May 10 → 17</a:t>
            </a:r>
            <a:endParaRPr sz="95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C8E0EF"/>
              </a:buClr>
              <a:buSzPts val="950"/>
              <a:buFont typeface="Calibri"/>
              <a:buChar char="•"/>
            </a:pPr>
            <a:r>
              <a:rPr lang="en-US" sz="950" b="0" i="0" u="none" strike="noStrike" cap="none">
                <a:solidFill>
                  <a:srgbClr val="C8E0EF"/>
                </a:solidFill>
                <a:latin typeface="Calibri"/>
                <a:ea typeface="Calibri"/>
                <a:cs typeface="Calibri"/>
                <a:sym typeface="Calibri"/>
              </a:rPr>
              <a:t>🏔  Peak May 17 — pre-election excitement (0.101)</a:t>
            </a:r>
            <a:endParaRPr sz="95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C8E0EF"/>
              </a:buClr>
              <a:buSzPts val="950"/>
              <a:buFont typeface="Calibri"/>
              <a:buChar char="•"/>
            </a:pPr>
            <a:r>
              <a:rPr lang="en-US" sz="950" b="0" i="0" u="none" strike="noStrike" cap="none">
                <a:solidFill>
                  <a:srgbClr val="C8E0EF"/>
                </a:solidFill>
                <a:latin typeface="Calibri"/>
                <a:ea typeface="Calibri"/>
                <a:cs typeface="Calibri"/>
                <a:sym typeface="Calibri"/>
              </a:rPr>
              <a:t>📉 Drop May 18 (Election Day) — uncertainty &amp; partisan conflict</a:t>
            </a:r>
            <a:endParaRPr sz="95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C8E0EF"/>
              </a:buClr>
              <a:buSzPts val="950"/>
              <a:buFont typeface="Calibri"/>
              <a:buChar char="•"/>
            </a:pPr>
            <a:r>
              <a:rPr lang="en-US" sz="950" b="0" i="0" u="none" strike="noStrike" cap="none">
                <a:solidFill>
                  <a:srgbClr val="C8E0EF"/>
                </a:solidFill>
                <a:latin typeface="Calibri"/>
                <a:ea typeface="Calibri"/>
                <a:cs typeface="Calibri"/>
                <a:sym typeface="Calibri"/>
              </a:rPr>
              <a:t>    Labor supporters expected to win — upset creates mixed reactions</a:t>
            </a:r>
            <a:endParaRPr sz="95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C8E0EF"/>
              </a:buClr>
              <a:buSzPts val="950"/>
              <a:buFont typeface="Calibri"/>
              <a:buChar char="•"/>
            </a:pPr>
            <a:r>
              <a:rPr lang="en-US" sz="950" b="0" i="0" u="none" strike="noStrike" cap="none">
                <a:solidFill>
                  <a:srgbClr val="C8E0EF"/>
                </a:solidFill>
                <a:latin typeface="Calibri"/>
                <a:ea typeface="Calibri"/>
                <a:cs typeface="Calibri"/>
                <a:sym typeface="Calibri"/>
              </a:rPr>
              <a:t>📊 Recovery stabilizes May 19–20</a:t>
            </a:r>
            <a:endParaRPr sz="95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C8E0EF"/>
              </a:buClr>
              <a:buSzPts val="950"/>
              <a:buFont typeface="Calibri"/>
              <a:buChar char="•"/>
            </a:pPr>
            <a:r>
              <a:rPr lang="en-US" sz="950" b="0" i="0" u="none" strike="noStrike" cap="none">
                <a:solidFill>
                  <a:srgbClr val="C8E0EF"/>
                </a:solidFill>
                <a:latin typeface="Calibri"/>
                <a:ea typeface="Calibri"/>
                <a:cs typeface="Calibri"/>
                <a:sym typeface="Calibri"/>
              </a:rPr>
              <a:t>    Acceptance of results; post-election discourse normalizes</a:t>
            </a:r>
            <a:endParaRPr sz="950" b="0" i="0" u="none" strike="noStrike" cap="none">
              <a:solidFill>
                <a:schemeClr val="dk1"/>
              </a:solidFill>
              <a:latin typeface="Calibri"/>
              <a:ea typeface="Calibri"/>
              <a:cs typeface="Calibri"/>
              <a:sym typeface="Calibri"/>
            </a:endParaRPr>
          </a:p>
        </p:txBody>
      </p:sp>
      <p:sp>
        <p:nvSpPr>
          <p:cNvPr id="547" name="Google Shape;547;p23"/>
          <p:cNvSpPr/>
          <p:nvPr/>
        </p:nvSpPr>
        <p:spPr>
          <a:xfrm>
            <a:off x="5559552" y="3072384"/>
            <a:ext cx="3310128" cy="1965960"/>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3"/>
          <p:cNvSpPr/>
          <p:nvPr/>
        </p:nvSpPr>
        <p:spPr>
          <a:xfrm>
            <a:off x="5705856" y="3145536"/>
            <a:ext cx="3017520"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A623"/>
              </a:buClr>
              <a:buSzPts val="1100"/>
              <a:buFont typeface="Calibri"/>
              <a:buNone/>
            </a:pPr>
            <a:r>
              <a:rPr lang="en-US" sz="1100" b="1" i="0" u="none" strike="noStrike" cap="none">
                <a:solidFill>
                  <a:srgbClr val="F5A623"/>
                </a:solidFill>
                <a:latin typeface="Calibri"/>
                <a:ea typeface="Calibri"/>
                <a:cs typeface="Calibri"/>
                <a:sym typeface="Calibri"/>
              </a:rPr>
              <a:t>NRC Emotion Insights</a:t>
            </a:r>
            <a:endParaRPr sz="1100" b="0" i="0" u="none" strike="noStrike" cap="none">
              <a:solidFill>
                <a:schemeClr val="dk1"/>
              </a:solidFill>
              <a:latin typeface="Calibri"/>
              <a:ea typeface="Calibri"/>
              <a:cs typeface="Calibri"/>
              <a:sym typeface="Calibri"/>
            </a:endParaRPr>
          </a:p>
        </p:txBody>
      </p:sp>
      <p:sp>
        <p:nvSpPr>
          <p:cNvPr id="549" name="Google Shape;549;p23"/>
          <p:cNvSpPr/>
          <p:nvPr/>
        </p:nvSpPr>
        <p:spPr>
          <a:xfrm>
            <a:off x="5705856" y="3493008"/>
            <a:ext cx="3017520" cy="141732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C8E0EF"/>
              </a:buClr>
              <a:buSzPts val="950"/>
              <a:buFont typeface="Calibri"/>
              <a:buChar char="•"/>
            </a:pPr>
            <a:r>
              <a:rPr lang="en-US" sz="950" b="0" i="0" u="none" strike="noStrike" cap="none">
                <a:solidFill>
                  <a:srgbClr val="C8E0EF"/>
                </a:solidFill>
                <a:latin typeface="Calibri"/>
                <a:ea typeface="Calibri"/>
                <a:cs typeface="Calibri"/>
                <a:sym typeface="Calibri"/>
              </a:rPr>
              <a:t>Trust dominates — credibility-focused discourse</a:t>
            </a:r>
            <a:endParaRPr sz="95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C8E0EF"/>
              </a:buClr>
              <a:buSzPts val="950"/>
              <a:buFont typeface="Calibri"/>
              <a:buChar char="•"/>
            </a:pPr>
            <a:r>
              <a:rPr lang="en-US" sz="950" b="0" i="0" u="none" strike="noStrike" cap="none">
                <a:solidFill>
                  <a:srgbClr val="C8E0EF"/>
                </a:solidFill>
                <a:latin typeface="Calibri"/>
                <a:ea typeface="Calibri"/>
                <a:cs typeface="Calibri"/>
                <a:sym typeface="Calibri"/>
              </a:rPr>
              <a:t>Anticipation #2 — pre-election excitement</a:t>
            </a:r>
            <a:endParaRPr sz="95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C8E0EF"/>
              </a:buClr>
              <a:buSzPts val="950"/>
              <a:buFont typeface="Calibri"/>
              <a:buChar char="•"/>
            </a:pPr>
            <a:r>
              <a:rPr lang="en-US" sz="950" b="0" i="0" u="none" strike="noStrike" cap="none">
                <a:solidFill>
                  <a:srgbClr val="C8E0EF"/>
                </a:solidFill>
                <a:latin typeface="Calibri"/>
                <a:ea typeface="Calibri"/>
                <a:cs typeface="Calibri"/>
                <a:sym typeface="Calibri"/>
              </a:rPr>
              <a:t>Positive (0.71) &gt;&gt; Negative (0.38)</a:t>
            </a:r>
            <a:endParaRPr sz="95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C8E0EF"/>
              </a:buClr>
              <a:buSzPts val="950"/>
              <a:buFont typeface="Calibri"/>
              <a:buChar char="•"/>
            </a:pPr>
            <a:r>
              <a:rPr lang="en-US" sz="950" b="0" i="0" u="none" strike="noStrike" cap="none">
                <a:solidFill>
                  <a:srgbClr val="C8E0EF"/>
                </a:solidFill>
                <a:latin typeface="Calibri"/>
                <a:ea typeface="Calibri"/>
                <a:cs typeface="Calibri"/>
                <a:sym typeface="Calibri"/>
              </a:rPr>
              <a:t>Fear &amp; Anger present but not extreme</a:t>
            </a:r>
            <a:endParaRPr sz="95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C8E0EF"/>
              </a:buClr>
              <a:buSzPts val="950"/>
              <a:buFont typeface="Calibri"/>
              <a:buChar char="•"/>
            </a:pPr>
            <a:r>
              <a:rPr lang="en-US" sz="950" b="0" i="0" u="none" strike="noStrike" cap="none">
                <a:solidFill>
                  <a:srgbClr val="C8E0EF"/>
                </a:solidFill>
                <a:latin typeface="Calibri"/>
                <a:ea typeface="Calibri"/>
                <a:cs typeface="Calibri"/>
                <a:sym typeface="Calibri"/>
              </a:rPr>
              <a:t>Disgust lowest — relatively civil discourse</a:t>
            </a:r>
            <a:endParaRPr sz="95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C8E0EF"/>
              </a:buClr>
              <a:buSzPts val="950"/>
              <a:buFont typeface="Calibri"/>
              <a:buChar char="•"/>
            </a:pPr>
            <a:r>
              <a:rPr lang="en-US" sz="950" b="0" i="0" u="none" strike="noStrike" cap="none">
                <a:solidFill>
                  <a:srgbClr val="C8E0EF"/>
                </a:solidFill>
                <a:latin typeface="Calibri"/>
                <a:ea typeface="Calibri"/>
                <a:cs typeface="Calibri"/>
                <a:sym typeface="Calibri"/>
              </a:rPr>
              <a:t>~21.7% tweets have all-zero NRC scores (short text limitation)</a:t>
            </a:r>
            <a:endParaRPr sz="950" b="0" i="0" u="none" strike="noStrike" cap="none">
              <a:solidFill>
                <a:schemeClr val="dk1"/>
              </a:solidFill>
              <a:latin typeface="Calibri"/>
              <a:ea typeface="Calibri"/>
              <a:cs typeface="Calibri"/>
              <a:sym typeface="Calibri"/>
            </a:endParaRPr>
          </a:p>
        </p:txBody>
      </p:sp>
      <p:pic>
        <p:nvPicPr>
          <p:cNvPr id="550" name="Google Shape;550;p23"/>
          <p:cNvPicPr preferRelativeResize="0"/>
          <p:nvPr/>
        </p:nvPicPr>
        <p:blipFill>
          <a:blip r:embed="rId3">
            <a:alphaModFix/>
          </a:blip>
          <a:stretch>
            <a:fillRect/>
          </a:stretch>
        </p:blipFill>
        <p:spPr>
          <a:xfrm>
            <a:off x="152400" y="774192"/>
            <a:ext cx="5254751" cy="2064220"/>
          </a:xfrm>
          <a:prstGeom prst="rect">
            <a:avLst/>
          </a:prstGeom>
          <a:noFill/>
          <a:ln>
            <a:noFill/>
          </a:ln>
        </p:spPr>
      </p:pic>
      <p:pic>
        <p:nvPicPr>
          <p:cNvPr id="551" name="Google Shape;551;p23"/>
          <p:cNvPicPr preferRelativeResize="0"/>
          <p:nvPr/>
        </p:nvPicPr>
        <p:blipFill>
          <a:blip r:embed="rId4">
            <a:alphaModFix/>
          </a:blip>
          <a:stretch>
            <a:fillRect/>
          </a:stretch>
        </p:blipFill>
        <p:spPr>
          <a:xfrm>
            <a:off x="152400" y="2990800"/>
            <a:ext cx="5254750" cy="200030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556"/>
        <p:cNvGrpSpPr/>
        <p:nvPr/>
      </p:nvGrpSpPr>
      <p:grpSpPr>
        <a:xfrm>
          <a:off x="0" y="0"/>
          <a:ext cx="0" cy="0"/>
          <a:chOff x="0" y="0"/>
          <a:chExt cx="0" cy="0"/>
        </a:xfrm>
      </p:grpSpPr>
      <p:sp>
        <p:nvSpPr>
          <p:cNvPr id="557" name="Google Shape;557;p24"/>
          <p:cNvSpPr/>
          <p:nvPr/>
        </p:nvSpPr>
        <p:spPr>
          <a:xfrm>
            <a:off x="0" y="0"/>
            <a:ext cx="9144000" cy="621792"/>
          </a:xfrm>
          <a:prstGeom prst="rect">
            <a:avLst/>
          </a:prstGeom>
          <a:solidFill>
            <a:srgbClr val="112236"/>
          </a:solidFill>
          <a:ln w="12700" cap="flat" cmpd="sng">
            <a:solidFill>
              <a:srgbClr val="1122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4"/>
          <p:cNvSpPr/>
          <p:nvPr/>
        </p:nvSpPr>
        <p:spPr>
          <a:xfrm>
            <a:off x="0" y="0"/>
            <a:ext cx="128016" cy="621792"/>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4"/>
          <p:cNvSpPr/>
          <p:nvPr/>
        </p:nvSpPr>
        <p:spPr>
          <a:xfrm>
            <a:off x="219456" y="0"/>
            <a:ext cx="877824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3.2  SENTIMENT ANALYSIS — Sentiment vs. Engagement</a:t>
            </a:r>
            <a:endParaRPr sz="2000" b="0" i="0" u="none" strike="noStrike" cap="none">
              <a:solidFill>
                <a:schemeClr val="dk1"/>
              </a:solidFill>
              <a:latin typeface="Calibri"/>
              <a:ea typeface="Calibri"/>
              <a:cs typeface="Calibri"/>
              <a:sym typeface="Calibri"/>
            </a:endParaRPr>
          </a:p>
        </p:txBody>
      </p:sp>
      <p:sp>
        <p:nvSpPr>
          <p:cNvPr id="560" name="Google Shape;560;p24"/>
          <p:cNvSpPr/>
          <p:nvPr/>
        </p:nvSpPr>
        <p:spPr>
          <a:xfrm>
            <a:off x="256032" y="749808"/>
            <a:ext cx="5029200" cy="4251960"/>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4"/>
          <p:cNvSpPr/>
          <p:nvPr/>
        </p:nvSpPr>
        <p:spPr>
          <a:xfrm>
            <a:off x="5486400" y="749808"/>
            <a:ext cx="3383280" cy="4251960"/>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4"/>
          <p:cNvSpPr/>
          <p:nvPr/>
        </p:nvSpPr>
        <p:spPr>
          <a:xfrm>
            <a:off x="5632704" y="822960"/>
            <a:ext cx="3072384"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A623"/>
              </a:buClr>
              <a:buSzPts val="1200"/>
              <a:buFont typeface="Calibri"/>
              <a:buNone/>
            </a:pPr>
            <a:r>
              <a:rPr lang="en-US" sz="1200" b="1" i="0" u="none" strike="noStrike" cap="none">
                <a:solidFill>
                  <a:srgbClr val="F5A623"/>
                </a:solidFill>
                <a:latin typeface="Calibri"/>
                <a:ea typeface="Calibri"/>
                <a:cs typeface="Calibri"/>
                <a:sym typeface="Calibri"/>
              </a:rPr>
              <a:t>Key Findings</a:t>
            </a:r>
            <a:endParaRPr sz="1200" b="0" i="0" u="none" strike="noStrike" cap="none">
              <a:solidFill>
                <a:schemeClr val="dk1"/>
              </a:solidFill>
              <a:latin typeface="Calibri"/>
              <a:ea typeface="Calibri"/>
              <a:cs typeface="Calibri"/>
              <a:sym typeface="Calibri"/>
            </a:endParaRPr>
          </a:p>
        </p:txBody>
      </p:sp>
      <p:sp>
        <p:nvSpPr>
          <p:cNvPr id="563" name="Google Shape;563;p24"/>
          <p:cNvSpPr/>
          <p:nvPr/>
        </p:nvSpPr>
        <p:spPr>
          <a:xfrm>
            <a:off x="5632704" y="1207008"/>
            <a:ext cx="3072384" cy="585216"/>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4"/>
          <p:cNvSpPr/>
          <p:nvPr/>
        </p:nvSpPr>
        <p:spPr>
          <a:xfrm>
            <a:off x="5632704" y="1207008"/>
            <a:ext cx="3072384" cy="50292"/>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4"/>
          <p:cNvSpPr/>
          <p:nvPr/>
        </p:nvSpPr>
        <p:spPr>
          <a:xfrm>
            <a:off x="5760720" y="1280160"/>
            <a:ext cx="2816352" cy="23774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 Scatter Plot</a:t>
            </a:r>
            <a:endParaRPr sz="1000" b="0" i="0" u="none" strike="noStrike" cap="none">
              <a:solidFill>
                <a:schemeClr val="dk1"/>
              </a:solidFill>
              <a:latin typeface="Calibri"/>
              <a:ea typeface="Calibri"/>
              <a:cs typeface="Calibri"/>
              <a:sym typeface="Calibri"/>
            </a:endParaRPr>
          </a:p>
        </p:txBody>
      </p:sp>
      <p:sp>
        <p:nvSpPr>
          <p:cNvPr id="566" name="Google Shape;566;p24"/>
          <p:cNvSpPr/>
          <p:nvPr/>
        </p:nvSpPr>
        <p:spPr>
          <a:xfrm>
            <a:off x="5760720" y="1517904"/>
            <a:ext cx="2816352" cy="21945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90AA"/>
              </a:buClr>
              <a:buSzPts val="900"/>
              <a:buFont typeface="Calibri"/>
              <a:buNone/>
            </a:pPr>
            <a:r>
              <a:rPr lang="en-US" sz="900" b="0" i="0" u="none" strike="noStrike" cap="none">
                <a:solidFill>
                  <a:srgbClr val="6B90AA"/>
                </a:solidFill>
                <a:latin typeface="Calibri"/>
                <a:ea typeface="Calibri"/>
                <a:cs typeface="Calibri"/>
                <a:sym typeface="Calibri"/>
              </a:rPr>
              <a:t>No linear correlation between polarity and popularity (r ≈ 0.00)</a:t>
            </a:r>
            <a:endParaRPr sz="900" b="0" i="0" u="none" strike="noStrike" cap="none">
              <a:solidFill>
                <a:schemeClr val="dk1"/>
              </a:solidFill>
              <a:latin typeface="Calibri"/>
              <a:ea typeface="Calibri"/>
              <a:cs typeface="Calibri"/>
              <a:sym typeface="Calibri"/>
            </a:endParaRPr>
          </a:p>
        </p:txBody>
      </p:sp>
      <p:sp>
        <p:nvSpPr>
          <p:cNvPr id="567" name="Google Shape;567;p24"/>
          <p:cNvSpPr/>
          <p:nvPr/>
        </p:nvSpPr>
        <p:spPr>
          <a:xfrm>
            <a:off x="5632704" y="1865376"/>
            <a:ext cx="3072384" cy="585216"/>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4"/>
          <p:cNvSpPr/>
          <p:nvPr/>
        </p:nvSpPr>
        <p:spPr>
          <a:xfrm>
            <a:off x="5632704" y="1865376"/>
            <a:ext cx="3072384" cy="50292"/>
          </a:xfrm>
          <a:prstGeom prst="rect">
            <a:avLst/>
          </a:prstGeom>
          <a:solidFill>
            <a:srgbClr val="0077A8"/>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4"/>
          <p:cNvSpPr/>
          <p:nvPr/>
        </p:nvSpPr>
        <p:spPr>
          <a:xfrm>
            <a:off x="5760720" y="1938528"/>
            <a:ext cx="2816352" cy="23774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 Negative Engagement</a:t>
            </a:r>
            <a:endParaRPr sz="1000" b="0" i="0" u="none" strike="noStrike" cap="none">
              <a:solidFill>
                <a:schemeClr val="dk1"/>
              </a:solidFill>
              <a:latin typeface="Calibri"/>
              <a:ea typeface="Calibri"/>
              <a:cs typeface="Calibri"/>
              <a:sym typeface="Calibri"/>
            </a:endParaRPr>
          </a:p>
        </p:txBody>
      </p:sp>
      <p:sp>
        <p:nvSpPr>
          <p:cNvPr id="570" name="Google Shape;570;p24"/>
          <p:cNvSpPr/>
          <p:nvPr/>
        </p:nvSpPr>
        <p:spPr>
          <a:xfrm>
            <a:off x="5760720" y="2176272"/>
            <a:ext cx="2816352" cy="21945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90AA"/>
              </a:buClr>
              <a:buSzPts val="900"/>
              <a:buFont typeface="Calibri"/>
              <a:buNone/>
            </a:pPr>
            <a:r>
              <a:rPr lang="en-US" sz="900" b="0" i="0" u="none" strike="noStrike" cap="none">
                <a:solidFill>
                  <a:srgbClr val="6B90AA"/>
                </a:solidFill>
                <a:latin typeface="Calibri"/>
                <a:ea typeface="Calibri"/>
                <a:cs typeface="Calibri"/>
                <a:sym typeface="Calibri"/>
              </a:rPr>
              <a:t>Negative tweets achieve HIGHER avg popularity than neutral</a:t>
            </a:r>
            <a:endParaRPr sz="900" b="0" i="0" u="none" strike="noStrike" cap="none">
              <a:solidFill>
                <a:schemeClr val="dk1"/>
              </a:solidFill>
              <a:latin typeface="Calibri"/>
              <a:ea typeface="Calibri"/>
              <a:cs typeface="Calibri"/>
              <a:sym typeface="Calibri"/>
            </a:endParaRPr>
          </a:p>
        </p:txBody>
      </p:sp>
      <p:sp>
        <p:nvSpPr>
          <p:cNvPr id="571" name="Google Shape;571;p24"/>
          <p:cNvSpPr/>
          <p:nvPr/>
        </p:nvSpPr>
        <p:spPr>
          <a:xfrm>
            <a:off x="5632704" y="2523744"/>
            <a:ext cx="3072384" cy="585216"/>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4"/>
          <p:cNvSpPr/>
          <p:nvPr/>
        </p:nvSpPr>
        <p:spPr>
          <a:xfrm>
            <a:off x="5632704" y="2523744"/>
            <a:ext cx="3072384" cy="50292"/>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4"/>
          <p:cNvSpPr/>
          <p:nvPr/>
        </p:nvSpPr>
        <p:spPr>
          <a:xfrm>
            <a:off x="5760720" y="2596896"/>
            <a:ext cx="2816352" cy="23774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 Positive Content</a:t>
            </a:r>
            <a:endParaRPr sz="1000" b="0" i="0" u="none" strike="noStrike" cap="none">
              <a:solidFill>
                <a:schemeClr val="dk1"/>
              </a:solidFill>
              <a:latin typeface="Calibri"/>
              <a:ea typeface="Calibri"/>
              <a:cs typeface="Calibri"/>
              <a:sym typeface="Calibri"/>
            </a:endParaRPr>
          </a:p>
        </p:txBody>
      </p:sp>
      <p:sp>
        <p:nvSpPr>
          <p:cNvPr id="574" name="Google Shape;574;p24"/>
          <p:cNvSpPr/>
          <p:nvPr/>
        </p:nvSpPr>
        <p:spPr>
          <a:xfrm>
            <a:off x="5760720" y="2834640"/>
            <a:ext cx="2816352" cy="21945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90AA"/>
              </a:buClr>
              <a:buSzPts val="900"/>
              <a:buFont typeface="Calibri"/>
              <a:buNone/>
            </a:pPr>
            <a:r>
              <a:rPr lang="en-US" sz="900" b="0" i="0" u="none" strike="noStrike" cap="none">
                <a:solidFill>
                  <a:srgbClr val="6B90AA"/>
                </a:solidFill>
                <a:latin typeface="Calibri"/>
                <a:ea typeface="Calibri"/>
                <a:cs typeface="Calibri"/>
                <a:sym typeface="Calibri"/>
              </a:rPr>
              <a:t>Positive tweets also outperform neutral — but less dramatically</a:t>
            </a:r>
            <a:endParaRPr sz="900" b="0" i="0" u="none" strike="noStrike" cap="none">
              <a:solidFill>
                <a:schemeClr val="dk1"/>
              </a:solidFill>
              <a:latin typeface="Calibri"/>
              <a:ea typeface="Calibri"/>
              <a:cs typeface="Calibri"/>
              <a:sym typeface="Calibri"/>
            </a:endParaRPr>
          </a:p>
        </p:txBody>
      </p:sp>
      <p:sp>
        <p:nvSpPr>
          <p:cNvPr id="575" name="Google Shape;575;p24"/>
          <p:cNvSpPr/>
          <p:nvPr/>
        </p:nvSpPr>
        <p:spPr>
          <a:xfrm>
            <a:off x="5632704" y="3182112"/>
            <a:ext cx="3072384" cy="585216"/>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4"/>
          <p:cNvSpPr/>
          <p:nvPr/>
        </p:nvSpPr>
        <p:spPr>
          <a:xfrm>
            <a:off x="5632704" y="3182112"/>
            <a:ext cx="3072384" cy="50292"/>
          </a:xfrm>
          <a:prstGeom prst="rect">
            <a:avLst/>
          </a:prstGeom>
          <a:solidFill>
            <a:srgbClr val="0077A8"/>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4"/>
          <p:cNvSpPr/>
          <p:nvPr/>
        </p:nvSpPr>
        <p:spPr>
          <a:xfrm>
            <a:off x="5760720" y="3255264"/>
            <a:ext cx="2816352" cy="23774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 Practical Insight</a:t>
            </a:r>
            <a:endParaRPr sz="1000" b="0" i="0" u="none" strike="noStrike" cap="none">
              <a:solidFill>
                <a:schemeClr val="dk1"/>
              </a:solidFill>
              <a:latin typeface="Calibri"/>
              <a:ea typeface="Calibri"/>
              <a:cs typeface="Calibri"/>
              <a:sym typeface="Calibri"/>
            </a:endParaRPr>
          </a:p>
        </p:txBody>
      </p:sp>
      <p:sp>
        <p:nvSpPr>
          <p:cNvPr id="578" name="Google Shape;578;p24"/>
          <p:cNvSpPr/>
          <p:nvPr/>
        </p:nvSpPr>
        <p:spPr>
          <a:xfrm>
            <a:off x="5760720" y="3493008"/>
            <a:ext cx="2816352" cy="21945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90AA"/>
              </a:buClr>
              <a:buSzPts val="900"/>
              <a:buFont typeface="Calibri"/>
              <a:buNone/>
            </a:pPr>
            <a:r>
              <a:rPr lang="en-US" sz="900" b="0" i="0" u="none" strike="noStrike" cap="none">
                <a:solidFill>
                  <a:srgbClr val="6B90AA"/>
                </a:solidFill>
                <a:latin typeface="Calibri"/>
                <a:ea typeface="Calibri"/>
                <a:cs typeface="Calibri"/>
                <a:sym typeface="Calibri"/>
              </a:rPr>
              <a:t>Neutral (informational) tweets get the least engagement</a:t>
            </a:r>
            <a:endParaRPr sz="900" b="0" i="0" u="none" strike="noStrike" cap="none">
              <a:solidFill>
                <a:schemeClr val="dk1"/>
              </a:solidFill>
              <a:latin typeface="Calibri"/>
              <a:ea typeface="Calibri"/>
              <a:cs typeface="Calibri"/>
              <a:sym typeface="Calibri"/>
            </a:endParaRPr>
          </a:p>
        </p:txBody>
      </p:sp>
      <p:sp>
        <p:nvSpPr>
          <p:cNvPr id="579" name="Google Shape;579;p24"/>
          <p:cNvSpPr/>
          <p:nvPr/>
        </p:nvSpPr>
        <p:spPr>
          <a:xfrm>
            <a:off x="5632704" y="3840480"/>
            <a:ext cx="3072384" cy="585216"/>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4"/>
          <p:cNvSpPr/>
          <p:nvPr/>
        </p:nvSpPr>
        <p:spPr>
          <a:xfrm>
            <a:off x="5632704" y="3840480"/>
            <a:ext cx="3072384" cy="50292"/>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4"/>
          <p:cNvSpPr/>
          <p:nvPr/>
        </p:nvSpPr>
        <p:spPr>
          <a:xfrm>
            <a:off x="5760720" y="3913632"/>
            <a:ext cx="2816352" cy="23774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 Implication</a:t>
            </a:r>
            <a:endParaRPr sz="1000" b="0" i="0" u="none" strike="noStrike" cap="none">
              <a:solidFill>
                <a:schemeClr val="dk1"/>
              </a:solidFill>
              <a:latin typeface="Calibri"/>
              <a:ea typeface="Calibri"/>
              <a:cs typeface="Calibri"/>
              <a:sym typeface="Calibri"/>
            </a:endParaRPr>
          </a:p>
        </p:txBody>
      </p:sp>
      <p:sp>
        <p:nvSpPr>
          <p:cNvPr id="582" name="Google Shape;582;p24"/>
          <p:cNvSpPr/>
          <p:nvPr/>
        </p:nvSpPr>
        <p:spPr>
          <a:xfrm>
            <a:off x="5760720" y="4151376"/>
            <a:ext cx="2816352" cy="21945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90AA"/>
              </a:buClr>
              <a:buSzPts val="900"/>
              <a:buFont typeface="Calibri"/>
              <a:buNone/>
            </a:pPr>
            <a:r>
              <a:rPr lang="en-US" sz="900" b="0" i="0" u="none" strike="noStrike" cap="none">
                <a:solidFill>
                  <a:srgbClr val="6B90AA"/>
                </a:solidFill>
                <a:latin typeface="Calibri"/>
                <a:ea typeface="Calibri"/>
                <a:cs typeface="Calibri"/>
                <a:sym typeface="Calibri"/>
              </a:rPr>
              <a:t>Emotional content — in any direction — resonates more with audiences</a:t>
            </a:r>
            <a:endParaRPr sz="900" b="0" i="0" u="none" strike="noStrike" cap="none">
              <a:solidFill>
                <a:schemeClr val="dk1"/>
              </a:solidFill>
              <a:latin typeface="Calibri"/>
              <a:ea typeface="Calibri"/>
              <a:cs typeface="Calibri"/>
              <a:sym typeface="Calibri"/>
            </a:endParaRPr>
          </a:p>
        </p:txBody>
      </p:sp>
      <p:pic>
        <p:nvPicPr>
          <p:cNvPr id="583" name="Google Shape;583;p24"/>
          <p:cNvPicPr preferRelativeResize="0"/>
          <p:nvPr/>
        </p:nvPicPr>
        <p:blipFill>
          <a:blip r:embed="rId3">
            <a:alphaModFix/>
          </a:blip>
          <a:stretch>
            <a:fillRect/>
          </a:stretch>
        </p:blipFill>
        <p:spPr>
          <a:xfrm>
            <a:off x="128025" y="666000"/>
            <a:ext cx="5333102" cy="42519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588"/>
        <p:cNvGrpSpPr/>
        <p:nvPr/>
      </p:nvGrpSpPr>
      <p:grpSpPr>
        <a:xfrm>
          <a:off x="0" y="0"/>
          <a:ext cx="0" cy="0"/>
          <a:chOff x="0" y="0"/>
          <a:chExt cx="0" cy="0"/>
        </a:xfrm>
      </p:grpSpPr>
      <p:sp>
        <p:nvSpPr>
          <p:cNvPr id="589" name="Google Shape;589;p25"/>
          <p:cNvSpPr/>
          <p:nvPr/>
        </p:nvSpPr>
        <p:spPr>
          <a:xfrm>
            <a:off x="-914400" y="1828800"/>
            <a:ext cx="3200400" cy="3200400"/>
          </a:xfrm>
          <a:prstGeom prst="ellipse">
            <a:avLst/>
          </a:prstGeom>
          <a:solidFill>
            <a:srgbClr val="00C2D4">
              <a:alpha val="7843"/>
            </a:srgbClr>
          </a:solidFill>
          <a:ln w="12700" cap="flat" cmpd="sng">
            <a:solidFill>
              <a:srgbClr val="00C2D4">
                <a:alpha val="784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5"/>
          <p:cNvSpPr/>
          <p:nvPr/>
        </p:nvSpPr>
        <p:spPr>
          <a:xfrm>
            <a:off x="548640" y="1645920"/>
            <a:ext cx="91440" cy="1828800"/>
          </a:xfrm>
          <a:prstGeom prst="rect">
            <a:avLst/>
          </a:prstGeom>
          <a:solidFill>
            <a:srgbClr val="FF8C00"/>
          </a:solidFill>
          <a:ln w="12700" cap="flat" cmpd="sng">
            <a:solidFill>
              <a:srgbClr val="FF8C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5"/>
          <p:cNvSpPr/>
          <p:nvPr/>
        </p:nvSpPr>
        <p:spPr>
          <a:xfrm>
            <a:off x="777240" y="1554480"/>
            <a:ext cx="2743200" cy="5029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8C00"/>
              </a:buClr>
              <a:buSzPts val="1300"/>
              <a:buFont typeface="Calibri"/>
              <a:buNone/>
            </a:pPr>
            <a:r>
              <a:rPr lang="en-US" sz="1300" b="1" i="0" u="none" strike="noStrike" cap="none">
                <a:solidFill>
                  <a:srgbClr val="FF8C00"/>
                </a:solidFill>
                <a:latin typeface="Calibri"/>
                <a:ea typeface="Calibri"/>
                <a:cs typeface="Calibri"/>
                <a:sym typeface="Calibri"/>
              </a:rPr>
              <a:t>SECTION 3.3</a:t>
            </a:r>
            <a:endParaRPr sz="1300" b="0" i="0" u="none" strike="noStrike" cap="none">
              <a:solidFill>
                <a:schemeClr val="dk1"/>
              </a:solidFill>
              <a:latin typeface="Calibri"/>
              <a:ea typeface="Calibri"/>
              <a:cs typeface="Calibri"/>
              <a:sym typeface="Calibri"/>
            </a:endParaRPr>
          </a:p>
        </p:txBody>
      </p:sp>
      <p:sp>
        <p:nvSpPr>
          <p:cNvPr id="592" name="Google Shape;592;p25"/>
          <p:cNvSpPr/>
          <p:nvPr/>
        </p:nvSpPr>
        <p:spPr>
          <a:xfrm>
            <a:off x="777240" y="2011680"/>
            <a:ext cx="6858000" cy="10972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4000"/>
              <a:buFont typeface="Calibri"/>
              <a:buNone/>
            </a:pPr>
            <a:r>
              <a:rPr lang="en-US" sz="4000" b="1" i="0" u="none" strike="noStrike" cap="none">
                <a:solidFill>
                  <a:srgbClr val="FFFFFF"/>
                </a:solidFill>
                <a:latin typeface="Calibri"/>
                <a:ea typeface="Calibri"/>
                <a:cs typeface="Calibri"/>
                <a:sym typeface="Calibri"/>
              </a:rPr>
              <a:t>TOPIC MODELING (LDA)</a:t>
            </a:r>
            <a:endParaRPr sz="4000" b="0" i="0" u="none" strike="noStrike" cap="non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597"/>
        <p:cNvGrpSpPr/>
        <p:nvPr/>
      </p:nvGrpSpPr>
      <p:grpSpPr>
        <a:xfrm>
          <a:off x="0" y="0"/>
          <a:ext cx="0" cy="0"/>
          <a:chOff x="0" y="0"/>
          <a:chExt cx="0" cy="0"/>
        </a:xfrm>
      </p:grpSpPr>
      <p:sp>
        <p:nvSpPr>
          <p:cNvPr id="598" name="Google Shape;598;p26"/>
          <p:cNvSpPr/>
          <p:nvPr/>
        </p:nvSpPr>
        <p:spPr>
          <a:xfrm>
            <a:off x="0" y="0"/>
            <a:ext cx="9144000" cy="621792"/>
          </a:xfrm>
          <a:prstGeom prst="rect">
            <a:avLst/>
          </a:prstGeom>
          <a:solidFill>
            <a:srgbClr val="112236"/>
          </a:solidFill>
          <a:ln w="12700" cap="flat" cmpd="sng">
            <a:solidFill>
              <a:srgbClr val="1122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6"/>
          <p:cNvSpPr/>
          <p:nvPr/>
        </p:nvSpPr>
        <p:spPr>
          <a:xfrm>
            <a:off x="0" y="0"/>
            <a:ext cx="128016" cy="621792"/>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26"/>
          <p:cNvSpPr/>
          <p:nvPr/>
        </p:nvSpPr>
        <p:spPr>
          <a:xfrm>
            <a:off x="219456" y="0"/>
            <a:ext cx="640080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3.3  TOPIC MODELING — LDA Setup &amp; Coherence Score</a:t>
            </a:r>
            <a:endParaRPr sz="2000" b="0" i="0" u="none" strike="noStrike" cap="none">
              <a:solidFill>
                <a:schemeClr val="dk1"/>
              </a:solidFill>
              <a:latin typeface="Calibri"/>
              <a:ea typeface="Calibri"/>
              <a:cs typeface="Calibri"/>
              <a:sym typeface="Calibri"/>
            </a:endParaRPr>
          </a:p>
        </p:txBody>
      </p:sp>
      <p:sp>
        <p:nvSpPr>
          <p:cNvPr id="601" name="Google Shape;601;p26"/>
          <p:cNvSpPr/>
          <p:nvPr/>
        </p:nvSpPr>
        <p:spPr>
          <a:xfrm>
            <a:off x="6675120" y="137160"/>
            <a:ext cx="2286000" cy="34747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90AA"/>
              </a:buClr>
              <a:buSzPts val="1000"/>
              <a:buFont typeface="Calibri"/>
              <a:buNone/>
            </a:pPr>
            <a:r>
              <a:rPr lang="en-US" sz="1000" b="0" i="0" u="none" strike="noStrike" cap="none">
                <a:solidFill>
                  <a:srgbClr val="6B90AA"/>
                </a:solidFill>
                <a:latin typeface="Calibri"/>
                <a:ea typeface="Calibri"/>
                <a:cs typeface="Calibri"/>
                <a:sym typeface="Calibri"/>
              </a:rPr>
              <a:t>MANDATORY</a:t>
            </a:r>
            <a:endParaRPr sz="1000" b="0" i="0" u="none" strike="noStrike" cap="none">
              <a:solidFill>
                <a:schemeClr val="dk1"/>
              </a:solidFill>
              <a:latin typeface="Calibri"/>
              <a:ea typeface="Calibri"/>
              <a:cs typeface="Calibri"/>
              <a:sym typeface="Calibri"/>
            </a:endParaRPr>
          </a:p>
        </p:txBody>
      </p:sp>
      <p:sp>
        <p:nvSpPr>
          <p:cNvPr id="602" name="Google Shape;602;p26"/>
          <p:cNvSpPr/>
          <p:nvPr/>
        </p:nvSpPr>
        <p:spPr>
          <a:xfrm>
            <a:off x="7882128" y="91440"/>
            <a:ext cx="1170432" cy="274320"/>
          </a:xfrm>
          <a:prstGeom prst="roundRect">
            <a:avLst>
              <a:gd name="adj" fmla="val 13333"/>
            </a:avLst>
          </a:prstGeom>
          <a:solidFill>
            <a:srgbClr val="B83232"/>
          </a:solidFill>
          <a:ln w="12700" cap="flat" cmpd="sng">
            <a:solidFill>
              <a:srgbClr val="B832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26"/>
          <p:cNvSpPr/>
          <p:nvPr/>
        </p:nvSpPr>
        <p:spPr>
          <a:xfrm>
            <a:off x="7882128" y="91440"/>
            <a:ext cx="1170432"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en-US" sz="800" b="1" i="0" u="none" strike="noStrike" cap="none">
                <a:solidFill>
                  <a:srgbClr val="FFFFFF"/>
                </a:solidFill>
                <a:latin typeface="Calibri"/>
                <a:ea typeface="Calibri"/>
                <a:cs typeface="Calibri"/>
                <a:sym typeface="Calibri"/>
              </a:rPr>
              <a:t>MANDATORY</a:t>
            </a:r>
            <a:endParaRPr sz="800" b="0" i="0" u="none" strike="noStrike" cap="none">
              <a:solidFill>
                <a:schemeClr val="dk1"/>
              </a:solidFill>
              <a:latin typeface="Calibri"/>
              <a:ea typeface="Calibri"/>
              <a:cs typeface="Calibri"/>
              <a:sym typeface="Calibri"/>
            </a:endParaRPr>
          </a:p>
        </p:txBody>
      </p:sp>
      <p:sp>
        <p:nvSpPr>
          <p:cNvPr id="604" name="Google Shape;604;p26"/>
          <p:cNvSpPr/>
          <p:nvPr/>
        </p:nvSpPr>
        <p:spPr>
          <a:xfrm>
            <a:off x="4572000" y="3256527"/>
            <a:ext cx="4297680" cy="1745241"/>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6"/>
          <p:cNvSpPr/>
          <p:nvPr/>
        </p:nvSpPr>
        <p:spPr>
          <a:xfrm>
            <a:off x="4718304" y="3858768"/>
            <a:ext cx="4005072" cy="2743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8C00"/>
              </a:buClr>
              <a:buSzPts val="1100"/>
              <a:buFont typeface="Calibri"/>
              <a:buNone/>
            </a:pPr>
            <a:endParaRPr sz="1100" b="0" i="0" u="none" strike="noStrike" cap="none" dirty="0">
              <a:solidFill>
                <a:schemeClr val="dk1"/>
              </a:solidFill>
              <a:latin typeface="Calibri"/>
              <a:ea typeface="Calibri"/>
              <a:cs typeface="Calibri"/>
              <a:sym typeface="Calibri"/>
            </a:endParaRPr>
          </a:p>
        </p:txBody>
      </p:sp>
      <p:sp>
        <p:nvSpPr>
          <p:cNvPr id="606" name="Google Shape;606;p26"/>
          <p:cNvSpPr/>
          <p:nvPr/>
        </p:nvSpPr>
        <p:spPr>
          <a:xfrm>
            <a:off x="4718304" y="3490175"/>
            <a:ext cx="4005072" cy="1429297"/>
          </a:xfrm>
          <a:prstGeom prst="rect">
            <a:avLst/>
          </a:prstGeom>
          <a:noFill/>
          <a:ln>
            <a:noFill/>
          </a:ln>
        </p:spPr>
        <p:txBody>
          <a:bodyPr spcFirstLastPara="1" wrap="square" lIns="91425" tIns="45700" rIns="91425" bIns="45700" anchor="t" anchorCtr="0">
            <a:noAutofit/>
          </a:bodyPr>
          <a:lstStyle/>
          <a:p>
            <a:pPr marL="171450" lvl="0" indent="-171450">
              <a:buClr>
                <a:srgbClr val="C8E0EF"/>
              </a:buClr>
              <a:buSzPts val="1000"/>
              <a:buFont typeface="Arial" panose="020B0604020202020204" pitchFamily="34" charset="0"/>
              <a:buChar char="•"/>
            </a:pP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Evaluated topic models from </a:t>
            </a:r>
            <a:r>
              <a:rPr lang="en-US" sz="1000" b="1" dirty="0">
                <a:solidFill>
                  <a:schemeClr val="bg1"/>
                </a:solidFill>
                <a:latin typeface="Calibri" panose="020F0502020204030204" pitchFamily="34" charset="0"/>
                <a:ea typeface="Calibri" panose="020F0502020204030204" pitchFamily="34" charset="0"/>
                <a:cs typeface="Calibri" panose="020F0502020204030204" pitchFamily="34" charset="0"/>
              </a:rPr>
              <a:t>2 to 7 topics</a:t>
            </a:r>
          </a:p>
          <a:p>
            <a:pPr marL="171450" lvl="0" indent="-171450">
              <a:buClr>
                <a:srgbClr val="C8E0EF"/>
              </a:buClr>
              <a:buSzPts val="1000"/>
              <a:buFont typeface="Arial" panose="020B0604020202020204" pitchFamily="34" charset="0"/>
              <a:buChar char="•"/>
            </a:pP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Used </a:t>
            </a:r>
            <a:r>
              <a:rPr lang="en-US" sz="1000" b="1" dirty="0">
                <a:solidFill>
                  <a:schemeClr val="bg1"/>
                </a:solidFill>
                <a:latin typeface="Calibri" panose="020F0502020204030204" pitchFamily="34" charset="0"/>
                <a:ea typeface="Calibri" panose="020F0502020204030204" pitchFamily="34" charset="0"/>
                <a:cs typeface="Calibri" panose="020F0502020204030204" pitchFamily="34" charset="0"/>
              </a:rPr>
              <a:t>coherence score</a:t>
            </a: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 to measure topic quality and interpretability</a:t>
            </a:r>
          </a:p>
          <a:p>
            <a:pPr marL="171450" lvl="0" indent="-171450">
              <a:buClr>
                <a:srgbClr val="C8E0EF"/>
              </a:buClr>
              <a:buSzPts val="1000"/>
              <a:buFont typeface="Arial" panose="020B0604020202020204" pitchFamily="34" charset="0"/>
              <a:buChar char="•"/>
            </a:pP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Highest coherence score observed at </a:t>
            </a:r>
            <a:r>
              <a:rPr lang="en-US" sz="1000" b="1" dirty="0">
                <a:solidFill>
                  <a:schemeClr val="bg1"/>
                </a:solidFill>
                <a:latin typeface="Calibri" panose="020F0502020204030204" pitchFamily="34" charset="0"/>
                <a:ea typeface="Calibri" panose="020F0502020204030204" pitchFamily="34" charset="0"/>
                <a:cs typeface="Calibri" panose="020F0502020204030204" pitchFamily="34" charset="0"/>
              </a:rPr>
              <a:t>3 topics (~0.41)</a:t>
            </a:r>
          </a:p>
          <a:p>
            <a:pPr marL="171450" lvl="0" indent="-171450">
              <a:buClr>
                <a:srgbClr val="C8E0EF"/>
              </a:buClr>
              <a:buSzPts val="1000"/>
              <a:buFont typeface="Arial" panose="020B0604020202020204" pitchFamily="34" charset="0"/>
              <a:buChar char="•"/>
            </a:pPr>
            <a:r>
              <a:rPr lang="en-US" sz="1000" b="0" i="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Calibri"/>
              </a:rPr>
              <a:t>Coherence scores are stochastic — different values every run</a:t>
            </a:r>
          </a:p>
          <a:p>
            <a:pPr marL="171450" marR="0" lvl="0" indent="-171450" algn="l" rtl="0">
              <a:spcBef>
                <a:spcPts val="0"/>
              </a:spcBef>
              <a:spcAft>
                <a:spcPts val="0"/>
              </a:spcAft>
              <a:buClr>
                <a:srgbClr val="C8E0EF"/>
              </a:buClr>
              <a:buSzPts val="1000"/>
              <a:buFont typeface="Arial" panose="020B0604020202020204" pitchFamily="34" charset="0"/>
              <a:buChar char="•"/>
            </a:pPr>
            <a:r>
              <a:rPr lang="en-US" sz="1000" b="0" i="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Calibri"/>
              </a:rPr>
              <a:t>Peak at </a:t>
            </a: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sym typeface="Calibri"/>
              </a:rPr>
              <a:t>3</a:t>
            </a:r>
            <a:r>
              <a:rPr lang="en-US" sz="1000" b="0" i="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Calibri"/>
              </a:rPr>
              <a:t> topics observed in first run — hardcoded as NUM_TOPICS=5</a:t>
            </a:r>
          </a:p>
          <a:p>
            <a:pPr marL="171450" marR="0" lvl="0" indent="-171450" algn="l" rtl="0">
              <a:spcBef>
                <a:spcPts val="0"/>
              </a:spcBef>
              <a:spcAft>
                <a:spcPts val="0"/>
              </a:spcAft>
              <a:buClr>
                <a:srgbClr val="C8E0EF"/>
              </a:buClr>
              <a:buSzPts val="1000"/>
              <a:buFont typeface="Arial" panose="020B0604020202020204" pitchFamily="34" charset="0"/>
              <a:buChar char="•"/>
            </a:pPr>
            <a:r>
              <a:rPr lang="en-US" sz="1000" b="0" i="0" u="none" strike="noStrike" cap="none" dirty="0">
                <a:solidFill>
                  <a:schemeClr val="bg1"/>
                </a:solidFill>
                <a:latin typeface="Calibri" panose="020F0502020204030204" pitchFamily="34" charset="0"/>
                <a:ea typeface="Calibri" panose="020F0502020204030204" pitchFamily="34" charset="0"/>
                <a:cs typeface="Calibri" panose="020F0502020204030204" pitchFamily="34" charset="0"/>
                <a:sym typeface="Calibri"/>
              </a:rPr>
              <a:t>Short tweet text causes early coherence peaks — 5 gives richer separation</a:t>
            </a:r>
          </a:p>
        </p:txBody>
      </p:sp>
      <p:pic>
        <p:nvPicPr>
          <p:cNvPr id="607" name="Google Shape;607;p26"/>
          <p:cNvPicPr preferRelativeResize="0"/>
          <p:nvPr/>
        </p:nvPicPr>
        <p:blipFill>
          <a:blip r:embed="rId3">
            <a:alphaModFix/>
          </a:blip>
          <a:stretch>
            <a:fillRect/>
          </a:stretch>
        </p:blipFill>
        <p:spPr>
          <a:xfrm>
            <a:off x="60325" y="774202"/>
            <a:ext cx="4267201" cy="4145270"/>
          </a:xfrm>
          <a:prstGeom prst="rect">
            <a:avLst/>
          </a:prstGeom>
          <a:noFill/>
          <a:ln>
            <a:noFill/>
          </a:ln>
        </p:spPr>
      </p:pic>
      <p:pic>
        <p:nvPicPr>
          <p:cNvPr id="608" name="Google Shape;608;p26"/>
          <p:cNvPicPr preferRelativeResize="0"/>
          <p:nvPr/>
        </p:nvPicPr>
        <p:blipFill>
          <a:blip r:embed="rId4">
            <a:alphaModFix/>
          </a:blip>
          <a:stretch>
            <a:fillRect/>
          </a:stretch>
        </p:blipFill>
        <p:spPr>
          <a:xfrm>
            <a:off x="4404375" y="780950"/>
            <a:ext cx="4632925" cy="231641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613"/>
        <p:cNvGrpSpPr/>
        <p:nvPr/>
      </p:nvGrpSpPr>
      <p:grpSpPr>
        <a:xfrm>
          <a:off x="0" y="0"/>
          <a:ext cx="0" cy="0"/>
          <a:chOff x="0" y="0"/>
          <a:chExt cx="0" cy="0"/>
        </a:xfrm>
      </p:grpSpPr>
      <p:sp>
        <p:nvSpPr>
          <p:cNvPr id="614" name="Google Shape;614;p27"/>
          <p:cNvSpPr/>
          <p:nvPr/>
        </p:nvSpPr>
        <p:spPr>
          <a:xfrm>
            <a:off x="0" y="0"/>
            <a:ext cx="9144000" cy="621792"/>
          </a:xfrm>
          <a:prstGeom prst="rect">
            <a:avLst/>
          </a:prstGeom>
          <a:solidFill>
            <a:srgbClr val="112236"/>
          </a:solidFill>
          <a:ln w="12700" cap="flat" cmpd="sng">
            <a:solidFill>
              <a:srgbClr val="1122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7"/>
          <p:cNvSpPr/>
          <p:nvPr/>
        </p:nvSpPr>
        <p:spPr>
          <a:xfrm>
            <a:off x="0" y="0"/>
            <a:ext cx="128016" cy="621792"/>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7"/>
          <p:cNvSpPr/>
          <p:nvPr/>
        </p:nvSpPr>
        <p:spPr>
          <a:xfrm>
            <a:off x="219456" y="0"/>
            <a:ext cx="640080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3.3  TOPIC MODELING — 5 Topics &amp; Interpretations</a:t>
            </a:r>
            <a:endParaRPr sz="2000" b="0" i="0" u="none" strike="noStrike" cap="none">
              <a:solidFill>
                <a:schemeClr val="dk1"/>
              </a:solidFill>
              <a:latin typeface="Calibri"/>
              <a:ea typeface="Calibri"/>
              <a:cs typeface="Calibri"/>
              <a:sym typeface="Calibri"/>
            </a:endParaRPr>
          </a:p>
        </p:txBody>
      </p:sp>
      <p:sp>
        <p:nvSpPr>
          <p:cNvPr id="617" name="Google Shape;617;p27"/>
          <p:cNvSpPr/>
          <p:nvPr/>
        </p:nvSpPr>
        <p:spPr>
          <a:xfrm>
            <a:off x="6675120" y="137160"/>
            <a:ext cx="2286000" cy="34747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90AA"/>
              </a:buClr>
              <a:buSzPts val="1000"/>
              <a:buFont typeface="Calibri"/>
              <a:buNone/>
            </a:pPr>
            <a:r>
              <a:rPr lang="en-US" sz="1000" b="0" i="0" u="none" strike="noStrike" cap="none">
                <a:solidFill>
                  <a:srgbClr val="6B90AA"/>
                </a:solidFill>
                <a:latin typeface="Calibri"/>
                <a:ea typeface="Calibri"/>
                <a:cs typeface="Calibri"/>
                <a:sym typeface="Calibri"/>
              </a:rPr>
              <a:t>MANDATORY</a:t>
            </a:r>
            <a:endParaRPr sz="1000" b="0" i="0" u="none" strike="noStrike" cap="none">
              <a:solidFill>
                <a:schemeClr val="dk1"/>
              </a:solidFill>
              <a:latin typeface="Calibri"/>
              <a:ea typeface="Calibri"/>
              <a:cs typeface="Calibri"/>
              <a:sym typeface="Calibri"/>
            </a:endParaRPr>
          </a:p>
        </p:txBody>
      </p:sp>
      <p:sp>
        <p:nvSpPr>
          <p:cNvPr id="618" name="Google Shape;618;p27"/>
          <p:cNvSpPr/>
          <p:nvPr/>
        </p:nvSpPr>
        <p:spPr>
          <a:xfrm>
            <a:off x="7882128" y="91440"/>
            <a:ext cx="1170432" cy="274320"/>
          </a:xfrm>
          <a:prstGeom prst="roundRect">
            <a:avLst>
              <a:gd name="adj" fmla="val 13333"/>
            </a:avLst>
          </a:prstGeom>
          <a:solidFill>
            <a:srgbClr val="B83232"/>
          </a:solidFill>
          <a:ln w="12700" cap="flat" cmpd="sng">
            <a:solidFill>
              <a:srgbClr val="B832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7"/>
          <p:cNvSpPr/>
          <p:nvPr/>
        </p:nvSpPr>
        <p:spPr>
          <a:xfrm>
            <a:off x="7882128" y="91440"/>
            <a:ext cx="1170432"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en-US" sz="800" b="1" i="0" u="none" strike="noStrike" cap="none">
                <a:solidFill>
                  <a:srgbClr val="FFFFFF"/>
                </a:solidFill>
                <a:latin typeface="Calibri"/>
                <a:ea typeface="Calibri"/>
                <a:cs typeface="Calibri"/>
                <a:sym typeface="Calibri"/>
              </a:rPr>
              <a:t>MANDATORY</a:t>
            </a:r>
            <a:endParaRPr sz="800" b="0" i="0" u="none" strike="noStrike" cap="none">
              <a:solidFill>
                <a:schemeClr val="dk1"/>
              </a:solidFill>
              <a:latin typeface="Calibri"/>
              <a:ea typeface="Calibri"/>
              <a:cs typeface="Calibri"/>
              <a:sym typeface="Calibri"/>
            </a:endParaRPr>
          </a:p>
        </p:txBody>
      </p:sp>
      <p:pic>
        <p:nvPicPr>
          <p:cNvPr id="620" name="Google Shape;620;p27"/>
          <p:cNvPicPr preferRelativeResize="0"/>
          <p:nvPr/>
        </p:nvPicPr>
        <p:blipFill>
          <a:blip r:embed="rId3">
            <a:alphaModFix/>
          </a:blip>
          <a:stretch>
            <a:fillRect/>
          </a:stretch>
        </p:blipFill>
        <p:spPr>
          <a:xfrm>
            <a:off x="504694" y="667512"/>
            <a:ext cx="7962650" cy="2997922"/>
          </a:xfrm>
          <a:prstGeom prst="rect">
            <a:avLst/>
          </a:prstGeom>
          <a:noFill/>
          <a:ln>
            <a:noFill/>
          </a:ln>
        </p:spPr>
      </p:pic>
      <p:sp>
        <p:nvSpPr>
          <p:cNvPr id="3" name="TextBox 2">
            <a:extLst>
              <a:ext uri="{FF2B5EF4-FFF2-40B4-BE49-F238E27FC236}">
                <a16:creationId xmlns:a16="http://schemas.microsoft.com/office/drawing/2014/main" id="{709D80E8-F11D-ED81-4D1D-45C927DFDCDC}"/>
              </a:ext>
            </a:extLst>
          </p:cNvPr>
          <p:cNvSpPr txBox="1"/>
          <p:nvPr/>
        </p:nvSpPr>
        <p:spPr>
          <a:xfrm>
            <a:off x="466859" y="3802124"/>
            <a:ext cx="8210282" cy="1015663"/>
          </a:xfrm>
          <a:prstGeom prst="rect">
            <a:avLst/>
          </a:prstGeom>
          <a:noFill/>
        </p:spPr>
        <p:txBody>
          <a:bodyPr wrap="square">
            <a:spAutoFit/>
          </a:bodyPr>
          <a:lstStyle/>
          <a:p>
            <a:r>
              <a:rPr lang="en-US" sz="1000" b="0" i="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Topic 0: Election Day Culture &amp; Democracy Sausage Interpretation: captures the cultural and social aspects of election day;</a:t>
            </a:r>
          </a:p>
          <a:p>
            <a:r>
              <a:rPr lang="en-US" sz="1000" b="0" i="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Topic 1: Political Leaders &amp; Controversies Interpretation: focuses on discussions about prominent political leaders and Controversies involved in the election. </a:t>
            </a:r>
          </a:p>
          <a:p>
            <a:r>
              <a:rPr lang="en-US" sz="1000" b="0" i="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Topic 2: Voting Activity &amp; Public Participation Interpretation: represents real-time voting activity and public participation</a:t>
            </a:r>
          </a:p>
          <a:p>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1000" b="0" i="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Topic 3: Policy Debate: Climate, Tax &amp; Government Interpretation: reflects debates around major policy issues. </a:t>
            </a:r>
          </a:p>
          <a:p>
            <a:r>
              <a:rPr lang="en-US" sz="1000" b="0" i="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 Topic 4: Party Competition &amp; Voter Support Interpretation: captures competition between political parties and expressions of voter support or opposition. </a:t>
            </a:r>
            <a:endPar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625"/>
        <p:cNvGrpSpPr/>
        <p:nvPr/>
      </p:nvGrpSpPr>
      <p:grpSpPr>
        <a:xfrm>
          <a:off x="0" y="0"/>
          <a:ext cx="0" cy="0"/>
          <a:chOff x="0" y="0"/>
          <a:chExt cx="0" cy="0"/>
        </a:xfrm>
      </p:grpSpPr>
      <p:sp>
        <p:nvSpPr>
          <p:cNvPr id="626" name="Google Shape;626;p28"/>
          <p:cNvSpPr/>
          <p:nvPr/>
        </p:nvSpPr>
        <p:spPr>
          <a:xfrm>
            <a:off x="5943600" y="-731520"/>
            <a:ext cx="4572000" cy="4572000"/>
          </a:xfrm>
          <a:prstGeom prst="ellipse">
            <a:avLst/>
          </a:prstGeom>
          <a:solidFill>
            <a:srgbClr val="E8445A">
              <a:alpha val="12156"/>
            </a:srgbClr>
          </a:solidFill>
          <a:ln w="12700" cap="flat" cmpd="sng">
            <a:solidFill>
              <a:srgbClr val="E8445A">
                <a:alpha val="12156"/>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8"/>
          <p:cNvSpPr/>
          <p:nvPr/>
        </p:nvSpPr>
        <p:spPr>
          <a:xfrm>
            <a:off x="-914400" y="1828800"/>
            <a:ext cx="3200400" cy="3200400"/>
          </a:xfrm>
          <a:prstGeom prst="ellipse">
            <a:avLst/>
          </a:prstGeom>
          <a:solidFill>
            <a:srgbClr val="00C2D4">
              <a:alpha val="7843"/>
            </a:srgbClr>
          </a:solidFill>
          <a:ln w="12700" cap="flat" cmpd="sng">
            <a:solidFill>
              <a:srgbClr val="00C2D4">
                <a:alpha val="784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8"/>
          <p:cNvSpPr/>
          <p:nvPr/>
        </p:nvSpPr>
        <p:spPr>
          <a:xfrm>
            <a:off x="548640" y="1645920"/>
            <a:ext cx="91440" cy="1828800"/>
          </a:xfrm>
          <a:prstGeom prst="rect">
            <a:avLst/>
          </a:prstGeom>
          <a:solidFill>
            <a:srgbClr val="E8445A"/>
          </a:solidFill>
          <a:ln w="12700" cap="flat" cmpd="sng">
            <a:solidFill>
              <a:srgbClr val="E8445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8"/>
          <p:cNvSpPr/>
          <p:nvPr/>
        </p:nvSpPr>
        <p:spPr>
          <a:xfrm>
            <a:off x="777240" y="1554480"/>
            <a:ext cx="2743200" cy="5029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8445A"/>
              </a:buClr>
              <a:buSzPts val="1300"/>
              <a:buFont typeface="Calibri"/>
              <a:buNone/>
            </a:pPr>
            <a:r>
              <a:rPr lang="en-US" sz="1300" b="1" i="0" u="none" strike="noStrike" cap="none">
                <a:solidFill>
                  <a:srgbClr val="E8445A"/>
                </a:solidFill>
                <a:latin typeface="Calibri"/>
                <a:ea typeface="Calibri"/>
                <a:cs typeface="Calibri"/>
                <a:sym typeface="Calibri"/>
              </a:rPr>
              <a:t>SECTION 3.4</a:t>
            </a:r>
            <a:endParaRPr sz="1300" b="0" i="0" u="none" strike="noStrike" cap="none">
              <a:solidFill>
                <a:schemeClr val="dk1"/>
              </a:solidFill>
              <a:latin typeface="Calibri"/>
              <a:ea typeface="Calibri"/>
              <a:cs typeface="Calibri"/>
              <a:sym typeface="Calibri"/>
            </a:endParaRPr>
          </a:p>
        </p:txBody>
      </p:sp>
      <p:sp>
        <p:nvSpPr>
          <p:cNvPr id="630" name="Google Shape;630;p28"/>
          <p:cNvSpPr/>
          <p:nvPr/>
        </p:nvSpPr>
        <p:spPr>
          <a:xfrm>
            <a:off x="777240" y="2011680"/>
            <a:ext cx="6858000" cy="10972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4000"/>
              <a:buFont typeface="Calibri"/>
              <a:buNone/>
            </a:pPr>
            <a:r>
              <a:rPr lang="en-US" sz="4000" b="1" i="0" u="none" strike="noStrike" cap="none">
                <a:solidFill>
                  <a:srgbClr val="FFFFFF"/>
                </a:solidFill>
                <a:latin typeface="Calibri"/>
                <a:ea typeface="Calibri"/>
                <a:cs typeface="Calibri"/>
                <a:sym typeface="Calibri"/>
              </a:rPr>
              <a:t>PREDICTIVE MODELING</a:t>
            </a:r>
            <a:endParaRPr sz="4000" b="0" i="0" u="none" strike="noStrike" cap="non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635"/>
        <p:cNvGrpSpPr/>
        <p:nvPr/>
      </p:nvGrpSpPr>
      <p:grpSpPr>
        <a:xfrm>
          <a:off x="0" y="0"/>
          <a:ext cx="0" cy="0"/>
          <a:chOff x="0" y="0"/>
          <a:chExt cx="0" cy="0"/>
        </a:xfrm>
      </p:grpSpPr>
      <p:sp>
        <p:nvSpPr>
          <p:cNvPr id="636" name="Google Shape;636;p29"/>
          <p:cNvSpPr/>
          <p:nvPr/>
        </p:nvSpPr>
        <p:spPr>
          <a:xfrm>
            <a:off x="0" y="0"/>
            <a:ext cx="9144000" cy="621792"/>
          </a:xfrm>
          <a:prstGeom prst="rect">
            <a:avLst/>
          </a:prstGeom>
          <a:solidFill>
            <a:srgbClr val="112236"/>
          </a:solidFill>
          <a:ln w="12700" cap="flat" cmpd="sng">
            <a:solidFill>
              <a:srgbClr val="1122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9"/>
          <p:cNvSpPr/>
          <p:nvPr/>
        </p:nvSpPr>
        <p:spPr>
          <a:xfrm>
            <a:off x="0" y="0"/>
            <a:ext cx="128016" cy="621792"/>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9"/>
          <p:cNvSpPr/>
          <p:nvPr/>
        </p:nvSpPr>
        <p:spPr>
          <a:xfrm>
            <a:off x="219456" y="0"/>
            <a:ext cx="640080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3.4a  PREDICTIVE MODELING — Model 1: Sentiment from Emotions</a:t>
            </a:r>
            <a:endParaRPr sz="2000" b="0" i="0" u="none" strike="noStrike" cap="none">
              <a:solidFill>
                <a:schemeClr val="dk1"/>
              </a:solidFill>
              <a:latin typeface="Calibri"/>
              <a:ea typeface="Calibri"/>
              <a:cs typeface="Calibri"/>
              <a:sym typeface="Calibri"/>
            </a:endParaRPr>
          </a:p>
        </p:txBody>
      </p:sp>
      <p:sp>
        <p:nvSpPr>
          <p:cNvPr id="642" name="Google Shape;642;p29"/>
          <p:cNvSpPr/>
          <p:nvPr/>
        </p:nvSpPr>
        <p:spPr>
          <a:xfrm>
            <a:off x="256032" y="749808"/>
            <a:ext cx="4114800" cy="4251960"/>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29"/>
          <p:cNvSpPr/>
          <p:nvPr/>
        </p:nvSpPr>
        <p:spPr>
          <a:xfrm>
            <a:off x="402336" y="1207008"/>
            <a:ext cx="3895344" cy="420624"/>
          </a:xfrm>
          <a:prstGeom prst="rect">
            <a:avLst/>
          </a:prstGeom>
          <a:solidFill>
            <a:srgbClr val="162840"/>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29"/>
          <p:cNvSpPr/>
          <p:nvPr/>
        </p:nvSpPr>
        <p:spPr>
          <a:xfrm>
            <a:off x="402336" y="1682496"/>
            <a:ext cx="3895344" cy="420624"/>
          </a:xfrm>
          <a:prstGeom prst="rect">
            <a:avLst/>
          </a:prstGeom>
          <a:solidFill>
            <a:srgbClr val="192D44"/>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9"/>
          <p:cNvSpPr/>
          <p:nvPr/>
        </p:nvSpPr>
        <p:spPr>
          <a:xfrm>
            <a:off x="402336" y="2157984"/>
            <a:ext cx="3895344" cy="420624"/>
          </a:xfrm>
          <a:prstGeom prst="rect">
            <a:avLst/>
          </a:prstGeom>
          <a:solidFill>
            <a:srgbClr val="162840"/>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9"/>
          <p:cNvSpPr/>
          <p:nvPr/>
        </p:nvSpPr>
        <p:spPr>
          <a:xfrm>
            <a:off x="402336" y="2633472"/>
            <a:ext cx="3895344" cy="420624"/>
          </a:xfrm>
          <a:prstGeom prst="rect">
            <a:avLst/>
          </a:prstGeom>
          <a:solidFill>
            <a:srgbClr val="192D44"/>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29"/>
          <p:cNvSpPr/>
          <p:nvPr/>
        </p:nvSpPr>
        <p:spPr>
          <a:xfrm>
            <a:off x="402336" y="3108960"/>
            <a:ext cx="3895344" cy="420624"/>
          </a:xfrm>
          <a:prstGeom prst="rect">
            <a:avLst/>
          </a:prstGeom>
          <a:solidFill>
            <a:srgbClr val="162840"/>
          </a:solidFill>
          <a:ln w="12700" cap="flat" cmpd="sng">
            <a:solidFill>
              <a:srgbClr val="1A3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29"/>
          <p:cNvSpPr/>
          <p:nvPr/>
        </p:nvSpPr>
        <p:spPr>
          <a:xfrm>
            <a:off x="4718304" y="822960"/>
            <a:ext cx="3986784"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A623"/>
              </a:buClr>
              <a:buSzPts val="1200"/>
              <a:buFont typeface="Calibri"/>
              <a:buNone/>
            </a:pPr>
            <a:r>
              <a:rPr lang="en-US" sz="1200" b="1" i="0" u="none" strike="noStrike" cap="none">
                <a:solidFill>
                  <a:srgbClr val="F5A623"/>
                </a:solidFill>
                <a:latin typeface="Calibri"/>
                <a:ea typeface="Calibri"/>
                <a:cs typeface="Calibri"/>
                <a:sym typeface="Calibri"/>
              </a:rPr>
              <a:t>Model 1 Results</a:t>
            </a:r>
            <a:endParaRPr sz="1200" b="0" i="0" u="none" strike="noStrike" cap="none">
              <a:solidFill>
                <a:schemeClr val="dk1"/>
              </a:solidFill>
              <a:latin typeface="Calibri"/>
              <a:ea typeface="Calibri"/>
              <a:cs typeface="Calibri"/>
              <a:sym typeface="Calibri"/>
            </a:endParaRPr>
          </a:p>
        </p:txBody>
      </p:sp>
      <p:sp>
        <p:nvSpPr>
          <p:cNvPr id="649" name="Google Shape;649;p29"/>
          <p:cNvSpPr/>
          <p:nvPr/>
        </p:nvSpPr>
        <p:spPr>
          <a:xfrm>
            <a:off x="4659079" y="3959361"/>
            <a:ext cx="4005000" cy="219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8C00"/>
              </a:buClr>
              <a:buSzPts val="1000"/>
              <a:buFont typeface="Calibri"/>
              <a:buNone/>
            </a:pPr>
            <a:r>
              <a:rPr lang="en-US" sz="1000" b="1" i="0" u="none" strike="noStrike" cap="none">
                <a:solidFill>
                  <a:srgbClr val="FF8C00"/>
                </a:solidFill>
                <a:latin typeface="Calibri"/>
                <a:ea typeface="Calibri"/>
                <a:cs typeface="Calibri"/>
                <a:sym typeface="Calibri"/>
              </a:rPr>
              <a:t>💡 Interpretation</a:t>
            </a:r>
            <a:endParaRPr sz="1000" b="0" i="0" u="none" strike="noStrike" cap="none">
              <a:solidFill>
                <a:schemeClr val="dk1"/>
              </a:solidFill>
              <a:latin typeface="Calibri"/>
              <a:ea typeface="Calibri"/>
              <a:cs typeface="Calibri"/>
              <a:sym typeface="Calibri"/>
            </a:endParaRPr>
          </a:p>
        </p:txBody>
      </p:sp>
      <p:sp>
        <p:nvSpPr>
          <p:cNvPr id="650" name="Google Shape;650;p29"/>
          <p:cNvSpPr/>
          <p:nvPr/>
        </p:nvSpPr>
        <p:spPr>
          <a:xfrm>
            <a:off x="4659079" y="4517322"/>
            <a:ext cx="4114800" cy="237600"/>
          </a:xfrm>
          <a:prstGeom prst="rect">
            <a:avLst/>
          </a:prstGeom>
          <a:noFill/>
          <a:ln>
            <a:noFill/>
          </a:ln>
        </p:spPr>
        <p:txBody>
          <a:bodyPr spcFirstLastPara="1" wrap="square" lIns="91425" tIns="45700" rIns="91425" bIns="45700" anchor="ctr" anchorCtr="0">
            <a:noAutofit/>
          </a:bodyPr>
          <a:lstStyle/>
          <a:p>
            <a:pPr marL="171450" marR="0" lvl="0" indent="-171450" algn="l" rtl="0">
              <a:spcBef>
                <a:spcPts val="0"/>
              </a:spcBef>
              <a:spcAft>
                <a:spcPts val="0"/>
              </a:spcAft>
              <a:buClr>
                <a:schemeClr val="bg1"/>
              </a:buClr>
              <a:buSzPts val="850"/>
              <a:buFont typeface="Arial" panose="020B0604020202020204" pitchFamily="34" charset="0"/>
              <a:buChar char="•"/>
            </a:pPr>
            <a:r>
              <a:rPr lang="en-US" sz="900" b="0" i="0" u="none" strike="noStrike" cap="none" dirty="0">
                <a:solidFill>
                  <a:schemeClr val="bg1"/>
                </a:solidFill>
                <a:latin typeface="Calibri"/>
                <a:ea typeface="Calibri"/>
                <a:cs typeface="Calibri"/>
                <a:sym typeface="Calibri"/>
              </a:rPr>
              <a:t>Low R² (≈0.0</a:t>
            </a:r>
            <a:r>
              <a:rPr lang="en-US" sz="900" dirty="0">
                <a:solidFill>
                  <a:schemeClr val="bg1"/>
                </a:solidFill>
                <a:latin typeface="Calibri"/>
                <a:ea typeface="Calibri"/>
                <a:cs typeface="Calibri"/>
                <a:sym typeface="Calibri"/>
              </a:rPr>
              <a:t>7</a:t>
            </a:r>
            <a:r>
              <a:rPr lang="en-US" sz="900" b="0" i="0" u="none" strike="noStrike" cap="none" dirty="0">
                <a:solidFill>
                  <a:schemeClr val="bg1"/>
                </a:solidFill>
                <a:latin typeface="Calibri"/>
                <a:ea typeface="Calibri"/>
                <a:cs typeface="Calibri"/>
                <a:sym typeface="Calibri"/>
              </a:rPr>
              <a:t>) is expected — </a:t>
            </a:r>
            <a:r>
              <a:rPr lang="en-US" sz="900" b="0" i="0" u="none" strike="noStrike" cap="none" dirty="0" err="1">
                <a:solidFill>
                  <a:schemeClr val="bg1"/>
                </a:solidFill>
                <a:latin typeface="Calibri"/>
                <a:ea typeface="Calibri"/>
                <a:cs typeface="Calibri"/>
                <a:sym typeface="Calibri"/>
              </a:rPr>
              <a:t>TextBlob</a:t>
            </a:r>
            <a:r>
              <a:rPr lang="en-US" sz="900" b="0" i="0" u="none" strike="noStrike" cap="none" dirty="0">
                <a:solidFill>
                  <a:schemeClr val="bg1"/>
                </a:solidFill>
                <a:latin typeface="Calibri"/>
                <a:ea typeface="Calibri"/>
                <a:cs typeface="Calibri"/>
                <a:sym typeface="Calibri"/>
              </a:rPr>
              <a:t> &amp; NRC are different lexicons with disagreements. Short tweets trigger few NRC categories. Weak alignment confirms they are complementary, not substitutable.</a:t>
            </a:r>
            <a:endParaRPr lang="en-US" altLang="en-US" sz="9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171450" lvl="0" indent="-171450" eaLnBrk="0" fontAlgn="base" hangingPunct="0">
              <a:spcBef>
                <a:spcPct val="0"/>
              </a:spcBef>
              <a:spcAft>
                <a:spcPct val="0"/>
              </a:spcAft>
              <a:buClr>
                <a:schemeClr val="bg1"/>
              </a:buClr>
              <a:buFont typeface="Arial" panose="020B0604020202020204" pitchFamily="34" charset="0"/>
              <a:buChar char="•"/>
            </a:pPr>
            <a:r>
              <a:rPr lang="en-US" alt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Emotions influence sentiment, but </a:t>
            </a:r>
            <a:r>
              <a:rPr lang="en-US" altLang="en-US" sz="900" b="1" dirty="0">
                <a:solidFill>
                  <a:schemeClr val="bg1"/>
                </a:solidFill>
                <a:latin typeface="Calibri" panose="020F0502020204030204" pitchFamily="34" charset="0"/>
                <a:ea typeface="Calibri" panose="020F0502020204030204" pitchFamily="34" charset="0"/>
                <a:cs typeface="Calibri" panose="020F0502020204030204" pitchFamily="34" charset="0"/>
              </a:rPr>
              <a:t>effect is weak overall</a:t>
            </a:r>
            <a:r>
              <a:rPr lang="en-US" alt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 </a:t>
            </a:r>
          </a:p>
          <a:p>
            <a:pPr marL="171450" lvl="0" indent="-171450" eaLnBrk="0" fontAlgn="base" hangingPunct="0">
              <a:spcBef>
                <a:spcPct val="0"/>
              </a:spcBef>
              <a:spcAft>
                <a:spcPct val="0"/>
              </a:spcAft>
              <a:buClr>
                <a:schemeClr val="bg1"/>
              </a:buClr>
              <a:buFont typeface="Arial" panose="020B0604020202020204" pitchFamily="34" charset="0"/>
              <a:buChar char="•"/>
            </a:pPr>
            <a:r>
              <a:rPr lang="en-US" alt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Sentiment in tweets is </a:t>
            </a:r>
            <a:r>
              <a:rPr lang="en-US" altLang="en-US" sz="900" b="1" dirty="0">
                <a:solidFill>
                  <a:schemeClr val="bg1"/>
                </a:solidFill>
                <a:latin typeface="Calibri" panose="020F0502020204030204" pitchFamily="34" charset="0"/>
                <a:ea typeface="Calibri" panose="020F0502020204030204" pitchFamily="34" charset="0"/>
                <a:cs typeface="Calibri" panose="020F0502020204030204" pitchFamily="34" charset="0"/>
              </a:rPr>
              <a:t>complex and not fully captured by emotions alone</a:t>
            </a:r>
            <a:r>
              <a:rPr lang="en-US" altLang="en-US" sz="900" dirty="0">
                <a:solidFill>
                  <a:schemeClr val="bg1"/>
                </a:solidFill>
                <a:latin typeface="Calibri" panose="020F0502020204030204" pitchFamily="34" charset="0"/>
                <a:ea typeface="Calibri" panose="020F0502020204030204" pitchFamily="34" charset="0"/>
                <a:cs typeface="Calibri" panose="020F0502020204030204" pitchFamily="34" charset="0"/>
              </a:rPr>
              <a:t> </a:t>
            </a:r>
            <a:endParaRPr lang="en-US" sz="900" b="0" i="0" u="none" strike="noStrike" cap="none" dirty="0">
              <a:solidFill>
                <a:schemeClr val="bg1"/>
              </a:solidFill>
              <a:latin typeface="Calibri"/>
              <a:ea typeface="Calibri"/>
              <a:cs typeface="Calibri"/>
              <a:sym typeface="Calibri"/>
            </a:endParaRPr>
          </a:p>
          <a:p>
            <a:pPr marL="0" marR="0" lvl="0" indent="0" algn="l" rtl="0">
              <a:spcBef>
                <a:spcPts val="0"/>
              </a:spcBef>
              <a:spcAft>
                <a:spcPts val="0"/>
              </a:spcAft>
              <a:buClr>
                <a:srgbClr val="6B90AA"/>
              </a:buClr>
              <a:buSzPts val="850"/>
              <a:buFont typeface="Calibri"/>
              <a:buNone/>
            </a:pPr>
            <a:endParaRPr sz="900" b="0" i="0" u="none" strike="noStrike" cap="none" dirty="0">
              <a:solidFill>
                <a:schemeClr val="bg1"/>
              </a:solidFill>
              <a:latin typeface="Calibri"/>
              <a:ea typeface="Calibri"/>
              <a:cs typeface="Calibri"/>
              <a:sym typeface="Calibri"/>
            </a:endParaRPr>
          </a:p>
        </p:txBody>
      </p:sp>
      <p:pic>
        <p:nvPicPr>
          <p:cNvPr id="651" name="Google Shape;651;p29"/>
          <p:cNvPicPr preferRelativeResize="0"/>
          <p:nvPr/>
        </p:nvPicPr>
        <p:blipFill>
          <a:blip r:embed="rId3">
            <a:alphaModFix/>
          </a:blip>
          <a:stretch>
            <a:fillRect/>
          </a:stretch>
        </p:blipFill>
        <p:spPr>
          <a:xfrm>
            <a:off x="4443985" y="2494052"/>
            <a:ext cx="4547616" cy="1343852"/>
          </a:xfrm>
          <a:prstGeom prst="rect">
            <a:avLst/>
          </a:prstGeom>
          <a:noFill/>
          <a:ln>
            <a:noFill/>
          </a:ln>
        </p:spPr>
      </p:pic>
      <p:pic>
        <p:nvPicPr>
          <p:cNvPr id="652" name="Google Shape;652;p29"/>
          <p:cNvPicPr preferRelativeResize="0"/>
          <p:nvPr/>
        </p:nvPicPr>
        <p:blipFill>
          <a:blip r:embed="rId4">
            <a:alphaModFix/>
          </a:blip>
          <a:stretch>
            <a:fillRect/>
          </a:stretch>
        </p:blipFill>
        <p:spPr>
          <a:xfrm>
            <a:off x="256025" y="1561450"/>
            <a:ext cx="4005000" cy="2628675"/>
          </a:xfrm>
          <a:prstGeom prst="rect">
            <a:avLst/>
          </a:prstGeom>
          <a:noFill/>
          <a:ln>
            <a:noFill/>
          </a:ln>
        </p:spPr>
      </p:pic>
      <p:pic>
        <p:nvPicPr>
          <p:cNvPr id="7" name="Picture 6">
            <a:extLst>
              <a:ext uri="{FF2B5EF4-FFF2-40B4-BE49-F238E27FC236}">
                <a16:creationId xmlns:a16="http://schemas.microsoft.com/office/drawing/2014/main" id="{682B677D-6B70-D7EF-2644-C1BDB6E24AEC}"/>
              </a:ext>
            </a:extLst>
          </p:cNvPr>
          <p:cNvPicPr>
            <a:picLocks noChangeAspect="1"/>
          </p:cNvPicPr>
          <p:nvPr/>
        </p:nvPicPr>
        <p:blipFill>
          <a:blip r:embed="rId5"/>
          <a:stretch>
            <a:fillRect/>
          </a:stretch>
        </p:blipFill>
        <p:spPr>
          <a:xfrm>
            <a:off x="4443984" y="1122779"/>
            <a:ext cx="4517136" cy="1266251"/>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657"/>
        <p:cNvGrpSpPr/>
        <p:nvPr/>
      </p:nvGrpSpPr>
      <p:grpSpPr>
        <a:xfrm>
          <a:off x="0" y="0"/>
          <a:ext cx="0" cy="0"/>
          <a:chOff x="0" y="0"/>
          <a:chExt cx="0" cy="0"/>
        </a:xfrm>
      </p:grpSpPr>
      <p:sp>
        <p:nvSpPr>
          <p:cNvPr id="658" name="Google Shape;658;p30"/>
          <p:cNvSpPr/>
          <p:nvPr/>
        </p:nvSpPr>
        <p:spPr>
          <a:xfrm>
            <a:off x="0" y="0"/>
            <a:ext cx="9144000" cy="621792"/>
          </a:xfrm>
          <a:prstGeom prst="rect">
            <a:avLst/>
          </a:prstGeom>
          <a:solidFill>
            <a:srgbClr val="112236"/>
          </a:solidFill>
          <a:ln w="12700" cap="flat" cmpd="sng">
            <a:solidFill>
              <a:srgbClr val="1122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0"/>
          <p:cNvSpPr/>
          <p:nvPr/>
        </p:nvSpPr>
        <p:spPr>
          <a:xfrm>
            <a:off x="0" y="0"/>
            <a:ext cx="128016" cy="621792"/>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0"/>
          <p:cNvSpPr/>
          <p:nvPr/>
        </p:nvSpPr>
        <p:spPr>
          <a:xfrm>
            <a:off x="219456" y="0"/>
            <a:ext cx="640080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dirty="0">
                <a:solidFill>
                  <a:srgbClr val="FFFFFF"/>
                </a:solidFill>
                <a:latin typeface="Calibri"/>
                <a:ea typeface="Calibri"/>
                <a:cs typeface="Calibri"/>
                <a:sym typeface="Calibri"/>
              </a:rPr>
              <a:t>3.4a  PREDICTIVE MODELING — Models 2 : NRC Valence Prediction</a:t>
            </a:r>
            <a:endParaRPr sz="2000" b="0" i="0" u="none" strike="noStrike" cap="none" dirty="0">
              <a:solidFill>
                <a:schemeClr val="dk1"/>
              </a:solidFill>
              <a:latin typeface="Calibri"/>
              <a:ea typeface="Calibri"/>
              <a:cs typeface="Calibri"/>
              <a:sym typeface="Calibri"/>
            </a:endParaRPr>
          </a:p>
        </p:txBody>
      </p:sp>
      <p:sp>
        <p:nvSpPr>
          <p:cNvPr id="661" name="Google Shape;661;p30"/>
          <p:cNvSpPr/>
          <p:nvPr/>
        </p:nvSpPr>
        <p:spPr>
          <a:xfrm>
            <a:off x="6675120" y="137160"/>
            <a:ext cx="2286000" cy="34747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90AA"/>
              </a:buClr>
              <a:buSzPts val="1000"/>
              <a:buFont typeface="Calibri"/>
              <a:buNone/>
            </a:pPr>
            <a:r>
              <a:rPr lang="en-US" sz="1000" b="0" i="0" u="none" strike="noStrike" cap="none">
                <a:solidFill>
                  <a:srgbClr val="6B90AA"/>
                </a:solidFill>
                <a:latin typeface="Calibri"/>
                <a:ea typeface="Calibri"/>
                <a:cs typeface="Calibri"/>
                <a:sym typeface="Calibri"/>
              </a:rPr>
              <a:t>MANDATORY</a:t>
            </a:r>
            <a:endParaRPr sz="1000" b="0" i="0" u="none" strike="noStrike" cap="none">
              <a:solidFill>
                <a:schemeClr val="dk1"/>
              </a:solidFill>
              <a:latin typeface="Calibri"/>
              <a:ea typeface="Calibri"/>
              <a:cs typeface="Calibri"/>
              <a:sym typeface="Calibri"/>
            </a:endParaRPr>
          </a:p>
        </p:txBody>
      </p:sp>
      <p:sp>
        <p:nvSpPr>
          <p:cNvPr id="662" name="Google Shape;662;p30"/>
          <p:cNvSpPr/>
          <p:nvPr/>
        </p:nvSpPr>
        <p:spPr>
          <a:xfrm>
            <a:off x="7882128" y="91440"/>
            <a:ext cx="1170432" cy="274320"/>
          </a:xfrm>
          <a:prstGeom prst="roundRect">
            <a:avLst>
              <a:gd name="adj" fmla="val 13333"/>
            </a:avLst>
          </a:prstGeom>
          <a:solidFill>
            <a:srgbClr val="B83232"/>
          </a:solidFill>
          <a:ln w="12700" cap="flat" cmpd="sng">
            <a:solidFill>
              <a:srgbClr val="B832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0"/>
          <p:cNvSpPr/>
          <p:nvPr/>
        </p:nvSpPr>
        <p:spPr>
          <a:xfrm>
            <a:off x="7882128" y="91440"/>
            <a:ext cx="1170432"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en-US" sz="800" b="1" i="0" u="none" strike="noStrike" cap="none">
                <a:solidFill>
                  <a:srgbClr val="FFFFFF"/>
                </a:solidFill>
                <a:latin typeface="Calibri"/>
                <a:ea typeface="Calibri"/>
                <a:cs typeface="Calibri"/>
                <a:sym typeface="Calibri"/>
              </a:rPr>
              <a:t>MANDATORY</a:t>
            </a:r>
            <a:endParaRPr sz="800" b="0" i="0" u="none" strike="noStrike" cap="none">
              <a:solidFill>
                <a:schemeClr val="dk1"/>
              </a:solidFill>
              <a:latin typeface="Calibri"/>
              <a:ea typeface="Calibri"/>
              <a:cs typeface="Calibri"/>
              <a:sym typeface="Calibri"/>
            </a:endParaRPr>
          </a:p>
        </p:txBody>
      </p:sp>
      <p:sp>
        <p:nvSpPr>
          <p:cNvPr id="664" name="Google Shape;664;p30"/>
          <p:cNvSpPr/>
          <p:nvPr/>
        </p:nvSpPr>
        <p:spPr>
          <a:xfrm>
            <a:off x="212174" y="749808"/>
            <a:ext cx="8508495" cy="4251900"/>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lvl="0" eaLnBrk="0" fontAlgn="base" hangingPunct="0">
              <a:spcBef>
                <a:spcPct val="0"/>
              </a:spcBef>
              <a:spcAft>
                <a:spcPct val="0"/>
              </a:spcAft>
              <a:buClrTx/>
            </a:pPr>
            <a:endParaRPr lang="en-US" altLang="en-US" sz="1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lvl="0" eaLnBrk="0" fontAlgn="base" hangingPunct="0">
              <a:spcBef>
                <a:spcPct val="0"/>
              </a:spcBef>
              <a:spcAft>
                <a:spcPct val="0"/>
              </a:spcAft>
              <a:buClrTx/>
            </a:pPr>
            <a:endParaRPr lang="en-US" altLang="en-US" sz="1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lvl="0" eaLnBrk="0" fontAlgn="base" hangingPunct="0">
              <a:spcBef>
                <a:spcPct val="0"/>
              </a:spcBef>
              <a:spcAft>
                <a:spcPct val="0"/>
              </a:spcAft>
              <a:buClrTx/>
            </a:pPr>
            <a:endParaRPr lang="en-US" altLang="en-US" sz="1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lvl="0" eaLnBrk="0" fontAlgn="base" hangingPunct="0">
              <a:spcBef>
                <a:spcPct val="0"/>
              </a:spcBef>
              <a:spcAft>
                <a:spcPct val="0"/>
              </a:spcAft>
              <a:buClrTx/>
            </a:pPr>
            <a:endParaRPr lang="en-US" altLang="en-US" sz="1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lvl="0" eaLnBrk="0" fontAlgn="base" hangingPunct="0">
              <a:spcBef>
                <a:spcPct val="0"/>
              </a:spcBef>
              <a:spcAft>
                <a:spcPct val="0"/>
              </a:spcAft>
              <a:buClrTx/>
            </a:pPr>
            <a:endParaRPr lang="en-US" altLang="en-US" sz="1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lvl="0" eaLnBrk="0" fontAlgn="base" hangingPunct="0">
              <a:spcBef>
                <a:spcPct val="0"/>
              </a:spcBef>
              <a:spcAft>
                <a:spcPct val="0"/>
              </a:spcAft>
              <a:buClrTx/>
            </a:pPr>
            <a:endParaRPr lang="en-US" altLang="en-US" sz="1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lvl="0" eaLnBrk="0" fontAlgn="base" hangingPunct="0">
              <a:spcBef>
                <a:spcPct val="0"/>
              </a:spcBef>
              <a:spcAft>
                <a:spcPct val="0"/>
              </a:spcAft>
              <a:buClrTx/>
            </a:pPr>
            <a:endParaRPr lang="en-US" altLang="en-US" sz="1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lvl="0" eaLnBrk="0" fontAlgn="base" hangingPunct="0">
              <a:spcBef>
                <a:spcPct val="0"/>
              </a:spcBef>
              <a:spcAft>
                <a:spcPct val="0"/>
              </a:spcAft>
              <a:buClrTx/>
            </a:pPr>
            <a:endParaRPr lang="en-US" altLang="en-US" sz="1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lvl="0" eaLnBrk="0" fontAlgn="base" hangingPunct="0">
              <a:spcBef>
                <a:spcPct val="0"/>
              </a:spcBef>
              <a:spcAft>
                <a:spcPct val="0"/>
              </a:spcAft>
              <a:buClrTx/>
            </a:pPr>
            <a:endParaRPr lang="en-US" altLang="en-US" sz="1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lvl="0" eaLnBrk="0" fontAlgn="base" hangingPunct="0">
              <a:spcBef>
                <a:spcPct val="0"/>
              </a:spcBef>
              <a:spcAft>
                <a:spcPct val="0"/>
              </a:spcAft>
              <a:buClrTx/>
            </a:pPr>
            <a:endParaRPr lang="en-US" altLang="en-US" sz="1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lvl="0" eaLnBrk="0" fontAlgn="base" hangingPunct="0">
              <a:spcBef>
                <a:spcPct val="0"/>
              </a:spcBef>
              <a:spcAft>
                <a:spcPct val="0"/>
              </a:spcAft>
              <a:buClrTx/>
            </a:pPr>
            <a:endParaRPr lang="en-US" altLang="en-US" sz="10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lvl="0" eaLnBrk="0" fontAlgn="base" hangingPunct="0">
              <a:spcBef>
                <a:spcPct val="0"/>
              </a:spcBef>
              <a:spcAft>
                <a:spcPct val="0"/>
              </a:spcAft>
              <a:buClrTx/>
            </a:pPr>
            <a:endParaRPr lang="en-US" altLang="en-US" sz="10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lvl="0" eaLnBrk="0" fontAlgn="base" hangingPunct="0">
              <a:spcBef>
                <a:spcPct val="0"/>
              </a:spcBef>
              <a:spcAft>
                <a:spcPct val="0"/>
              </a:spcAft>
              <a:buClr>
                <a:schemeClr val="bg1"/>
              </a:buClr>
            </a:pPr>
            <a:endParaRPr lang="en-US" altLang="en-US" sz="10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171450" lvl="0" indent="-171450" eaLnBrk="0" fontAlgn="base" hangingPunct="0">
              <a:spcBef>
                <a:spcPct val="0"/>
              </a:spcBef>
              <a:spcAft>
                <a:spcPct val="0"/>
              </a:spcAft>
              <a:buClr>
                <a:schemeClr val="bg1"/>
              </a:buClr>
              <a:buFont typeface="Arial" panose="020B0604020202020204" pitchFamily="34" charset="0"/>
              <a:buChar char="•"/>
            </a:pPr>
            <a:r>
              <a:rPr lang="en-US" alt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Strong explanatory power (</a:t>
            </a:r>
            <a:r>
              <a:rPr lang="en-US" altLang="en-US" sz="1000" b="1" dirty="0">
                <a:solidFill>
                  <a:schemeClr val="bg1"/>
                </a:solidFill>
                <a:latin typeface="Calibri" panose="020F0502020204030204" pitchFamily="34" charset="0"/>
                <a:ea typeface="Calibri" panose="020F0502020204030204" pitchFamily="34" charset="0"/>
                <a:cs typeface="Calibri" panose="020F0502020204030204" pitchFamily="34" charset="0"/>
              </a:rPr>
              <a:t>R² ≈ 0.60</a:t>
            </a:r>
            <a:r>
              <a:rPr lang="en-US" alt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a:t>
            </a:r>
          </a:p>
          <a:p>
            <a:pPr marL="171450" indent="-171450" eaLnBrk="0" fontAlgn="base" hangingPunct="0">
              <a:spcBef>
                <a:spcPct val="0"/>
              </a:spcBef>
              <a:spcAft>
                <a:spcPct val="0"/>
              </a:spcAft>
              <a:buClr>
                <a:schemeClr val="bg1"/>
              </a:buClr>
              <a:buFont typeface="Arial" panose="020B0604020202020204" pitchFamily="34" charset="0"/>
              <a:buChar char="•"/>
            </a:pP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Consistent performance (train ≈ test) → </a:t>
            </a:r>
            <a:r>
              <a:rPr lang="en-US" sz="1000" b="1" dirty="0">
                <a:solidFill>
                  <a:schemeClr val="bg1"/>
                </a:solidFill>
                <a:latin typeface="Calibri" panose="020F0502020204030204" pitchFamily="34" charset="0"/>
                <a:ea typeface="Calibri" panose="020F0502020204030204" pitchFamily="34" charset="0"/>
                <a:cs typeface="Calibri" panose="020F0502020204030204" pitchFamily="34" charset="0"/>
              </a:rPr>
              <a:t>good generalization</a:t>
            </a: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 </a:t>
            </a:r>
            <a:endParaRPr lang="en-US" altLang="en-US" sz="10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171450" indent="-171450">
              <a:buClr>
                <a:schemeClr val="bg1"/>
              </a:buClr>
              <a:buFont typeface="Arial" panose="020B0604020202020204" pitchFamily="34" charset="0"/>
              <a:buChar char="•"/>
            </a:pP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Positive emotions are </a:t>
            </a:r>
            <a:r>
              <a:rPr lang="en-US" sz="1000" b="1" dirty="0">
                <a:solidFill>
                  <a:schemeClr val="bg1"/>
                </a:solidFill>
                <a:latin typeface="Calibri" panose="020F0502020204030204" pitchFamily="34" charset="0"/>
                <a:ea typeface="Calibri" panose="020F0502020204030204" pitchFamily="34" charset="0"/>
                <a:cs typeface="Calibri" panose="020F0502020204030204" pitchFamily="34" charset="0"/>
              </a:rPr>
              <a:t>strong predictors of positive sentiment</a:t>
            </a: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 </a:t>
            </a:r>
          </a:p>
          <a:p>
            <a:pPr marL="171450" indent="-171450">
              <a:buClr>
                <a:schemeClr val="bg1"/>
              </a:buClr>
              <a:buFont typeface="Arial" panose="020B0604020202020204" pitchFamily="34" charset="0"/>
              <a:buChar char="•"/>
            </a:pP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Much better performance than previous model (emotions → sentiment) </a:t>
            </a:r>
          </a:p>
          <a:p>
            <a:pPr marL="171450" indent="-171450">
              <a:buClr>
                <a:schemeClr val="bg1"/>
              </a:buClr>
              <a:buFont typeface="Arial" panose="020B0604020202020204" pitchFamily="34" charset="0"/>
              <a:buChar char="•"/>
            </a:pP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Indicates </a:t>
            </a:r>
            <a:r>
              <a:rPr lang="en-US" sz="1000" b="1" dirty="0">
                <a:solidFill>
                  <a:schemeClr val="bg1"/>
                </a:solidFill>
                <a:latin typeface="Calibri" panose="020F0502020204030204" pitchFamily="34" charset="0"/>
                <a:ea typeface="Calibri" panose="020F0502020204030204" pitchFamily="34" charset="0"/>
                <a:cs typeface="Calibri" panose="020F0502020204030204" pitchFamily="34" charset="0"/>
              </a:rPr>
              <a:t>clear alignment between positive emotions and positivity score</a:t>
            </a: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alt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 </a:t>
            </a:r>
          </a:p>
        </p:txBody>
      </p:sp>
      <p:sp>
        <p:nvSpPr>
          <p:cNvPr id="665" name="Google Shape;665;p30"/>
          <p:cNvSpPr/>
          <p:nvPr/>
        </p:nvSpPr>
        <p:spPr>
          <a:xfrm>
            <a:off x="256031" y="749808"/>
            <a:ext cx="8372813" cy="56650"/>
          </a:xfrm>
          <a:prstGeom prst="rect">
            <a:avLst/>
          </a:prstGeom>
          <a:solidFill>
            <a:srgbClr val="06C17A"/>
          </a:solidFill>
          <a:ln w="12700" cap="flat" cmpd="sng">
            <a:solidFill>
              <a:srgbClr val="06C17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0"/>
          <p:cNvSpPr/>
          <p:nvPr/>
        </p:nvSpPr>
        <p:spPr>
          <a:xfrm>
            <a:off x="402336" y="859536"/>
            <a:ext cx="3931920"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Model 2 — Predict Positiveness</a:t>
            </a:r>
            <a:endParaRPr sz="1200" b="0" i="0" u="none" strike="noStrike" cap="none">
              <a:solidFill>
                <a:schemeClr val="dk1"/>
              </a:solidFill>
              <a:latin typeface="Calibri"/>
              <a:ea typeface="Calibri"/>
              <a:cs typeface="Calibri"/>
              <a:sym typeface="Calibri"/>
            </a:endParaRPr>
          </a:p>
        </p:txBody>
      </p:sp>
      <p:pic>
        <p:nvPicPr>
          <p:cNvPr id="675" name="Google Shape;675;p30"/>
          <p:cNvPicPr preferRelativeResize="0"/>
          <p:nvPr/>
        </p:nvPicPr>
        <p:blipFill>
          <a:blip r:embed="rId3">
            <a:alphaModFix/>
          </a:blip>
          <a:stretch>
            <a:fillRect/>
          </a:stretch>
        </p:blipFill>
        <p:spPr>
          <a:xfrm>
            <a:off x="4506064" y="1316858"/>
            <a:ext cx="4029074" cy="1930865"/>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pic>
      <p:sp>
        <p:nvSpPr>
          <p:cNvPr id="2" name="Rectangle 1">
            <a:extLst>
              <a:ext uri="{FF2B5EF4-FFF2-40B4-BE49-F238E27FC236}">
                <a16:creationId xmlns:a16="http://schemas.microsoft.com/office/drawing/2014/main" id="{58CC7FFC-2BBC-B180-E9AC-08321AD965C9}"/>
              </a:ext>
            </a:extLst>
          </p:cNvPr>
          <p:cNvSpPr>
            <a:spLocks noChangeArrowheads="1"/>
          </p:cNvSpPr>
          <p:nvPr/>
        </p:nvSpPr>
        <p:spPr bwMode="auto">
          <a:xfrm>
            <a:off x="212174"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9A75988A-7530-0596-4DDE-2FC7596A2327}"/>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78D62533-888B-153B-849C-8985AC07C575}"/>
              </a:ext>
            </a:extLst>
          </p:cNvPr>
          <p:cNvPicPr>
            <a:picLocks noChangeAspect="1"/>
          </p:cNvPicPr>
          <p:nvPr/>
        </p:nvPicPr>
        <p:blipFill>
          <a:blip r:embed="rId4"/>
          <a:stretch>
            <a:fillRect/>
          </a:stretch>
        </p:blipFill>
        <p:spPr>
          <a:xfrm>
            <a:off x="344582" y="1316858"/>
            <a:ext cx="4029074" cy="193086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693"/>
        <p:cNvGrpSpPr/>
        <p:nvPr/>
      </p:nvGrpSpPr>
      <p:grpSpPr>
        <a:xfrm>
          <a:off x="0" y="0"/>
          <a:ext cx="0" cy="0"/>
          <a:chOff x="0" y="0"/>
          <a:chExt cx="0" cy="0"/>
        </a:xfrm>
      </p:grpSpPr>
      <p:sp>
        <p:nvSpPr>
          <p:cNvPr id="694" name="Google Shape;694;p32"/>
          <p:cNvSpPr/>
          <p:nvPr/>
        </p:nvSpPr>
        <p:spPr>
          <a:xfrm>
            <a:off x="0" y="0"/>
            <a:ext cx="9144000" cy="621792"/>
          </a:xfrm>
          <a:prstGeom prst="rect">
            <a:avLst/>
          </a:prstGeom>
          <a:solidFill>
            <a:srgbClr val="112236"/>
          </a:solidFill>
          <a:ln w="12700" cap="flat" cmpd="sng">
            <a:solidFill>
              <a:srgbClr val="1122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32"/>
          <p:cNvSpPr/>
          <p:nvPr/>
        </p:nvSpPr>
        <p:spPr>
          <a:xfrm>
            <a:off x="0" y="0"/>
            <a:ext cx="128016" cy="621792"/>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32"/>
          <p:cNvSpPr/>
          <p:nvPr/>
        </p:nvSpPr>
        <p:spPr>
          <a:xfrm>
            <a:off x="219456" y="0"/>
            <a:ext cx="640080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3.4b  PREDICTIVE MODELING — Linear Regression: RT &amp; Favorites</a:t>
            </a:r>
            <a:endParaRPr sz="2000" b="0" i="0" u="none" strike="noStrike" cap="none">
              <a:solidFill>
                <a:schemeClr val="dk1"/>
              </a:solidFill>
              <a:latin typeface="Calibri"/>
              <a:ea typeface="Calibri"/>
              <a:cs typeface="Calibri"/>
              <a:sym typeface="Calibri"/>
            </a:endParaRPr>
          </a:p>
        </p:txBody>
      </p:sp>
      <p:sp>
        <p:nvSpPr>
          <p:cNvPr id="697" name="Google Shape;697;p32"/>
          <p:cNvSpPr/>
          <p:nvPr/>
        </p:nvSpPr>
        <p:spPr>
          <a:xfrm>
            <a:off x="6675120" y="137160"/>
            <a:ext cx="2286000" cy="34747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90AA"/>
              </a:buClr>
              <a:buSzPts val="1000"/>
              <a:buFont typeface="Calibri"/>
              <a:buNone/>
            </a:pPr>
            <a:r>
              <a:rPr lang="en-US" sz="1000" b="0" i="0" u="none" strike="noStrike" cap="none">
                <a:solidFill>
                  <a:srgbClr val="6B90AA"/>
                </a:solidFill>
                <a:latin typeface="Calibri"/>
                <a:ea typeface="Calibri"/>
                <a:cs typeface="Calibri"/>
                <a:sym typeface="Calibri"/>
              </a:rPr>
              <a:t>MANDATORY</a:t>
            </a:r>
            <a:endParaRPr sz="1000" b="0" i="0" u="none" strike="noStrike" cap="none">
              <a:solidFill>
                <a:schemeClr val="dk1"/>
              </a:solidFill>
              <a:latin typeface="Calibri"/>
              <a:ea typeface="Calibri"/>
              <a:cs typeface="Calibri"/>
              <a:sym typeface="Calibri"/>
            </a:endParaRPr>
          </a:p>
        </p:txBody>
      </p:sp>
      <p:sp>
        <p:nvSpPr>
          <p:cNvPr id="698" name="Google Shape;698;p32"/>
          <p:cNvSpPr/>
          <p:nvPr/>
        </p:nvSpPr>
        <p:spPr>
          <a:xfrm>
            <a:off x="7882128" y="91440"/>
            <a:ext cx="1170432" cy="274320"/>
          </a:xfrm>
          <a:prstGeom prst="roundRect">
            <a:avLst>
              <a:gd name="adj" fmla="val 13333"/>
            </a:avLst>
          </a:prstGeom>
          <a:solidFill>
            <a:srgbClr val="B83232"/>
          </a:solidFill>
          <a:ln w="12700" cap="flat" cmpd="sng">
            <a:solidFill>
              <a:srgbClr val="B832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32"/>
          <p:cNvSpPr/>
          <p:nvPr/>
        </p:nvSpPr>
        <p:spPr>
          <a:xfrm>
            <a:off x="7882128" y="91440"/>
            <a:ext cx="1170432"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en-US" sz="800" b="1" i="0" u="none" strike="noStrike" cap="none">
                <a:solidFill>
                  <a:srgbClr val="FFFFFF"/>
                </a:solidFill>
                <a:latin typeface="Calibri"/>
                <a:ea typeface="Calibri"/>
                <a:cs typeface="Calibri"/>
                <a:sym typeface="Calibri"/>
              </a:rPr>
              <a:t>MANDATORY</a:t>
            </a:r>
            <a:endParaRPr sz="800" b="0" i="0" u="none" strike="noStrike" cap="none">
              <a:solidFill>
                <a:schemeClr val="dk1"/>
              </a:solidFill>
              <a:latin typeface="Calibri"/>
              <a:ea typeface="Calibri"/>
              <a:cs typeface="Calibri"/>
              <a:sym typeface="Calibri"/>
            </a:endParaRPr>
          </a:p>
        </p:txBody>
      </p:sp>
      <p:sp>
        <p:nvSpPr>
          <p:cNvPr id="700" name="Google Shape;700;p32"/>
          <p:cNvSpPr/>
          <p:nvPr/>
        </p:nvSpPr>
        <p:spPr>
          <a:xfrm>
            <a:off x="256032" y="749808"/>
            <a:ext cx="8631936" cy="899911"/>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lvl="0" eaLnBrk="0" fontAlgn="base" hangingPunct="0">
              <a:spcBef>
                <a:spcPct val="0"/>
              </a:spcBef>
              <a:spcAft>
                <a:spcPct val="0"/>
              </a:spcAft>
              <a:buClrTx/>
            </a:pPr>
            <a:endParaRPr lang="en-US" altLang="en-US" sz="10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171450" lvl="0" indent="-171450" eaLnBrk="0" fontAlgn="base" hangingPunct="0">
              <a:spcBef>
                <a:spcPct val="0"/>
              </a:spcBef>
              <a:spcAft>
                <a:spcPct val="0"/>
              </a:spcAft>
              <a:buClrTx/>
              <a:buFont typeface="Arial" panose="020B0604020202020204" pitchFamily="34" charset="0"/>
              <a:buChar char="•"/>
            </a:pPr>
            <a:r>
              <a:rPr lang="en-US" altLang="en-US" sz="1000" b="1" dirty="0">
                <a:solidFill>
                  <a:schemeClr val="bg1"/>
                </a:solidFill>
                <a:latin typeface="Calibri" panose="020F0502020204030204" pitchFamily="34" charset="0"/>
                <a:ea typeface="Calibri" panose="020F0502020204030204" pitchFamily="34" charset="0"/>
                <a:cs typeface="Calibri" panose="020F0502020204030204" pitchFamily="34" charset="0"/>
              </a:rPr>
              <a:t>Method:</a:t>
            </a:r>
          </a:p>
          <a:p>
            <a:pPr lvl="0" eaLnBrk="0" fontAlgn="base" hangingPunct="0">
              <a:spcBef>
                <a:spcPct val="0"/>
              </a:spcBef>
              <a:spcAft>
                <a:spcPct val="0"/>
              </a:spcAft>
              <a:buClrTx/>
            </a:pPr>
            <a:r>
              <a:rPr lang="en-US" alt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 Applied </a:t>
            </a:r>
            <a:r>
              <a:rPr lang="en-US" altLang="en-US" sz="1000" b="1" dirty="0">
                <a:solidFill>
                  <a:schemeClr val="bg1"/>
                </a:solidFill>
                <a:latin typeface="Calibri" panose="020F0502020204030204" pitchFamily="34" charset="0"/>
                <a:ea typeface="Calibri" panose="020F0502020204030204" pitchFamily="34" charset="0"/>
                <a:cs typeface="Calibri" panose="020F0502020204030204" pitchFamily="34" charset="0"/>
              </a:rPr>
              <a:t>log transformation</a:t>
            </a:r>
            <a:r>
              <a:rPr lang="en-US" alt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 to handle skewed data </a:t>
            </a:r>
          </a:p>
          <a:p>
            <a:pPr lvl="0" eaLnBrk="0" fontAlgn="base" hangingPunct="0">
              <a:spcBef>
                <a:spcPct val="0"/>
              </a:spcBef>
              <a:spcAft>
                <a:spcPct val="0"/>
              </a:spcAft>
              <a:buClrTx/>
            </a:pPr>
            <a:r>
              <a:rPr lang="en-US" alt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 Used </a:t>
            </a:r>
            <a:r>
              <a:rPr lang="en-US" altLang="en-US" sz="1000" b="1" dirty="0">
                <a:solidFill>
                  <a:schemeClr val="bg1"/>
                </a:solidFill>
                <a:latin typeface="Calibri" panose="020F0502020204030204" pitchFamily="34" charset="0"/>
                <a:ea typeface="Calibri" panose="020F0502020204030204" pitchFamily="34" charset="0"/>
                <a:cs typeface="Calibri" panose="020F0502020204030204" pitchFamily="34" charset="0"/>
              </a:rPr>
              <a:t>Linear Regression</a:t>
            </a:r>
            <a:r>
              <a:rPr lang="en-US" alt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 </a:t>
            </a:r>
          </a:p>
          <a:p>
            <a:pPr lvl="0" eaLnBrk="0" fontAlgn="base" hangingPunct="0">
              <a:spcBef>
                <a:spcPct val="0"/>
              </a:spcBef>
              <a:spcAft>
                <a:spcPct val="0"/>
              </a:spcAft>
              <a:buClrTx/>
            </a:pPr>
            <a:r>
              <a:rPr lang="en-US" alt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 Split data into </a:t>
            </a:r>
            <a:r>
              <a:rPr lang="en-US" altLang="en-US" sz="1000" b="1" dirty="0">
                <a:solidFill>
                  <a:schemeClr val="bg1"/>
                </a:solidFill>
                <a:latin typeface="Calibri" panose="020F0502020204030204" pitchFamily="34" charset="0"/>
                <a:ea typeface="Calibri" panose="020F0502020204030204" pitchFamily="34" charset="0"/>
                <a:cs typeface="Calibri" panose="020F0502020204030204" pitchFamily="34" charset="0"/>
              </a:rPr>
              <a:t>training (80%) and testing (20%)</a:t>
            </a:r>
            <a:r>
              <a:rPr lang="en-US" alt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 </a:t>
            </a:r>
          </a:p>
          <a:p>
            <a:pPr marL="0" lvl="0" indent="0" algn="l" rtl="0">
              <a:spcBef>
                <a:spcPts val="0"/>
              </a:spcBef>
              <a:spcAft>
                <a:spcPts val="0"/>
              </a:spcAft>
              <a:buNone/>
            </a:pPr>
            <a:endParaRPr sz="10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702" name="Google Shape;702;p32"/>
          <p:cNvSpPr/>
          <p:nvPr/>
        </p:nvSpPr>
        <p:spPr>
          <a:xfrm>
            <a:off x="4406840" y="784215"/>
            <a:ext cx="4426832" cy="841248"/>
          </a:xfrm>
          <a:prstGeom prst="rect">
            <a:avLst/>
          </a:prstGeom>
          <a:noFill/>
          <a:ln>
            <a:noFill/>
          </a:ln>
        </p:spPr>
        <p:txBody>
          <a:bodyPr spcFirstLastPara="1" wrap="square" lIns="91425" tIns="45700" rIns="91425" bIns="45700" anchor="ctr" anchorCtr="0">
            <a:noAutofit/>
          </a:bodyPr>
          <a:lstStyle/>
          <a:p>
            <a:pPr marL="171450" indent="-171450">
              <a:buClr>
                <a:schemeClr val="bg1"/>
              </a:buClr>
              <a:buFont typeface="Arial" panose="020B0604020202020204" pitchFamily="34" charset="0"/>
              <a:buChar char="•"/>
            </a:pPr>
            <a:r>
              <a:rPr lang="en-US" sz="1000" b="1" dirty="0">
                <a:solidFill>
                  <a:schemeClr val="bg1"/>
                </a:solidFill>
                <a:latin typeface="Calibri" panose="020F0502020204030204" pitchFamily="34" charset="0"/>
                <a:ea typeface="Calibri" panose="020F0502020204030204" pitchFamily="34" charset="0"/>
                <a:cs typeface="Calibri" panose="020F0502020204030204" pitchFamily="34" charset="0"/>
              </a:rPr>
              <a:t>Objective</a:t>
            </a: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 to predict engagement Log(Retweets + 1)  &amp; Log(Favorites + 1)</a:t>
            </a:r>
          </a:p>
          <a:p>
            <a:pPr marL="171450" indent="-171450">
              <a:buClr>
                <a:schemeClr val="bg1"/>
              </a:buClr>
              <a:buFont typeface="Arial" panose="020B0604020202020204" pitchFamily="34" charset="0"/>
              <a:buChar char="•"/>
            </a:pPr>
            <a:r>
              <a:rPr lang="en-US" sz="1000" b="1" dirty="0">
                <a:solidFill>
                  <a:schemeClr val="bg1"/>
                </a:solidFill>
                <a:latin typeface="Calibri" panose="020F0502020204030204" pitchFamily="34" charset="0"/>
                <a:ea typeface="Calibri" panose="020F0502020204030204" pitchFamily="34" charset="0"/>
                <a:cs typeface="Calibri" panose="020F0502020204030204" pitchFamily="34" charset="0"/>
              </a:rPr>
              <a:t>Feature Inputs:</a:t>
            </a:r>
          </a:p>
          <a:p>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1000" b="1" dirty="0">
                <a:solidFill>
                  <a:schemeClr val="bg1"/>
                </a:solidFill>
                <a:latin typeface="Calibri" panose="020F0502020204030204" pitchFamily="34" charset="0"/>
                <a:ea typeface="Calibri" panose="020F0502020204030204" pitchFamily="34" charset="0"/>
                <a:cs typeface="Calibri" panose="020F0502020204030204" pitchFamily="34" charset="0"/>
              </a:rPr>
              <a:t>Text features: </a:t>
            </a: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Sentiment, subjectivity, Word count, hashtag count</a:t>
            </a:r>
          </a:p>
          <a:p>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1000" b="1" dirty="0">
                <a:solidFill>
                  <a:schemeClr val="bg1"/>
                </a:solidFill>
                <a:latin typeface="Calibri" panose="020F0502020204030204" pitchFamily="34" charset="0"/>
                <a:ea typeface="Calibri" panose="020F0502020204030204" pitchFamily="34" charset="0"/>
                <a:cs typeface="Calibri" panose="020F0502020204030204" pitchFamily="34" charset="0"/>
              </a:rPr>
              <a:t>Emotion features: </a:t>
            </a: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Joy, trust, anger, fear, etc.</a:t>
            </a:r>
          </a:p>
          <a:p>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1000" b="1" dirty="0">
                <a:solidFill>
                  <a:schemeClr val="bg1"/>
                </a:solidFill>
                <a:latin typeface="Calibri" panose="020F0502020204030204" pitchFamily="34" charset="0"/>
                <a:ea typeface="Calibri" panose="020F0502020204030204" pitchFamily="34" charset="0"/>
                <a:cs typeface="Calibri" panose="020F0502020204030204" pitchFamily="34" charset="0"/>
              </a:rPr>
              <a:t>Topic features: </a:t>
            </a: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LDA topic dummies</a:t>
            </a:r>
          </a:p>
        </p:txBody>
      </p:sp>
      <p:sp>
        <p:nvSpPr>
          <p:cNvPr id="703" name="Google Shape;703;p32"/>
          <p:cNvSpPr/>
          <p:nvPr/>
        </p:nvSpPr>
        <p:spPr>
          <a:xfrm>
            <a:off x="256032" y="1747149"/>
            <a:ext cx="4114800" cy="50292"/>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2"/>
          <p:cNvSpPr/>
          <p:nvPr/>
        </p:nvSpPr>
        <p:spPr>
          <a:xfrm>
            <a:off x="4681728" y="1747149"/>
            <a:ext cx="4114800" cy="50292"/>
          </a:xfrm>
          <a:prstGeom prst="rect">
            <a:avLst/>
          </a:prstGeom>
          <a:solidFill>
            <a:srgbClr val="FF8C00"/>
          </a:solidFill>
          <a:ln w="12700" cap="flat" cmpd="sng">
            <a:solidFill>
              <a:srgbClr val="FF8C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2"/>
          <p:cNvSpPr/>
          <p:nvPr/>
        </p:nvSpPr>
        <p:spPr>
          <a:xfrm>
            <a:off x="457200" y="4280377"/>
            <a:ext cx="8631936" cy="877824"/>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2"/>
          <p:cNvSpPr/>
          <p:nvPr/>
        </p:nvSpPr>
        <p:spPr>
          <a:xfrm>
            <a:off x="457200" y="4347972"/>
            <a:ext cx="8284464" cy="65836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E0EF"/>
              </a:buClr>
              <a:buSzPts val="1000"/>
              <a:buFont typeface="Calibri"/>
              <a:buNone/>
            </a:pPr>
            <a:endParaRPr sz="1000" b="0" i="0" u="none" strike="noStrike" cap="none" dirty="0">
              <a:solidFill>
                <a:schemeClr val="dk1"/>
              </a:solidFill>
              <a:latin typeface="Calibri"/>
              <a:ea typeface="Calibri"/>
              <a:cs typeface="Calibri"/>
              <a:sym typeface="Calibri"/>
            </a:endParaRPr>
          </a:p>
        </p:txBody>
      </p:sp>
      <p:pic>
        <p:nvPicPr>
          <p:cNvPr id="707" name="Google Shape;707;p32"/>
          <p:cNvPicPr preferRelativeResize="0"/>
          <p:nvPr/>
        </p:nvPicPr>
        <p:blipFill>
          <a:blip r:embed="rId3">
            <a:alphaModFix/>
          </a:blip>
          <a:stretch>
            <a:fillRect/>
          </a:stretch>
        </p:blipFill>
        <p:spPr>
          <a:xfrm>
            <a:off x="457200" y="1831239"/>
            <a:ext cx="3596565" cy="2482935"/>
          </a:xfrm>
          <a:prstGeom prst="rect">
            <a:avLst/>
          </a:prstGeom>
          <a:noFill/>
          <a:ln>
            <a:noFill/>
          </a:ln>
        </p:spPr>
      </p:pic>
      <p:pic>
        <p:nvPicPr>
          <p:cNvPr id="708" name="Google Shape;708;p32"/>
          <p:cNvPicPr preferRelativeResize="0"/>
          <p:nvPr/>
        </p:nvPicPr>
        <p:blipFill>
          <a:blip r:embed="rId4">
            <a:alphaModFix/>
          </a:blip>
          <a:stretch>
            <a:fillRect/>
          </a:stretch>
        </p:blipFill>
        <p:spPr>
          <a:xfrm>
            <a:off x="4855335" y="1831239"/>
            <a:ext cx="3689798" cy="2449137"/>
          </a:xfrm>
          <a:prstGeom prst="rect">
            <a:avLst/>
          </a:prstGeom>
          <a:noFill/>
          <a:ln>
            <a:noFill/>
          </a:ln>
        </p:spPr>
      </p:pic>
      <p:sp>
        <p:nvSpPr>
          <p:cNvPr id="7" name="Google Shape;702;p32">
            <a:extLst>
              <a:ext uri="{FF2B5EF4-FFF2-40B4-BE49-F238E27FC236}">
                <a16:creationId xmlns:a16="http://schemas.microsoft.com/office/drawing/2014/main" id="{9265B5BD-519C-DD52-BA5A-79C59CAF9708}"/>
              </a:ext>
            </a:extLst>
          </p:cNvPr>
          <p:cNvSpPr/>
          <p:nvPr/>
        </p:nvSpPr>
        <p:spPr>
          <a:xfrm>
            <a:off x="4461136" y="749808"/>
            <a:ext cx="4426832" cy="841248"/>
          </a:xfrm>
          <a:prstGeom prst="rect">
            <a:avLst/>
          </a:prstGeom>
          <a:noFill/>
          <a:ln>
            <a:noFill/>
          </a:ln>
        </p:spPr>
        <p:txBody>
          <a:bodyPr spcFirstLastPara="1" wrap="square" lIns="91425" tIns="45700" rIns="91425" bIns="45700" anchor="ctr" anchorCtr="0">
            <a:noAutofit/>
          </a:bodyPr>
          <a:lstStyle/>
          <a:p>
            <a:pPr>
              <a:buClr>
                <a:schemeClr val="bg1"/>
              </a:buClr>
            </a:pPr>
            <a:endPar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9" name="Rectangle 7">
            <a:extLst>
              <a:ext uri="{FF2B5EF4-FFF2-40B4-BE49-F238E27FC236}">
                <a16:creationId xmlns:a16="http://schemas.microsoft.com/office/drawing/2014/main" id="{E2A18812-F46A-F2EE-A272-B6E4E09E6D21}"/>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3" name="Rectangle 11">
            <a:extLst>
              <a:ext uri="{FF2B5EF4-FFF2-40B4-BE49-F238E27FC236}">
                <a16:creationId xmlns:a16="http://schemas.microsoft.com/office/drawing/2014/main" id="{30F46429-5405-22E2-ADFB-981716B06554}"/>
              </a:ext>
            </a:extLst>
          </p:cNvPr>
          <p:cNvSpPr>
            <a:spLocks noChangeArrowheads="1"/>
          </p:cNvSpPr>
          <p:nvPr/>
        </p:nvSpPr>
        <p:spPr bwMode="auto">
          <a:xfrm>
            <a:off x="472784" y="4383297"/>
            <a:ext cx="2454518"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Favorites:</a:t>
            </a:r>
            <a:r>
              <a:rPr kumimoji="0" lang="en-US" altLang="en-US" sz="11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R² ≈ 0.04 </a:t>
            </a:r>
          </a:p>
          <a:p>
            <a:pPr marL="171450" indent="-171450" eaLnBrk="0" fontAlgn="base" hangingPunct="0">
              <a:spcBef>
                <a:spcPct val="0"/>
              </a:spcBef>
              <a:spcAft>
                <a:spcPct val="0"/>
              </a:spcAft>
              <a:buClrTx/>
              <a:buFont typeface="Arial" panose="020B0604020202020204" pitchFamily="34" charset="0"/>
              <a:buChar char="•"/>
            </a:pPr>
            <a:r>
              <a:rPr lang="en-US" altLang="en-US" sz="1100" b="1" dirty="0">
                <a:solidFill>
                  <a:schemeClr val="bg1"/>
                </a:solidFill>
                <a:latin typeface="Calibri" panose="020F0502020204030204" pitchFamily="34" charset="0"/>
                <a:ea typeface="Calibri" panose="020F0502020204030204" pitchFamily="34" charset="0"/>
                <a:cs typeface="Calibri" panose="020F0502020204030204" pitchFamily="34" charset="0"/>
              </a:rPr>
              <a:t>Retweets:</a:t>
            </a:r>
            <a:r>
              <a:rPr lang="en-US" altLang="en-US" sz="1100" dirty="0">
                <a:solidFill>
                  <a:schemeClr val="bg1"/>
                </a:solidFill>
                <a:latin typeface="Calibri" panose="020F0502020204030204" pitchFamily="34" charset="0"/>
                <a:ea typeface="Calibri" panose="020F0502020204030204" pitchFamily="34" charset="0"/>
                <a:cs typeface="Calibri" panose="020F0502020204030204" pitchFamily="34" charset="0"/>
              </a:rPr>
              <a:t> R² ≈ 0.06 </a:t>
            </a:r>
            <a:endParaRPr kumimoji="0" lang="en-US" altLang="en-US" sz="11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Similar train &amp; test → </a:t>
            </a:r>
            <a:r>
              <a:rPr kumimoji="0" lang="en-US" altLang="en-US" sz="11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no overfitting</a:t>
            </a:r>
            <a:r>
              <a:rPr kumimoji="0" lang="en-US" altLang="en-US" sz="11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p>
        </p:txBody>
      </p:sp>
      <p:sp>
        <p:nvSpPr>
          <p:cNvPr id="14" name="Rectangle 12">
            <a:extLst>
              <a:ext uri="{FF2B5EF4-FFF2-40B4-BE49-F238E27FC236}">
                <a16:creationId xmlns:a16="http://schemas.microsoft.com/office/drawing/2014/main" id="{DE65084F-5CC7-6016-CB6D-34FB9418FEC7}"/>
              </a:ext>
            </a:extLst>
          </p:cNvPr>
          <p:cNvSpPr>
            <a:spLocks noChangeArrowheads="1"/>
          </p:cNvSpPr>
          <p:nvPr/>
        </p:nvSpPr>
        <p:spPr bwMode="auto">
          <a:xfrm>
            <a:off x="4773168" y="4428099"/>
            <a:ext cx="352853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171450" indent="-171450" eaLnBrk="0" fontAlgn="base" hangingPunct="0">
              <a:spcBef>
                <a:spcPct val="0"/>
              </a:spcBef>
              <a:spcAft>
                <a:spcPct val="0"/>
              </a:spcAft>
              <a:buClrTx/>
              <a:buFont typeface="Arial" panose="020B0604020202020204" pitchFamily="34" charset="0"/>
              <a:buChar char="•"/>
            </a:pPr>
            <a:r>
              <a:rPr lang="en-US" altLang="en-US" sz="1100" dirty="0">
                <a:solidFill>
                  <a:schemeClr val="bg1"/>
                </a:solidFill>
                <a:latin typeface="Calibri" panose="020F0502020204030204" pitchFamily="34" charset="0"/>
                <a:ea typeface="Calibri" panose="020F0502020204030204" pitchFamily="34" charset="0"/>
                <a:cs typeface="Calibri" panose="020F0502020204030204" pitchFamily="34" charset="0"/>
              </a:rPr>
              <a:t>Text + emotion + topics explain </a:t>
            </a:r>
            <a:r>
              <a:rPr lang="en-US" altLang="en-US" sz="1100" b="1" dirty="0">
                <a:solidFill>
                  <a:schemeClr val="bg1"/>
                </a:solidFill>
                <a:latin typeface="Calibri" panose="020F0502020204030204" pitchFamily="34" charset="0"/>
                <a:ea typeface="Calibri" panose="020F0502020204030204" pitchFamily="34" charset="0"/>
                <a:cs typeface="Calibri" panose="020F0502020204030204" pitchFamily="34" charset="0"/>
              </a:rPr>
              <a:t>very little engagement</a:t>
            </a:r>
            <a:r>
              <a:rPr lang="en-US" altLang="en-US" sz="1100" dirty="0">
                <a:solidFill>
                  <a:schemeClr val="bg1"/>
                </a:solidFill>
                <a:latin typeface="Calibri" panose="020F0502020204030204" pitchFamily="34" charset="0"/>
                <a:ea typeface="Calibri" panose="020F0502020204030204" pitchFamily="34" charset="0"/>
                <a:cs typeface="Calibri" panose="020F0502020204030204" pitchFamily="34" charset="0"/>
              </a:rPr>
              <a:t> </a:t>
            </a:r>
            <a:endParaRPr kumimoji="0" lang="en-US" altLang="en-US" sz="11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1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Model is </a:t>
            </a:r>
            <a:r>
              <a:rPr kumimoji="0" lang="en-US" altLang="en-US" sz="11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stable but weak</a:t>
            </a:r>
            <a:r>
              <a:rPr kumimoji="0" lang="en-US" altLang="en-US" sz="11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713"/>
        <p:cNvGrpSpPr/>
        <p:nvPr/>
      </p:nvGrpSpPr>
      <p:grpSpPr>
        <a:xfrm>
          <a:off x="0" y="0"/>
          <a:ext cx="0" cy="0"/>
          <a:chOff x="0" y="0"/>
          <a:chExt cx="0" cy="0"/>
        </a:xfrm>
      </p:grpSpPr>
      <p:sp>
        <p:nvSpPr>
          <p:cNvPr id="714" name="Google Shape;714;p33"/>
          <p:cNvSpPr/>
          <p:nvPr/>
        </p:nvSpPr>
        <p:spPr>
          <a:xfrm>
            <a:off x="0" y="0"/>
            <a:ext cx="9144000" cy="621900"/>
          </a:xfrm>
          <a:prstGeom prst="rect">
            <a:avLst/>
          </a:prstGeom>
          <a:solidFill>
            <a:srgbClr val="112236"/>
          </a:solidFill>
          <a:ln w="12700" cap="flat" cmpd="sng">
            <a:solidFill>
              <a:srgbClr val="1122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3"/>
          <p:cNvSpPr/>
          <p:nvPr/>
        </p:nvSpPr>
        <p:spPr>
          <a:xfrm>
            <a:off x="0" y="0"/>
            <a:ext cx="128100" cy="621900"/>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3"/>
          <p:cNvSpPr/>
          <p:nvPr/>
        </p:nvSpPr>
        <p:spPr>
          <a:xfrm>
            <a:off x="219456" y="0"/>
            <a:ext cx="6400800" cy="621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3.4b  PREDICTIVE MODELING — Linear Regression: RT &amp; Favorites</a:t>
            </a:r>
            <a:endParaRPr sz="2000" b="0" i="0" u="none" strike="noStrike" cap="none">
              <a:solidFill>
                <a:schemeClr val="dk1"/>
              </a:solidFill>
              <a:latin typeface="Calibri"/>
              <a:ea typeface="Calibri"/>
              <a:cs typeface="Calibri"/>
              <a:sym typeface="Calibri"/>
            </a:endParaRPr>
          </a:p>
        </p:txBody>
      </p:sp>
      <p:sp>
        <p:nvSpPr>
          <p:cNvPr id="717" name="Google Shape;717;p33"/>
          <p:cNvSpPr/>
          <p:nvPr/>
        </p:nvSpPr>
        <p:spPr>
          <a:xfrm>
            <a:off x="6675120" y="137160"/>
            <a:ext cx="2286000" cy="3474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90AA"/>
              </a:buClr>
              <a:buSzPts val="1000"/>
              <a:buFont typeface="Calibri"/>
              <a:buNone/>
            </a:pPr>
            <a:r>
              <a:rPr lang="en-US" sz="1000" b="0" i="0" u="none" strike="noStrike" cap="none">
                <a:solidFill>
                  <a:srgbClr val="6B90AA"/>
                </a:solidFill>
                <a:latin typeface="Calibri"/>
                <a:ea typeface="Calibri"/>
                <a:cs typeface="Calibri"/>
                <a:sym typeface="Calibri"/>
              </a:rPr>
              <a:t>MANDATORY</a:t>
            </a:r>
            <a:endParaRPr sz="1000" b="0" i="0" u="none" strike="noStrike" cap="none">
              <a:solidFill>
                <a:schemeClr val="dk1"/>
              </a:solidFill>
              <a:latin typeface="Calibri"/>
              <a:ea typeface="Calibri"/>
              <a:cs typeface="Calibri"/>
              <a:sym typeface="Calibri"/>
            </a:endParaRPr>
          </a:p>
        </p:txBody>
      </p:sp>
      <p:sp>
        <p:nvSpPr>
          <p:cNvPr id="718" name="Google Shape;718;p33"/>
          <p:cNvSpPr/>
          <p:nvPr/>
        </p:nvSpPr>
        <p:spPr>
          <a:xfrm>
            <a:off x="7882128" y="91440"/>
            <a:ext cx="1170300" cy="274200"/>
          </a:xfrm>
          <a:prstGeom prst="roundRect">
            <a:avLst>
              <a:gd name="adj" fmla="val 13333"/>
            </a:avLst>
          </a:prstGeom>
          <a:solidFill>
            <a:srgbClr val="B83232"/>
          </a:solidFill>
          <a:ln w="12700" cap="flat" cmpd="sng">
            <a:solidFill>
              <a:srgbClr val="B832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3"/>
          <p:cNvSpPr/>
          <p:nvPr/>
        </p:nvSpPr>
        <p:spPr>
          <a:xfrm>
            <a:off x="7882128" y="91440"/>
            <a:ext cx="11703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en-US" sz="800" b="1" i="0" u="none" strike="noStrike" cap="none">
                <a:solidFill>
                  <a:srgbClr val="FFFFFF"/>
                </a:solidFill>
                <a:latin typeface="Calibri"/>
                <a:ea typeface="Calibri"/>
                <a:cs typeface="Calibri"/>
                <a:sym typeface="Calibri"/>
              </a:rPr>
              <a:t>MANDATORY</a:t>
            </a:r>
            <a:endParaRPr sz="800" b="0" i="0" u="none" strike="noStrike" cap="none">
              <a:solidFill>
                <a:schemeClr val="dk1"/>
              </a:solidFill>
              <a:latin typeface="Calibri"/>
              <a:ea typeface="Calibri"/>
              <a:cs typeface="Calibri"/>
              <a:sym typeface="Calibri"/>
            </a:endParaRPr>
          </a:p>
        </p:txBody>
      </p:sp>
      <p:sp>
        <p:nvSpPr>
          <p:cNvPr id="720" name="Google Shape;720;p33"/>
          <p:cNvSpPr/>
          <p:nvPr/>
        </p:nvSpPr>
        <p:spPr>
          <a:xfrm>
            <a:off x="158040" y="3914275"/>
            <a:ext cx="8631900" cy="1102608"/>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3"/>
          <p:cNvSpPr/>
          <p:nvPr/>
        </p:nvSpPr>
        <p:spPr>
          <a:xfrm>
            <a:off x="256036" y="3930677"/>
            <a:ext cx="8284500" cy="6585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E0EF"/>
              </a:buClr>
              <a:buSzPts val="1000"/>
              <a:buFont typeface="Calibri"/>
              <a:buNone/>
            </a:pPr>
            <a:endParaRPr sz="1000" b="0" i="0" u="none" strike="noStrike" cap="none" dirty="0">
              <a:solidFill>
                <a:schemeClr val="dk1"/>
              </a:solidFill>
              <a:latin typeface="Calibri"/>
              <a:ea typeface="Calibri"/>
              <a:cs typeface="Calibri"/>
              <a:sym typeface="Calibri"/>
            </a:endParaRPr>
          </a:p>
        </p:txBody>
      </p:sp>
      <p:pic>
        <p:nvPicPr>
          <p:cNvPr id="722" name="Google Shape;722;p33"/>
          <p:cNvPicPr preferRelativeResize="0"/>
          <p:nvPr/>
        </p:nvPicPr>
        <p:blipFill>
          <a:blip r:embed="rId3">
            <a:alphaModFix/>
          </a:blip>
          <a:stretch>
            <a:fillRect/>
          </a:stretch>
        </p:blipFill>
        <p:spPr>
          <a:xfrm>
            <a:off x="128100" y="774300"/>
            <a:ext cx="4444150" cy="3003968"/>
          </a:xfrm>
          <a:prstGeom prst="rect">
            <a:avLst/>
          </a:prstGeom>
          <a:noFill/>
          <a:ln>
            <a:noFill/>
          </a:ln>
        </p:spPr>
      </p:pic>
      <p:pic>
        <p:nvPicPr>
          <p:cNvPr id="723" name="Google Shape;723;p33"/>
          <p:cNvPicPr preferRelativeResize="0"/>
          <p:nvPr/>
        </p:nvPicPr>
        <p:blipFill>
          <a:blip r:embed="rId4">
            <a:alphaModFix/>
          </a:blip>
          <a:stretch>
            <a:fillRect/>
          </a:stretch>
        </p:blipFill>
        <p:spPr>
          <a:xfrm>
            <a:off x="4665819" y="774300"/>
            <a:ext cx="4295301" cy="3003975"/>
          </a:xfrm>
          <a:prstGeom prst="rect">
            <a:avLst/>
          </a:prstGeom>
          <a:noFill/>
          <a:ln>
            <a:noFill/>
          </a:ln>
        </p:spPr>
      </p:pic>
      <p:sp>
        <p:nvSpPr>
          <p:cNvPr id="2" name="Rectangle 1">
            <a:extLst>
              <a:ext uri="{FF2B5EF4-FFF2-40B4-BE49-F238E27FC236}">
                <a16:creationId xmlns:a16="http://schemas.microsoft.com/office/drawing/2014/main" id="{BE9F342F-10CA-6A71-BBA7-2E886F913ECA}"/>
              </a:ext>
            </a:extLst>
          </p:cNvPr>
          <p:cNvSpPr>
            <a:spLocks noChangeArrowheads="1"/>
          </p:cNvSpPr>
          <p:nvPr/>
        </p:nvSpPr>
        <p:spPr bwMode="auto">
          <a:xfrm>
            <a:off x="354060" y="3944324"/>
            <a:ext cx="355525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
                <a:schemeClr val="bg1"/>
              </a:buClr>
              <a:buSzTx/>
              <a:buFont typeface="Arial" panose="020B0604020202020204" pitchFamily="34" charset="0"/>
              <a:buChar char="•"/>
              <a:tabLst/>
            </a:pPr>
            <a:r>
              <a:rPr kumimoji="0" lang="en-US" altLang="en-US" sz="10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URLs and mentions</a:t>
            </a:r>
            <a:r>
              <a:rPr kumimoji="0" lang="en-US" altLang="en-US" sz="10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also increase engagement </a:t>
            </a:r>
          </a:p>
          <a:p>
            <a:pPr marL="171450" marR="0" lvl="0" indent="-171450" algn="l" defTabSz="914400" rtl="0" eaLnBrk="0" fontAlgn="base" latinLnBrk="0" hangingPunct="0">
              <a:lnSpc>
                <a:spcPct val="100000"/>
              </a:lnSpc>
              <a:spcBef>
                <a:spcPct val="0"/>
              </a:spcBef>
              <a:spcAft>
                <a:spcPct val="0"/>
              </a:spcAft>
              <a:buClr>
                <a:schemeClr val="bg1"/>
              </a:buClr>
              <a:buSzTx/>
              <a:buFont typeface="Arial" panose="020B0604020202020204" pitchFamily="34" charset="0"/>
              <a:buChar char="•"/>
              <a:tabLst/>
            </a:pPr>
            <a:r>
              <a:rPr kumimoji="0" lang="en-US" altLang="en-US" sz="10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Hashtags are the strongest predictor</a:t>
            </a:r>
            <a:r>
              <a:rPr kumimoji="0" lang="en-US" altLang="en-US" sz="10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(by far) </a:t>
            </a:r>
          </a:p>
          <a:p>
            <a:pPr marL="171450" marR="0" lvl="0" indent="-171450" algn="l" defTabSz="914400" rtl="0" eaLnBrk="0" fontAlgn="base" latinLnBrk="0" hangingPunct="0">
              <a:lnSpc>
                <a:spcPct val="100000"/>
              </a:lnSpc>
              <a:spcBef>
                <a:spcPct val="0"/>
              </a:spcBef>
              <a:spcAft>
                <a:spcPct val="0"/>
              </a:spcAft>
              <a:buClr>
                <a:schemeClr val="bg1"/>
              </a:buClr>
              <a:buSzTx/>
              <a:buFont typeface="Arial" panose="020B0604020202020204" pitchFamily="34" charset="0"/>
              <a:buChar char="•"/>
              <a:tabLst/>
            </a:pPr>
            <a:r>
              <a:rPr kumimoji="0" lang="en-US" altLang="en-US" sz="10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Topic features</a:t>
            </a:r>
            <a:r>
              <a:rPr kumimoji="0" lang="en-US" altLang="en-US" sz="10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have moderate impact </a:t>
            </a:r>
          </a:p>
          <a:p>
            <a:pPr marL="171450" indent="-171450">
              <a:buClr>
                <a:schemeClr val="bg1"/>
              </a:buClr>
              <a:buFont typeface="Arial" panose="020B0604020202020204" pitchFamily="34" charset="0"/>
              <a:buChar char="•"/>
            </a:pP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Sentiment &amp; subjectivity → </a:t>
            </a:r>
            <a:r>
              <a:rPr lang="en-US" sz="1000" b="1" dirty="0">
                <a:solidFill>
                  <a:schemeClr val="bg1"/>
                </a:solidFill>
                <a:latin typeface="Calibri" panose="020F0502020204030204" pitchFamily="34" charset="0"/>
                <a:ea typeface="Calibri" panose="020F0502020204030204" pitchFamily="34" charset="0"/>
                <a:cs typeface="Calibri" panose="020F0502020204030204" pitchFamily="34" charset="0"/>
              </a:rPr>
              <a:t>small effect</a:t>
            </a: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 </a:t>
            </a:r>
          </a:p>
          <a:p>
            <a:pPr marL="171450" indent="-171450">
              <a:buClr>
                <a:schemeClr val="bg1"/>
              </a:buClr>
              <a:buFont typeface="Arial" panose="020B0604020202020204" pitchFamily="34" charset="0"/>
              <a:buChar char="•"/>
            </a:pP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Emotions → </a:t>
            </a:r>
            <a:r>
              <a:rPr lang="en-US" sz="1000" b="1" dirty="0">
                <a:solidFill>
                  <a:schemeClr val="bg1"/>
                </a:solidFill>
                <a:latin typeface="Calibri" panose="020F0502020204030204" pitchFamily="34" charset="0"/>
                <a:ea typeface="Calibri" panose="020F0502020204030204" pitchFamily="34" charset="0"/>
                <a:cs typeface="Calibri" panose="020F0502020204030204" pitchFamily="34" charset="0"/>
              </a:rPr>
              <a:t>very weak influence</a:t>
            </a: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 </a:t>
            </a:r>
          </a:p>
          <a:p>
            <a:pPr marL="171450" indent="-171450">
              <a:buClr>
                <a:schemeClr val="bg1"/>
              </a:buClr>
              <a:buFont typeface="Arial" panose="020B0604020202020204" pitchFamily="34" charset="0"/>
              <a:buChar char="•"/>
            </a:pP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Word count → </a:t>
            </a:r>
            <a:r>
              <a:rPr lang="en-US" sz="1000" b="1" dirty="0">
                <a:solidFill>
                  <a:schemeClr val="bg1"/>
                </a:solidFill>
                <a:latin typeface="Calibri" panose="020F0502020204030204" pitchFamily="34" charset="0"/>
                <a:ea typeface="Calibri" panose="020F0502020204030204" pitchFamily="34" charset="0"/>
                <a:cs typeface="Calibri" panose="020F0502020204030204" pitchFamily="34" charset="0"/>
              </a:rPr>
              <a:t>minimal impact</a:t>
            </a: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 </a:t>
            </a:r>
          </a:p>
          <a:p>
            <a:b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br>
            <a:endPar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C14B73FB-6051-0FF6-A2D1-96C6473D1677}"/>
              </a:ext>
            </a:extLst>
          </p:cNvPr>
          <p:cNvSpPr txBox="1"/>
          <p:nvPr/>
        </p:nvSpPr>
        <p:spPr>
          <a:xfrm>
            <a:off x="4473990" y="3944324"/>
            <a:ext cx="4066546" cy="861774"/>
          </a:xfrm>
          <a:prstGeom prst="rect">
            <a:avLst/>
          </a:prstGeom>
          <a:noFill/>
        </p:spPr>
        <p:txBody>
          <a:bodyPr wrap="square">
            <a:spAutoFit/>
          </a:bodyPr>
          <a:lstStyle/>
          <a:p>
            <a:r>
              <a:rPr lang="en-US" sz="1000" b="1" dirty="0">
                <a:solidFill>
                  <a:schemeClr val="bg1"/>
                </a:solidFill>
                <a:latin typeface="Calibri" panose="020F0502020204030204" pitchFamily="34" charset="0"/>
                <a:ea typeface="Calibri" panose="020F0502020204030204" pitchFamily="34" charset="0"/>
                <a:cs typeface="Calibri" panose="020F0502020204030204" pitchFamily="34" charset="0"/>
              </a:rPr>
              <a:t>Interpretation</a:t>
            </a:r>
          </a:p>
          <a:p>
            <a:endParaRPr lang="en-US" sz="10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285750" indent="-285750">
              <a:buClr>
                <a:schemeClr val="bg1"/>
              </a:buClr>
              <a:buFont typeface="Arial" panose="020B0604020202020204" pitchFamily="34" charset="0"/>
              <a:buChar char="•"/>
            </a:pP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Engagement is driven more by </a:t>
            </a:r>
            <a:r>
              <a:rPr lang="en-US" sz="1000" b="1" dirty="0">
                <a:solidFill>
                  <a:schemeClr val="bg1"/>
                </a:solidFill>
                <a:latin typeface="Calibri" panose="020F0502020204030204" pitchFamily="34" charset="0"/>
                <a:ea typeface="Calibri" panose="020F0502020204030204" pitchFamily="34" charset="0"/>
                <a:cs typeface="Calibri" panose="020F0502020204030204" pitchFamily="34" charset="0"/>
              </a:rPr>
              <a:t>structure of the tweet</a:t>
            </a:r>
            <a:b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b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(hashtags, links, mentions) </a:t>
            </a:r>
          </a:p>
          <a:p>
            <a:pPr marL="285750" indent="-285750">
              <a:buClr>
                <a:schemeClr val="bg1"/>
              </a:buClr>
              <a:buFont typeface="Arial" panose="020B0604020202020204" pitchFamily="34" charset="0"/>
              <a:buChar char="•"/>
            </a:pP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Content meaning (sentiment/emotion) is </a:t>
            </a:r>
            <a:r>
              <a:rPr lang="en-US" sz="1000" b="1" dirty="0">
                <a:solidFill>
                  <a:schemeClr val="bg1"/>
                </a:solidFill>
                <a:latin typeface="Calibri" panose="020F0502020204030204" pitchFamily="34" charset="0"/>
                <a:ea typeface="Calibri" panose="020F0502020204030204" pitchFamily="34" charset="0"/>
                <a:cs typeface="Calibri" panose="020F0502020204030204" pitchFamily="34" charset="0"/>
              </a:rPr>
              <a:t>less important</a:t>
            </a:r>
            <a:endPar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728"/>
        <p:cNvGrpSpPr/>
        <p:nvPr/>
      </p:nvGrpSpPr>
      <p:grpSpPr>
        <a:xfrm>
          <a:off x="0" y="0"/>
          <a:ext cx="0" cy="0"/>
          <a:chOff x="0" y="0"/>
          <a:chExt cx="0" cy="0"/>
        </a:xfrm>
      </p:grpSpPr>
      <p:sp>
        <p:nvSpPr>
          <p:cNvPr id="729" name="Google Shape;729;p34"/>
          <p:cNvSpPr/>
          <p:nvPr/>
        </p:nvSpPr>
        <p:spPr>
          <a:xfrm>
            <a:off x="0" y="0"/>
            <a:ext cx="9144000" cy="621900"/>
          </a:xfrm>
          <a:prstGeom prst="rect">
            <a:avLst/>
          </a:prstGeom>
          <a:solidFill>
            <a:srgbClr val="112236"/>
          </a:solidFill>
          <a:ln w="12700" cap="flat" cmpd="sng">
            <a:solidFill>
              <a:srgbClr val="1122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34"/>
          <p:cNvSpPr/>
          <p:nvPr/>
        </p:nvSpPr>
        <p:spPr>
          <a:xfrm>
            <a:off x="0" y="0"/>
            <a:ext cx="128100" cy="621900"/>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34"/>
          <p:cNvSpPr/>
          <p:nvPr/>
        </p:nvSpPr>
        <p:spPr>
          <a:xfrm>
            <a:off x="219449" y="0"/>
            <a:ext cx="7457700" cy="621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3.4b  PREDICTIVE MODELING — Linear Regression: RT &amp; Favorites</a:t>
            </a:r>
            <a:endParaRPr sz="2000" b="0" i="0" u="none" strike="noStrike" cap="none">
              <a:solidFill>
                <a:schemeClr val="dk1"/>
              </a:solidFill>
              <a:latin typeface="Calibri"/>
              <a:ea typeface="Calibri"/>
              <a:cs typeface="Calibri"/>
              <a:sym typeface="Calibri"/>
            </a:endParaRPr>
          </a:p>
        </p:txBody>
      </p:sp>
      <p:sp>
        <p:nvSpPr>
          <p:cNvPr id="732" name="Google Shape;732;p34"/>
          <p:cNvSpPr/>
          <p:nvPr/>
        </p:nvSpPr>
        <p:spPr>
          <a:xfrm>
            <a:off x="6675120" y="137160"/>
            <a:ext cx="2286000" cy="3474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6B90AA"/>
              </a:buClr>
              <a:buSzPts val="1000"/>
              <a:buFont typeface="Calibri"/>
              <a:buNone/>
            </a:pPr>
            <a:r>
              <a:rPr lang="en-US" sz="1000" b="0" i="0" u="none" strike="noStrike" cap="none">
                <a:solidFill>
                  <a:srgbClr val="6B90AA"/>
                </a:solidFill>
                <a:latin typeface="Calibri"/>
                <a:ea typeface="Calibri"/>
                <a:cs typeface="Calibri"/>
                <a:sym typeface="Calibri"/>
              </a:rPr>
              <a:t>MANDATORY</a:t>
            </a:r>
            <a:endParaRPr sz="1000" b="0" i="0" u="none" strike="noStrike" cap="none">
              <a:solidFill>
                <a:schemeClr val="dk1"/>
              </a:solidFill>
              <a:latin typeface="Calibri"/>
              <a:ea typeface="Calibri"/>
              <a:cs typeface="Calibri"/>
              <a:sym typeface="Calibri"/>
            </a:endParaRPr>
          </a:p>
        </p:txBody>
      </p:sp>
      <p:sp>
        <p:nvSpPr>
          <p:cNvPr id="733" name="Google Shape;733;p34"/>
          <p:cNvSpPr/>
          <p:nvPr/>
        </p:nvSpPr>
        <p:spPr>
          <a:xfrm>
            <a:off x="7882128" y="91440"/>
            <a:ext cx="1170300" cy="274200"/>
          </a:xfrm>
          <a:prstGeom prst="roundRect">
            <a:avLst>
              <a:gd name="adj" fmla="val 13333"/>
            </a:avLst>
          </a:prstGeom>
          <a:solidFill>
            <a:srgbClr val="B83232"/>
          </a:solidFill>
          <a:ln w="12700" cap="flat" cmpd="sng">
            <a:solidFill>
              <a:srgbClr val="B8323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4"/>
          <p:cNvSpPr/>
          <p:nvPr/>
        </p:nvSpPr>
        <p:spPr>
          <a:xfrm>
            <a:off x="7882128" y="91440"/>
            <a:ext cx="1170300" cy="274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Calibri"/>
              <a:buNone/>
            </a:pPr>
            <a:r>
              <a:rPr lang="en-US" sz="800" b="1" i="0" u="none" strike="noStrike" cap="none">
                <a:solidFill>
                  <a:srgbClr val="FFFFFF"/>
                </a:solidFill>
                <a:latin typeface="Calibri"/>
                <a:ea typeface="Calibri"/>
                <a:cs typeface="Calibri"/>
                <a:sym typeface="Calibri"/>
              </a:rPr>
              <a:t>MANDATORY</a:t>
            </a:r>
            <a:endParaRPr sz="800" b="0" i="0" u="none" strike="noStrike" cap="none">
              <a:solidFill>
                <a:schemeClr val="dk1"/>
              </a:solidFill>
              <a:latin typeface="Calibri"/>
              <a:ea typeface="Calibri"/>
              <a:cs typeface="Calibri"/>
              <a:sym typeface="Calibri"/>
            </a:endParaRPr>
          </a:p>
        </p:txBody>
      </p:sp>
      <p:pic>
        <p:nvPicPr>
          <p:cNvPr id="735" name="Google Shape;735;p34"/>
          <p:cNvPicPr preferRelativeResize="0"/>
          <p:nvPr/>
        </p:nvPicPr>
        <p:blipFill>
          <a:blip r:embed="rId3">
            <a:alphaModFix/>
          </a:blip>
          <a:stretch>
            <a:fillRect/>
          </a:stretch>
        </p:blipFill>
        <p:spPr>
          <a:xfrm>
            <a:off x="219450" y="911113"/>
            <a:ext cx="4228375" cy="2308605"/>
          </a:xfrm>
          <a:prstGeom prst="rect">
            <a:avLst/>
          </a:prstGeom>
          <a:noFill/>
          <a:ln>
            <a:noFill/>
          </a:ln>
        </p:spPr>
      </p:pic>
      <p:pic>
        <p:nvPicPr>
          <p:cNvPr id="736" name="Google Shape;736;p34"/>
          <p:cNvPicPr preferRelativeResize="0"/>
          <p:nvPr/>
        </p:nvPicPr>
        <p:blipFill>
          <a:blip r:embed="rId4">
            <a:alphaModFix/>
          </a:blip>
          <a:stretch>
            <a:fillRect/>
          </a:stretch>
        </p:blipFill>
        <p:spPr>
          <a:xfrm>
            <a:off x="4766075" y="911125"/>
            <a:ext cx="4148250" cy="2308593"/>
          </a:xfrm>
          <a:prstGeom prst="rect">
            <a:avLst/>
          </a:prstGeom>
          <a:noFill/>
          <a:ln>
            <a:noFill/>
          </a:ln>
        </p:spPr>
      </p:pic>
      <p:sp>
        <p:nvSpPr>
          <p:cNvPr id="3" name="TextBox 2">
            <a:extLst>
              <a:ext uri="{FF2B5EF4-FFF2-40B4-BE49-F238E27FC236}">
                <a16:creationId xmlns:a16="http://schemas.microsoft.com/office/drawing/2014/main" id="{EFAF7D91-3D38-F89F-0A54-62FEF75AE3B2}"/>
              </a:ext>
            </a:extLst>
          </p:cNvPr>
          <p:cNvSpPr txBox="1"/>
          <p:nvPr/>
        </p:nvSpPr>
        <p:spPr>
          <a:xfrm>
            <a:off x="187637" y="3418656"/>
            <a:ext cx="8235146" cy="1785104"/>
          </a:xfrm>
          <a:prstGeom prst="rect">
            <a:avLst/>
          </a:prstGeom>
          <a:noFill/>
        </p:spPr>
        <p:txBody>
          <a:bodyPr wrap="square">
            <a:spAutoFit/>
          </a:bodyPr>
          <a:lstStyle/>
          <a:p>
            <a:pPr lvl="4">
              <a:buClr>
                <a:schemeClr val="bg1"/>
              </a:buClr>
            </a:pPr>
            <a:r>
              <a:rPr lang="en-US" sz="1000" b="1" dirty="0">
                <a:solidFill>
                  <a:schemeClr val="bg1"/>
                </a:solidFill>
                <a:latin typeface="Calibri" panose="020F0502020204030204" pitchFamily="34" charset="0"/>
                <a:ea typeface="Calibri" panose="020F0502020204030204" pitchFamily="34" charset="0"/>
                <a:cs typeface="Calibri" panose="020F0502020204030204" pitchFamily="34" charset="0"/>
              </a:rPr>
              <a:t>Positive Effects (increase engagement)</a:t>
            </a:r>
          </a:p>
          <a:p>
            <a:pPr marL="171450" indent="-171450">
              <a:buClr>
                <a:schemeClr val="bg1"/>
              </a:buClr>
              <a:buFont typeface="Arial" panose="020B0604020202020204" pitchFamily="34" charset="0"/>
              <a:buChar char="•"/>
            </a:pP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Hashtags → strongest positive impact </a:t>
            </a:r>
          </a:p>
          <a:p>
            <a:pPr marL="171450" indent="-171450">
              <a:buClr>
                <a:schemeClr val="bg1"/>
              </a:buClr>
              <a:buFont typeface="Arial" panose="020B0604020202020204" pitchFamily="34" charset="0"/>
              <a:buChar char="•"/>
            </a:pP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URLs → increase visibility &amp; engagement Interpretation</a:t>
            </a:r>
          </a:p>
          <a:p>
            <a:pPr marL="171450" indent="-171450">
              <a:buClr>
                <a:schemeClr val="bg1"/>
              </a:buClr>
              <a:buFont typeface="Arial" panose="020B0604020202020204" pitchFamily="34" charset="0"/>
              <a:buChar char="•"/>
            </a:pP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Engagement depends more on tweet structure (hashtags, links) </a:t>
            </a:r>
          </a:p>
          <a:p>
            <a:pPr marL="171450" indent="-171450">
              <a:buClr>
                <a:schemeClr val="bg1"/>
              </a:buClr>
              <a:buFont typeface="Arial" panose="020B0604020202020204" pitchFamily="34" charset="0"/>
              <a:buChar char="•"/>
            </a:pP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Content meaning has mixed and weak effects</a:t>
            </a:r>
          </a:p>
          <a:p>
            <a:pPr marL="171450" indent="-171450">
              <a:buClr>
                <a:schemeClr val="bg1"/>
              </a:buClr>
              <a:buFont typeface="Arial" panose="020B0604020202020204" pitchFamily="34" charset="0"/>
              <a:buChar char="•"/>
            </a:pP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Some topics (e.g., Topic 3, Topic 4) → moderate effect</a:t>
            </a:r>
          </a:p>
          <a:p>
            <a:pPr marL="171450" indent="-171450">
              <a:buClr>
                <a:schemeClr val="bg1"/>
              </a:buClr>
              <a:buFont typeface="Arial" panose="020B0604020202020204" pitchFamily="34" charset="0"/>
              <a:buChar char="•"/>
            </a:pPr>
            <a:endPar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a:buClr>
                <a:schemeClr val="bg1"/>
              </a:buClr>
            </a:pPr>
            <a:r>
              <a:rPr lang="en-US" sz="1000" b="1" dirty="0">
                <a:solidFill>
                  <a:schemeClr val="bg1"/>
                </a:solidFill>
                <a:latin typeface="Calibri" panose="020F0502020204030204" pitchFamily="34" charset="0"/>
                <a:ea typeface="Calibri" panose="020F0502020204030204" pitchFamily="34" charset="0"/>
                <a:cs typeface="Calibri" panose="020F0502020204030204" pitchFamily="34" charset="0"/>
              </a:rPr>
              <a:t>Negative Effects (decrease engagement)</a:t>
            </a:r>
          </a:p>
          <a:p>
            <a:pPr marL="171450" indent="-171450">
              <a:buClr>
                <a:schemeClr val="bg1"/>
              </a:buClr>
              <a:buFont typeface="Arial" panose="020B0604020202020204" pitchFamily="34" charset="0"/>
              <a:buChar char="•"/>
            </a:pP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Mentions → may reduce reach </a:t>
            </a:r>
          </a:p>
          <a:p>
            <a:pPr marL="171450" indent="-171450">
              <a:buClr>
                <a:schemeClr val="bg1"/>
              </a:buClr>
              <a:buFont typeface="Arial" panose="020B0604020202020204" pitchFamily="34" charset="0"/>
              <a:buChar char="•"/>
            </a:pP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Some topics → lower engagement </a:t>
            </a:r>
          </a:p>
          <a:p>
            <a:pPr marL="171450" indent="-171450">
              <a:buClr>
                <a:schemeClr val="bg1"/>
              </a:buClr>
              <a:buFont typeface="Arial" panose="020B0604020202020204" pitchFamily="34" charset="0"/>
              <a:buChar char="•"/>
            </a:pP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Certain emotions (e.g., disgust, anger) → slight negative effect </a:t>
            </a:r>
          </a:p>
        </p:txBody>
      </p:sp>
      <p:sp>
        <p:nvSpPr>
          <p:cNvPr id="5" name="TextBox 4">
            <a:extLst>
              <a:ext uri="{FF2B5EF4-FFF2-40B4-BE49-F238E27FC236}">
                <a16:creationId xmlns:a16="http://schemas.microsoft.com/office/drawing/2014/main" id="{97B4427F-CBCD-6581-0229-F6F2CB0FBD3E}"/>
              </a:ext>
            </a:extLst>
          </p:cNvPr>
          <p:cNvSpPr txBox="1"/>
          <p:nvPr/>
        </p:nvSpPr>
        <p:spPr>
          <a:xfrm>
            <a:off x="4691130" y="3398653"/>
            <a:ext cx="4578438" cy="553998"/>
          </a:xfrm>
          <a:prstGeom prst="rect">
            <a:avLst/>
          </a:prstGeom>
          <a:noFill/>
        </p:spPr>
        <p:txBody>
          <a:bodyPr wrap="square">
            <a:spAutoFit/>
          </a:bodyPr>
          <a:lstStyle/>
          <a:p>
            <a:pPr>
              <a:buClr>
                <a:schemeClr val="bg1"/>
              </a:buClr>
            </a:pPr>
            <a:r>
              <a:rPr lang="en-US" sz="1000" b="1" dirty="0">
                <a:solidFill>
                  <a:schemeClr val="bg1"/>
                </a:solidFill>
                <a:latin typeface="Calibri" panose="020F0502020204030204" pitchFamily="34" charset="0"/>
                <a:ea typeface="Calibri" panose="020F0502020204030204" pitchFamily="34" charset="0"/>
                <a:cs typeface="Calibri" panose="020F0502020204030204" pitchFamily="34" charset="0"/>
              </a:rPr>
              <a:t>Interpretation</a:t>
            </a:r>
          </a:p>
          <a:p>
            <a:pPr marL="171450" indent="-171450">
              <a:buClr>
                <a:schemeClr val="bg1"/>
              </a:buClr>
              <a:buFont typeface="Arial" panose="020B0604020202020204" pitchFamily="34" charset="0"/>
              <a:buChar char="•"/>
            </a:pP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Engagement depends more on </a:t>
            </a:r>
            <a:r>
              <a:rPr lang="en-US" sz="1000" b="1" dirty="0">
                <a:solidFill>
                  <a:schemeClr val="bg1"/>
                </a:solidFill>
                <a:latin typeface="Calibri" panose="020F0502020204030204" pitchFamily="34" charset="0"/>
                <a:ea typeface="Calibri" panose="020F0502020204030204" pitchFamily="34" charset="0"/>
                <a:cs typeface="Calibri" panose="020F0502020204030204" pitchFamily="34" charset="0"/>
              </a:rPr>
              <a:t>tweet structure (hashtags, links)</a:t>
            </a: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 </a:t>
            </a:r>
          </a:p>
          <a:p>
            <a:pPr marL="171450" indent="-171450">
              <a:buClr>
                <a:schemeClr val="bg1"/>
              </a:buClr>
              <a:buFont typeface="Arial" panose="020B0604020202020204" pitchFamily="34" charset="0"/>
              <a:buChar char="•"/>
            </a:pP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Content meaning has </a:t>
            </a:r>
            <a:r>
              <a:rPr lang="en-US" sz="1000" b="1" dirty="0">
                <a:solidFill>
                  <a:schemeClr val="bg1"/>
                </a:solidFill>
                <a:latin typeface="Calibri" panose="020F0502020204030204" pitchFamily="34" charset="0"/>
                <a:ea typeface="Calibri" panose="020F0502020204030204" pitchFamily="34" charset="0"/>
                <a:cs typeface="Calibri" panose="020F0502020204030204" pitchFamily="34" charset="0"/>
              </a:rPr>
              <a:t>mixed and weak effects</a:t>
            </a:r>
            <a:endPar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741"/>
        <p:cNvGrpSpPr/>
        <p:nvPr/>
      </p:nvGrpSpPr>
      <p:grpSpPr>
        <a:xfrm>
          <a:off x="0" y="0"/>
          <a:ext cx="0" cy="0"/>
          <a:chOff x="0" y="0"/>
          <a:chExt cx="0" cy="0"/>
        </a:xfrm>
      </p:grpSpPr>
      <p:sp>
        <p:nvSpPr>
          <p:cNvPr id="742" name="Google Shape;742;p35"/>
          <p:cNvSpPr/>
          <p:nvPr/>
        </p:nvSpPr>
        <p:spPr>
          <a:xfrm>
            <a:off x="5943600" y="-731520"/>
            <a:ext cx="4572000" cy="4572000"/>
          </a:xfrm>
          <a:prstGeom prst="ellipse">
            <a:avLst/>
          </a:prstGeom>
          <a:solidFill>
            <a:srgbClr val="9B59B6">
              <a:alpha val="12156"/>
            </a:srgbClr>
          </a:solidFill>
          <a:ln w="12700" cap="flat" cmpd="sng">
            <a:solidFill>
              <a:srgbClr val="9B59B6">
                <a:alpha val="12156"/>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5"/>
          <p:cNvSpPr/>
          <p:nvPr/>
        </p:nvSpPr>
        <p:spPr>
          <a:xfrm>
            <a:off x="-914400" y="1828800"/>
            <a:ext cx="3200400" cy="3200400"/>
          </a:xfrm>
          <a:prstGeom prst="ellipse">
            <a:avLst/>
          </a:prstGeom>
          <a:solidFill>
            <a:srgbClr val="00C2D4">
              <a:alpha val="7843"/>
            </a:srgbClr>
          </a:solidFill>
          <a:ln w="12700" cap="flat" cmpd="sng">
            <a:solidFill>
              <a:srgbClr val="00C2D4">
                <a:alpha val="784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35"/>
          <p:cNvSpPr/>
          <p:nvPr/>
        </p:nvSpPr>
        <p:spPr>
          <a:xfrm>
            <a:off x="548640" y="1645920"/>
            <a:ext cx="91440" cy="1828800"/>
          </a:xfrm>
          <a:prstGeom prst="rect">
            <a:avLst/>
          </a:prstGeom>
          <a:solidFill>
            <a:srgbClr val="9B59B6"/>
          </a:solidFill>
          <a:ln w="12700" cap="flat" cmpd="sng">
            <a:solidFill>
              <a:srgbClr val="9B59B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5"/>
          <p:cNvSpPr/>
          <p:nvPr/>
        </p:nvSpPr>
        <p:spPr>
          <a:xfrm>
            <a:off x="777240" y="1554480"/>
            <a:ext cx="2743200" cy="5029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9B59B6"/>
              </a:buClr>
              <a:buSzPts val="1300"/>
              <a:buFont typeface="Calibri"/>
              <a:buNone/>
            </a:pPr>
            <a:r>
              <a:rPr lang="en-US" sz="1300" b="1" i="0" u="none" strike="noStrike" cap="none">
                <a:solidFill>
                  <a:srgbClr val="9B59B6"/>
                </a:solidFill>
                <a:latin typeface="Calibri"/>
                <a:ea typeface="Calibri"/>
                <a:cs typeface="Calibri"/>
                <a:sym typeface="Calibri"/>
              </a:rPr>
              <a:t>SECTION 3.5</a:t>
            </a:r>
            <a:endParaRPr sz="1300" b="0" i="0" u="none" strike="noStrike" cap="none">
              <a:solidFill>
                <a:schemeClr val="dk1"/>
              </a:solidFill>
              <a:latin typeface="Calibri"/>
              <a:ea typeface="Calibri"/>
              <a:cs typeface="Calibri"/>
              <a:sym typeface="Calibri"/>
            </a:endParaRPr>
          </a:p>
        </p:txBody>
      </p:sp>
      <p:sp>
        <p:nvSpPr>
          <p:cNvPr id="746" name="Google Shape;746;p35"/>
          <p:cNvSpPr/>
          <p:nvPr/>
        </p:nvSpPr>
        <p:spPr>
          <a:xfrm>
            <a:off x="777240" y="2011680"/>
            <a:ext cx="6858000" cy="10972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4000"/>
              <a:buFont typeface="Calibri"/>
              <a:buNone/>
            </a:pPr>
            <a:r>
              <a:rPr lang="en-US" sz="4000" b="1" i="0" u="none" strike="noStrike" cap="none">
                <a:solidFill>
                  <a:srgbClr val="FFFFFF"/>
                </a:solidFill>
                <a:latin typeface="Calibri"/>
                <a:ea typeface="Calibri"/>
                <a:cs typeface="Calibri"/>
                <a:sym typeface="Calibri"/>
              </a:rPr>
              <a:t>NOVEL INSIGHTS &amp; TEMPORAL ANALYSIS</a:t>
            </a:r>
            <a:endParaRPr sz="4000" b="0" i="0" u="none" strike="noStrike" cap="non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751"/>
        <p:cNvGrpSpPr/>
        <p:nvPr/>
      </p:nvGrpSpPr>
      <p:grpSpPr>
        <a:xfrm>
          <a:off x="0" y="0"/>
          <a:ext cx="0" cy="0"/>
          <a:chOff x="0" y="0"/>
          <a:chExt cx="0" cy="0"/>
        </a:xfrm>
      </p:grpSpPr>
      <p:sp>
        <p:nvSpPr>
          <p:cNvPr id="752" name="Google Shape;752;p36"/>
          <p:cNvSpPr/>
          <p:nvPr/>
        </p:nvSpPr>
        <p:spPr>
          <a:xfrm>
            <a:off x="0" y="0"/>
            <a:ext cx="9144000" cy="621792"/>
          </a:xfrm>
          <a:prstGeom prst="rect">
            <a:avLst/>
          </a:prstGeom>
          <a:solidFill>
            <a:srgbClr val="112236"/>
          </a:solidFill>
          <a:ln w="12700" cap="flat" cmpd="sng">
            <a:solidFill>
              <a:srgbClr val="1122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6"/>
          <p:cNvSpPr/>
          <p:nvPr/>
        </p:nvSpPr>
        <p:spPr>
          <a:xfrm>
            <a:off x="0" y="0"/>
            <a:ext cx="128016" cy="621792"/>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6"/>
          <p:cNvSpPr/>
          <p:nvPr/>
        </p:nvSpPr>
        <p:spPr>
          <a:xfrm>
            <a:off x="219456" y="0"/>
            <a:ext cx="877824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3.5  NOVEL INSIGHT — Emotion–Engagement Correlation Heatmap</a:t>
            </a:r>
            <a:endParaRPr sz="2000" b="0" i="0" u="none" strike="noStrike" cap="none">
              <a:solidFill>
                <a:schemeClr val="dk1"/>
              </a:solidFill>
              <a:latin typeface="Calibri"/>
              <a:ea typeface="Calibri"/>
              <a:cs typeface="Calibri"/>
              <a:sym typeface="Calibri"/>
            </a:endParaRPr>
          </a:p>
        </p:txBody>
      </p:sp>
      <p:sp>
        <p:nvSpPr>
          <p:cNvPr id="755" name="Google Shape;755;p36"/>
          <p:cNvSpPr/>
          <p:nvPr/>
        </p:nvSpPr>
        <p:spPr>
          <a:xfrm>
            <a:off x="256032" y="749808"/>
            <a:ext cx="5303520" cy="4251960"/>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6"/>
          <p:cNvSpPr/>
          <p:nvPr/>
        </p:nvSpPr>
        <p:spPr>
          <a:xfrm>
            <a:off x="402336" y="822960"/>
            <a:ext cx="5010912"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A623"/>
              </a:buClr>
              <a:buSzPts val="1200"/>
              <a:buFont typeface="Calibri"/>
              <a:buNone/>
            </a:pPr>
            <a:r>
              <a:rPr lang="en-US" sz="1200" b="1" i="0" u="none" strike="noStrike" cap="none">
                <a:solidFill>
                  <a:srgbClr val="F5A623"/>
                </a:solidFill>
                <a:latin typeface="Calibri"/>
                <a:ea typeface="Calibri"/>
                <a:cs typeface="Calibri"/>
                <a:sym typeface="Calibri"/>
              </a:rPr>
              <a:t>Correlation Matrix: Emotions + Sentiment + Engagement</a:t>
            </a:r>
            <a:endParaRPr sz="1200" b="0" i="0" u="none" strike="noStrike" cap="none">
              <a:solidFill>
                <a:schemeClr val="dk1"/>
              </a:solidFill>
              <a:latin typeface="Calibri"/>
              <a:ea typeface="Calibri"/>
              <a:cs typeface="Calibri"/>
              <a:sym typeface="Calibri"/>
            </a:endParaRPr>
          </a:p>
        </p:txBody>
      </p:sp>
      <p:sp>
        <p:nvSpPr>
          <p:cNvPr id="757" name="Google Shape;757;p36"/>
          <p:cNvSpPr/>
          <p:nvPr/>
        </p:nvSpPr>
        <p:spPr>
          <a:xfrm>
            <a:off x="5742432" y="749808"/>
            <a:ext cx="3127248" cy="4251960"/>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6"/>
          <p:cNvSpPr/>
          <p:nvPr/>
        </p:nvSpPr>
        <p:spPr>
          <a:xfrm>
            <a:off x="5888736" y="822960"/>
            <a:ext cx="2834640"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A623"/>
              </a:buClr>
              <a:buSzPts val="1200"/>
              <a:buFont typeface="Calibri"/>
              <a:buNone/>
            </a:pPr>
            <a:r>
              <a:rPr lang="en-US" sz="1200" b="1" i="0" u="none" strike="noStrike" cap="none">
                <a:solidFill>
                  <a:srgbClr val="F5A623"/>
                </a:solidFill>
                <a:latin typeface="Calibri"/>
                <a:ea typeface="Calibri"/>
                <a:cs typeface="Calibri"/>
                <a:sym typeface="Calibri"/>
              </a:rPr>
              <a:t>Key Correlations</a:t>
            </a:r>
            <a:endParaRPr sz="1200" b="0" i="0" u="none" strike="noStrike" cap="none">
              <a:solidFill>
                <a:schemeClr val="dk1"/>
              </a:solidFill>
              <a:latin typeface="Calibri"/>
              <a:ea typeface="Calibri"/>
              <a:cs typeface="Calibri"/>
              <a:sym typeface="Calibri"/>
            </a:endParaRPr>
          </a:p>
        </p:txBody>
      </p:sp>
      <p:sp>
        <p:nvSpPr>
          <p:cNvPr id="759" name="Google Shape;759;p36"/>
          <p:cNvSpPr/>
          <p:nvPr/>
        </p:nvSpPr>
        <p:spPr>
          <a:xfrm>
            <a:off x="5888736" y="1207008"/>
            <a:ext cx="2834640" cy="585216"/>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6"/>
          <p:cNvSpPr/>
          <p:nvPr/>
        </p:nvSpPr>
        <p:spPr>
          <a:xfrm>
            <a:off x="5888736" y="1207008"/>
            <a:ext cx="2834640" cy="50292"/>
          </a:xfrm>
          <a:prstGeom prst="rect">
            <a:avLst/>
          </a:prstGeom>
          <a:solidFill>
            <a:srgbClr val="E8445A"/>
          </a:solidFill>
          <a:ln w="12700" cap="flat" cmpd="sng">
            <a:solidFill>
              <a:srgbClr val="E8445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6"/>
          <p:cNvSpPr/>
          <p:nvPr/>
        </p:nvSpPr>
        <p:spPr>
          <a:xfrm>
            <a:off x="6016752" y="1280160"/>
            <a:ext cx="2578608" cy="23774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RT ↔ Fav = r = 0.92</a:t>
            </a:r>
            <a:endParaRPr sz="1000" b="0" i="0" u="none" strike="noStrike" cap="none">
              <a:solidFill>
                <a:schemeClr val="dk1"/>
              </a:solidFill>
              <a:latin typeface="Calibri"/>
              <a:ea typeface="Calibri"/>
              <a:cs typeface="Calibri"/>
              <a:sym typeface="Calibri"/>
            </a:endParaRPr>
          </a:p>
        </p:txBody>
      </p:sp>
      <p:sp>
        <p:nvSpPr>
          <p:cNvPr id="762" name="Google Shape;762;p36"/>
          <p:cNvSpPr/>
          <p:nvPr/>
        </p:nvSpPr>
        <p:spPr>
          <a:xfrm>
            <a:off x="6016752" y="1536192"/>
            <a:ext cx="2578608" cy="20116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90AA"/>
              </a:buClr>
              <a:buSzPts val="900"/>
              <a:buFont typeface="Calibri"/>
              <a:buNone/>
            </a:pPr>
            <a:r>
              <a:rPr lang="en-US" sz="900" b="0" i="0" u="none" strike="noStrike" cap="none">
                <a:solidFill>
                  <a:srgbClr val="6B90AA"/>
                </a:solidFill>
                <a:latin typeface="Calibri"/>
                <a:ea typeface="Calibri"/>
                <a:cs typeface="Calibri"/>
                <a:sym typeface="Calibri"/>
              </a:rPr>
              <a:t>Near-perfect correlation — same popular tweets get both</a:t>
            </a:r>
            <a:endParaRPr sz="900" b="0" i="0" u="none" strike="noStrike" cap="none">
              <a:solidFill>
                <a:schemeClr val="dk1"/>
              </a:solidFill>
              <a:latin typeface="Calibri"/>
              <a:ea typeface="Calibri"/>
              <a:cs typeface="Calibri"/>
              <a:sym typeface="Calibri"/>
            </a:endParaRPr>
          </a:p>
        </p:txBody>
      </p:sp>
      <p:sp>
        <p:nvSpPr>
          <p:cNvPr id="763" name="Google Shape;763;p36"/>
          <p:cNvSpPr/>
          <p:nvPr/>
        </p:nvSpPr>
        <p:spPr>
          <a:xfrm>
            <a:off x="5888736" y="1865376"/>
            <a:ext cx="2834640" cy="585216"/>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6"/>
          <p:cNvSpPr/>
          <p:nvPr/>
        </p:nvSpPr>
        <p:spPr>
          <a:xfrm>
            <a:off x="5888736" y="1865376"/>
            <a:ext cx="2834640" cy="50292"/>
          </a:xfrm>
          <a:prstGeom prst="rect">
            <a:avLst/>
          </a:prstGeom>
          <a:solidFill>
            <a:srgbClr val="E8445A"/>
          </a:solidFill>
          <a:ln w="12700" cap="flat" cmpd="sng">
            <a:solidFill>
              <a:srgbClr val="E8445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6"/>
          <p:cNvSpPr/>
          <p:nvPr/>
        </p:nvSpPr>
        <p:spPr>
          <a:xfrm>
            <a:off x="6016752" y="1938528"/>
            <a:ext cx="2578608" cy="23774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Emotions ↔ RT = r ≈ 0.01–0.03</a:t>
            </a:r>
            <a:endParaRPr sz="1000" b="0" i="0" u="none" strike="noStrike" cap="none">
              <a:solidFill>
                <a:schemeClr val="dk1"/>
              </a:solidFill>
              <a:latin typeface="Calibri"/>
              <a:ea typeface="Calibri"/>
              <a:cs typeface="Calibri"/>
              <a:sym typeface="Calibri"/>
            </a:endParaRPr>
          </a:p>
        </p:txBody>
      </p:sp>
      <p:sp>
        <p:nvSpPr>
          <p:cNvPr id="766" name="Google Shape;766;p36"/>
          <p:cNvSpPr/>
          <p:nvPr/>
        </p:nvSpPr>
        <p:spPr>
          <a:xfrm>
            <a:off x="6016752" y="2194560"/>
            <a:ext cx="2578608" cy="20116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90AA"/>
              </a:buClr>
              <a:buSzPts val="900"/>
              <a:buFont typeface="Calibri"/>
              <a:buNone/>
            </a:pPr>
            <a:r>
              <a:rPr lang="en-US" sz="900" b="0" i="0" u="none" strike="noStrike" cap="none" dirty="0">
                <a:solidFill>
                  <a:srgbClr val="6B90AA"/>
                </a:solidFill>
                <a:latin typeface="Calibri"/>
                <a:ea typeface="Calibri"/>
                <a:cs typeface="Calibri"/>
                <a:sym typeface="Calibri"/>
              </a:rPr>
              <a:t>Effectively zero — emotions do not drive retweets</a:t>
            </a:r>
            <a:endParaRPr sz="900" b="0" i="0" u="none" strike="noStrike" cap="none" dirty="0">
              <a:solidFill>
                <a:schemeClr val="dk1"/>
              </a:solidFill>
              <a:latin typeface="Calibri"/>
              <a:ea typeface="Calibri"/>
              <a:cs typeface="Calibri"/>
              <a:sym typeface="Calibri"/>
            </a:endParaRPr>
          </a:p>
        </p:txBody>
      </p:sp>
      <p:sp>
        <p:nvSpPr>
          <p:cNvPr id="767" name="Google Shape;767;p36"/>
          <p:cNvSpPr/>
          <p:nvPr/>
        </p:nvSpPr>
        <p:spPr>
          <a:xfrm>
            <a:off x="5888736" y="2523744"/>
            <a:ext cx="2834640" cy="585216"/>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6"/>
          <p:cNvSpPr/>
          <p:nvPr/>
        </p:nvSpPr>
        <p:spPr>
          <a:xfrm>
            <a:off x="5888736" y="2523744"/>
            <a:ext cx="2834640" cy="50292"/>
          </a:xfrm>
          <a:prstGeom prst="rect">
            <a:avLst/>
          </a:prstGeom>
          <a:solidFill>
            <a:srgbClr val="E8445A"/>
          </a:solidFill>
          <a:ln w="12700" cap="flat" cmpd="sng">
            <a:solidFill>
              <a:srgbClr val="E8445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6"/>
          <p:cNvSpPr/>
          <p:nvPr/>
        </p:nvSpPr>
        <p:spPr>
          <a:xfrm>
            <a:off x="6016752" y="2596896"/>
            <a:ext cx="2578608" cy="23774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Sentiment ↔ RT = r ≈ 0.00</a:t>
            </a:r>
            <a:endParaRPr sz="1000" b="0" i="0" u="none" strike="noStrike" cap="none">
              <a:solidFill>
                <a:schemeClr val="dk1"/>
              </a:solidFill>
              <a:latin typeface="Calibri"/>
              <a:ea typeface="Calibri"/>
              <a:cs typeface="Calibri"/>
              <a:sym typeface="Calibri"/>
            </a:endParaRPr>
          </a:p>
        </p:txBody>
      </p:sp>
      <p:sp>
        <p:nvSpPr>
          <p:cNvPr id="770" name="Google Shape;770;p36"/>
          <p:cNvSpPr/>
          <p:nvPr/>
        </p:nvSpPr>
        <p:spPr>
          <a:xfrm>
            <a:off x="6016752" y="2852928"/>
            <a:ext cx="2578608" cy="20116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90AA"/>
              </a:buClr>
              <a:buSzPts val="900"/>
              <a:buFont typeface="Calibri"/>
              <a:buNone/>
            </a:pPr>
            <a:r>
              <a:rPr lang="en-US" sz="900" b="0" i="0" u="none" strike="noStrike" cap="none">
                <a:solidFill>
                  <a:srgbClr val="6B90AA"/>
                </a:solidFill>
                <a:latin typeface="Calibri"/>
                <a:ea typeface="Calibri"/>
                <a:cs typeface="Calibri"/>
                <a:sym typeface="Calibri"/>
              </a:rPr>
              <a:t>Sentiment polarity has no meaningful impact on virality</a:t>
            </a:r>
            <a:endParaRPr sz="900" b="0" i="0" u="none" strike="noStrike" cap="none">
              <a:solidFill>
                <a:schemeClr val="dk1"/>
              </a:solidFill>
              <a:latin typeface="Calibri"/>
              <a:ea typeface="Calibri"/>
              <a:cs typeface="Calibri"/>
              <a:sym typeface="Calibri"/>
            </a:endParaRPr>
          </a:p>
        </p:txBody>
      </p:sp>
      <p:sp>
        <p:nvSpPr>
          <p:cNvPr id="771" name="Google Shape;771;p36"/>
          <p:cNvSpPr/>
          <p:nvPr/>
        </p:nvSpPr>
        <p:spPr>
          <a:xfrm>
            <a:off x="5888736" y="3182112"/>
            <a:ext cx="2834640" cy="585216"/>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6"/>
          <p:cNvSpPr/>
          <p:nvPr/>
        </p:nvSpPr>
        <p:spPr>
          <a:xfrm>
            <a:off x="5888736" y="3182112"/>
            <a:ext cx="2834640" cy="50292"/>
          </a:xfrm>
          <a:prstGeom prst="rect">
            <a:avLst/>
          </a:prstGeom>
          <a:solidFill>
            <a:srgbClr val="0077A8"/>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36"/>
          <p:cNvSpPr/>
          <p:nvPr/>
        </p:nvSpPr>
        <p:spPr>
          <a:xfrm>
            <a:off x="6016752" y="3255264"/>
            <a:ext cx="2578608" cy="23774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Anger ↔ Disgust = r = 0.62</a:t>
            </a:r>
            <a:endParaRPr sz="1000" b="0" i="0" u="none" strike="noStrike" cap="none">
              <a:solidFill>
                <a:schemeClr val="dk1"/>
              </a:solidFill>
              <a:latin typeface="Calibri"/>
              <a:ea typeface="Calibri"/>
              <a:cs typeface="Calibri"/>
              <a:sym typeface="Calibri"/>
            </a:endParaRPr>
          </a:p>
        </p:txBody>
      </p:sp>
      <p:sp>
        <p:nvSpPr>
          <p:cNvPr id="774" name="Google Shape;774;p36"/>
          <p:cNvSpPr/>
          <p:nvPr/>
        </p:nvSpPr>
        <p:spPr>
          <a:xfrm>
            <a:off x="6016752" y="3511296"/>
            <a:ext cx="2578608" cy="20116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90AA"/>
              </a:buClr>
              <a:buSzPts val="900"/>
              <a:buFont typeface="Calibri"/>
              <a:buNone/>
            </a:pPr>
            <a:r>
              <a:rPr lang="en-US" sz="900" b="0" i="0" u="none" strike="noStrike" cap="none">
                <a:solidFill>
                  <a:srgbClr val="6B90AA"/>
                </a:solidFill>
                <a:latin typeface="Calibri"/>
                <a:ea typeface="Calibri"/>
                <a:cs typeface="Calibri"/>
                <a:sym typeface="Calibri"/>
              </a:rPr>
              <a:t>Strong co-occurrence — critical/hostile language</a:t>
            </a:r>
            <a:endParaRPr sz="900" b="0" i="0" u="none" strike="noStrike" cap="none">
              <a:solidFill>
                <a:schemeClr val="dk1"/>
              </a:solidFill>
              <a:latin typeface="Calibri"/>
              <a:ea typeface="Calibri"/>
              <a:cs typeface="Calibri"/>
              <a:sym typeface="Calibri"/>
            </a:endParaRPr>
          </a:p>
        </p:txBody>
      </p:sp>
      <p:sp>
        <p:nvSpPr>
          <p:cNvPr id="775" name="Google Shape;775;p36"/>
          <p:cNvSpPr/>
          <p:nvPr/>
        </p:nvSpPr>
        <p:spPr>
          <a:xfrm>
            <a:off x="5888736" y="3840480"/>
            <a:ext cx="2834640" cy="585216"/>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6"/>
          <p:cNvSpPr/>
          <p:nvPr/>
        </p:nvSpPr>
        <p:spPr>
          <a:xfrm>
            <a:off x="5888736" y="3840480"/>
            <a:ext cx="2834640" cy="50292"/>
          </a:xfrm>
          <a:prstGeom prst="rect">
            <a:avLst/>
          </a:prstGeom>
          <a:solidFill>
            <a:srgbClr val="0077A8"/>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6"/>
          <p:cNvSpPr/>
          <p:nvPr/>
        </p:nvSpPr>
        <p:spPr>
          <a:xfrm>
            <a:off x="6016752" y="3913632"/>
            <a:ext cx="2578608" cy="23774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Joy ↔ Trust = r = 0.55</a:t>
            </a:r>
            <a:endParaRPr sz="1000" b="0" i="0" u="none" strike="noStrike" cap="none">
              <a:solidFill>
                <a:schemeClr val="dk1"/>
              </a:solidFill>
              <a:latin typeface="Calibri"/>
              <a:ea typeface="Calibri"/>
              <a:cs typeface="Calibri"/>
              <a:sym typeface="Calibri"/>
            </a:endParaRPr>
          </a:p>
        </p:txBody>
      </p:sp>
      <p:sp>
        <p:nvSpPr>
          <p:cNvPr id="778" name="Google Shape;778;p36"/>
          <p:cNvSpPr/>
          <p:nvPr/>
        </p:nvSpPr>
        <p:spPr>
          <a:xfrm>
            <a:off x="6016752" y="4169664"/>
            <a:ext cx="2578608" cy="20116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90AA"/>
              </a:buClr>
              <a:buSzPts val="900"/>
              <a:buFont typeface="Calibri"/>
              <a:buNone/>
            </a:pPr>
            <a:r>
              <a:rPr lang="en-US" sz="900" b="0" i="0" u="none" strike="noStrike" cap="none">
                <a:solidFill>
                  <a:srgbClr val="6B90AA"/>
                </a:solidFill>
                <a:latin typeface="Calibri"/>
                <a:ea typeface="Calibri"/>
                <a:cs typeface="Calibri"/>
                <a:sym typeface="Calibri"/>
              </a:rPr>
              <a:t>Positive emotional clusters align</a:t>
            </a:r>
            <a:endParaRPr sz="900" b="0" i="0" u="none" strike="noStrike" cap="none">
              <a:solidFill>
                <a:schemeClr val="dk1"/>
              </a:solidFill>
              <a:latin typeface="Calibri"/>
              <a:ea typeface="Calibri"/>
              <a:cs typeface="Calibri"/>
              <a:sym typeface="Calibri"/>
            </a:endParaRPr>
          </a:p>
        </p:txBody>
      </p:sp>
      <p:sp>
        <p:nvSpPr>
          <p:cNvPr id="779" name="Google Shape;779;p36"/>
          <p:cNvSpPr/>
          <p:nvPr/>
        </p:nvSpPr>
        <p:spPr>
          <a:xfrm>
            <a:off x="5888736" y="4498848"/>
            <a:ext cx="2834640" cy="585216"/>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6"/>
          <p:cNvSpPr/>
          <p:nvPr/>
        </p:nvSpPr>
        <p:spPr>
          <a:xfrm>
            <a:off x="5888736" y="4498848"/>
            <a:ext cx="2834640" cy="50292"/>
          </a:xfrm>
          <a:prstGeom prst="rect">
            <a:avLst/>
          </a:prstGeom>
          <a:solidFill>
            <a:srgbClr val="0077A8"/>
          </a:solidFill>
          <a:ln w="12700" cap="flat" cmpd="sng">
            <a:solidFill>
              <a:srgbClr val="0077A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6"/>
          <p:cNvSpPr/>
          <p:nvPr/>
        </p:nvSpPr>
        <p:spPr>
          <a:xfrm>
            <a:off x="6016752" y="4572000"/>
            <a:ext cx="2578608" cy="237744"/>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1000"/>
              <a:buFont typeface="Calibri"/>
              <a:buNone/>
            </a:pPr>
            <a:r>
              <a:rPr lang="en-US" sz="1000" b="1" i="0" u="none" strike="noStrike" cap="none">
                <a:solidFill>
                  <a:srgbClr val="FFFFFF"/>
                </a:solidFill>
                <a:latin typeface="Calibri"/>
                <a:ea typeface="Calibri"/>
                <a:cs typeface="Calibri"/>
                <a:sym typeface="Calibri"/>
              </a:rPr>
              <a:t>Fear ↔ Sadness = r = 0.52</a:t>
            </a:r>
            <a:endParaRPr sz="1000" b="0" i="0" u="none" strike="noStrike" cap="none">
              <a:solidFill>
                <a:schemeClr val="dk1"/>
              </a:solidFill>
              <a:latin typeface="Calibri"/>
              <a:ea typeface="Calibri"/>
              <a:cs typeface="Calibri"/>
              <a:sym typeface="Calibri"/>
            </a:endParaRPr>
          </a:p>
        </p:txBody>
      </p:sp>
      <p:sp>
        <p:nvSpPr>
          <p:cNvPr id="782" name="Google Shape;782;p36"/>
          <p:cNvSpPr/>
          <p:nvPr/>
        </p:nvSpPr>
        <p:spPr>
          <a:xfrm>
            <a:off x="6016752" y="4828032"/>
            <a:ext cx="2578608" cy="20116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6B90AA"/>
              </a:buClr>
              <a:buSzPts val="900"/>
              <a:buFont typeface="Calibri"/>
              <a:buNone/>
            </a:pPr>
            <a:r>
              <a:rPr lang="en-US" sz="900" b="0" i="0" u="none" strike="noStrike" cap="none">
                <a:solidFill>
                  <a:srgbClr val="6B90AA"/>
                </a:solidFill>
                <a:latin typeface="Calibri"/>
                <a:ea typeface="Calibri"/>
                <a:cs typeface="Calibri"/>
                <a:sym typeface="Calibri"/>
              </a:rPr>
              <a:t>Negative emotions cluster together</a:t>
            </a:r>
            <a:endParaRPr sz="900" b="0" i="0" u="none" strike="noStrike" cap="none">
              <a:solidFill>
                <a:schemeClr val="dk1"/>
              </a:solidFill>
              <a:latin typeface="Calibri"/>
              <a:ea typeface="Calibri"/>
              <a:cs typeface="Calibri"/>
              <a:sym typeface="Calibri"/>
            </a:endParaRPr>
          </a:p>
        </p:txBody>
      </p:sp>
      <p:pic>
        <p:nvPicPr>
          <p:cNvPr id="783" name="Google Shape;783;p36"/>
          <p:cNvPicPr preferRelativeResize="0"/>
          <p:nvPr/>
        </p:nvPicPr>
        <p:blipFill>
          <a:blip r:embed="rId3">
            <a:alphaModFix/>
          </a:blip>
          <a:stretch>
            <a:fillRect/>
          </a:stretch>
        </p:blipFill>
        <p:spPr>
          <a:xfrm>
            <a:off x="469524" y="1115587"/>
            <a:ext cx="4876538" cy="376619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788"/>
        <p:cNvGrpSpPr/>
        <p:nvPr/>
      </p:nvGrpSpPr>
      <p:grpSpPr>
        <a:xfrm>
          <a:off x="0" y="0"/>
          <a:ext cx="0" cy="0"/>
          <a:chOff x="0" y="0"/>
          <a:chExt cx="0" cy="0"/>
        </a:xfrm>
      </p:grpSpPr>
      <p:sp>
        <p:nvSpPr>
          <p:cNvPr id="789" name="Google Shape;789;p37"/>
          <p:cNvSpPr/>
          <p:nvPr/>
        </p:nvSpPr>
        <p:spPr>
          <a:xfrm>
            <a:off x="0" y="0"/>
            <a:ext cx="9144000" cy="621792"/>
          </a:xfrm>
          <a:prstGeom prst="rect">
            <a:avLst/>
          </a:prstGeom>
          <a:solidFill>
            <a:srgbClr val="112236"/>
          </a:solidFill>
          <a:ln w="12700" cap="flat" cmpd="sng">
            <a:solidFill>
              <a:srgbClr val="1122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37"/>
          <p:cNvSpPr/>
          <p:nvPr/>
        </p:nvSpPr>
        <p:spPr>
          <a:xfrm>
            <a:off x="0" y="0"/>
            <a:ext cx="128016" cy="621792"/>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37"/>
          <p:cNvSpPr/>
          <p:nvPr/>
        </p:nvSpPr>
        <p:spPr>
          <a:xfrm>
            <a:off x="219456" y="0"/>
            <a:ext cx="877824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3.5  NOVEL INSIGHT — Emotion Profile by LDA Topic</a:t>
            </a:r>
            <a:endParaRPr sz="2000" b="0" i="0" u="none" strike="noStrike" cap="none">
              <a:solidFill>
                <a:schemeClr val="dk1"/>
              </a:solidFill>
              <a:latin typeface="Calibri"/>
              <a:ea typeface="Calibri"/>
              <a:cs typeface="Calibri"/>
              <a:sym typeface="Calibri"/>
            </a:endParaRPr>
          </a:p>
        </p:txBody>
      </p:sp>
      <p:sp>
        <p:nvSpPr>
          <p:cNvPr id="792" name="Google Shape;792;p37"/>
          <p:cNvSpPr/>
          <p:nvPr/>
        </p:nvSpPr>
        <p:spPr>
          <a:xfrm>
            <a:off x="6217920" y="749808"/>
            <a:ext cx="2651760" cy="3200400"/>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7"/>
          <p:cNvSpPr/>
          <p:nvPr/>
        </p:nvSpPr>
        <p:spPr>
          <a:xfrm>
            <a:off x="6364224" y="822960"/>
            <a:ext cx="2377440" cy="29260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5A623"/>
              </a:buClr>
              <a:buSzPts val="1100"/>
              <a:buFont typeface="Calibri"/>
              <a:buNone/>
            </a:pPr>
            <a:r>
              <a:rPr lang="en-US" sz="1100" b="1" i="0" u="none" strike="noStrike" cap="none">
                <a:solidFill>
                  <a:srgbClr val="F5A623"/>
                </a:solidFill>
                <a:latin typeface="Calibri"/>
                <a:ea typeface="Calibri"/>
                <a:cs typeface="Calibri"/>
                <a:sym typeface="Calibri"/>
              </a:rPr>
              <a:t>Topic Emotion Insights</a:t>
            </a:r>
            <a:endParaRPr sz="1100" b="0" i="0" u="none" strike="noStrike" cap="none">
              <a:solidFill>
                <a:schemeClr val="dk1"/>
              </a:solidFill>
              <a:latin typeface="Calibri"/>
              <a:ea typeface="Calibri"/>
              <a:cs typeface="Calibri"/>
              <a:sym typeface="Calibri"/>
            </a:endParaRPr>
          </a:p>
        </p:txBody>
      </p:sp>
      <p:sp>
        <p:nvSpPr>
          <p:cNvPr id="794" name="Google Shape;794;p37"/>
          <p:cNvSpPr/>
          <p:nvPr/>
        </p:nvSpPr>
        <p:spPr>
          <a:xfrm>
            <a:off x="6364224" y="1188720"/>
            <a:ext cx="2377440" cy="265176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C8E0EF"/>
              </a:buClr>
              <a:buSzPts val="950"/>
              <a:buFont typeface="Calibri"/>
              <a:buChar char="•"/>
            </a:pPr>
            <a:r>
              <a:rPr lang="en-US" sz="950" b="0" i="0" u="none" strike="noStrike" cap="none">
                <a:solidFill>
                  <a:srgbClr val="C8E0EF"/>
                </a:solidFill>
                <a:latin typeface="Calibri"/>
                <a:ea typeface="Calibri"/>
                <a:cs typeface="Calibri"/>
                <a:sym typeface="Calibri"/>
              </a:rPr>
              <a:t>Topic 3 (Policy) highest anger &amp; fear — divisive policy debates</a:t>
            </a:r>
            <a:endParaRPr sz="95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C8E0EF"/>
              </a:buClr>
              <a:buSzPts val="950"/>
              <a:buFont typeface="Calibri"/>
              <a:buChar char="•"/>
            </a:pPr>
            <a:r>
              <a:rPr lang="en-US" sz="950" b="0" i="0" u="none" strike="noStrike" cap="none">
                <a:solidFill>
                  <a:srgbClr val="C8E0EF"/>
                </a:solidFill>
                <a:latin typeface="Calibri"/>
                <a:ea typeface="Calibri"/>
                <a:cs typeface="Calibri"/>
                <a:sym typeface="Calibri"/>
              </a:rPr>
              <a:t>Topic 0 (Culture) highest joy — community &amp; celebratory tone</a:t>
            </a:r>
            <a:endParaRPr sz="95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C8E0EF"/>
              </a:buClr>
              <a:buSzPts val="950"/>
              <a:buFont typeface="Calibri"/>
              <a:buChar char="•"/>
            </a:pPr>
            <a:r>
              <a:rPr lang="en-US" sz="950" b="0" i="0" u="none" strike="noStrike" cap="none">
                <a:solidFill>
                  <a:srgbClr val="C8E0EF"/>
                </a:solidFill>
                <a:latin typeface="Calibri"/>
                <a:ea typeface="Calibri"/>
                <a:cs typeface="Calibri"/>
                <a:sym typeface="Calibri"/>
              </a:rPr>
              <a:t>Topic 2 (Voting) highest anticipation — civic excitement</a:t>
            </a:r>
            <a:endParaRPr sz="95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C8E0EF"/>
              </a:buClr>
              <a:buSzPts val="950"/>
              <a:buFont typeface="Calibri"/>
              <a:buChar char="•"/>
            </a:pPr>
            <a:r>
              <a:rPr lang="en-US" sz="950" b="0" i="0" u="none" strike="noStrike" cap="none">
                <a:solidFill>
                  <a:srgbClr val="C8E0EF"/>
                </a:solidFill>
                <a:latin typeface="Calibri"/>
                <a:ea typeface="Calibri"/>
                <a:cs typeface="Calibri"/>
                <a:sym typeface="Calibri"/>
              </a:rPr>
              <a:t>Topic 1 (Leaders) highest fear relative to joy — personalised criticism</a:t>
            </a:r>
            <a:endParaRPr sz="950" b="0" i="0" u="none" strike="noStrike" cap="none">
              <a:solidFill>
                <a:schemeClr val="dk1"/>
              </a:solidFill>
              <a:latin typeface="Calibri"/>
              <a:ea typeface="Calibri"/>
              <a:cs typeface="Calibri"/>
              <a:sym typeface="Calibri"/>
            </a:endParaRPr>
          </a:p>
          <a:p>
            <a:pPr marL="342900" marR="0" lvl="0" indent="-342900" algn="l" rtl="0">
              <a:spcBef>
                <a:spcPts val="0"/>
              </a:spcBef>
              <a:spcAft>
                <a:spcPts val="0"/>
              </a:spcAft>
              <a:buClr>
                <a:srgbClr val="C8E0EF"/>
              </a:buClr>
              <a:buSzPts val="950"/>
              <a:buFont typeface="Calibri"/>
              <a:buChar char="•"/>
            </a:pPr>
            <a:r>
              <a:rPr lang="en-US" sz="950" b="0" i="0" u="none" strike="noStrike" cap="none">
                <a:solidFill>
                  <a:srgbClr val="C8E0EF"/>
                </a:solidFill>
                <a:latin typeface="Calibri"/>
                <a:ea typeface="Calibri"/>
                <a:cs typeface="Calibri"/>
                <a:sym typeface="Calibri"/>
              </a:rPr>
              <a:t>Trust highest in Topics 0 &amp; 2 — civic/community context</a:t>
            </a:r>
            <a:endParaRPr sz="950" b="0" i="0" u="none" strike="noStrike" cap="none">
              <a:solidFill>
                <a:schemeClr val="dk1"/>
              </a:solidFill>
              <a:latin typeface="Calibri"/>
              <a:ea typeface="Calibri"/>
              <a:cs typeface="Calibri"/>
              <a:sym typeface="Calibri"/>
            </a:endParaRPr>
          </a:p>
        </p:txBody>
      </p:sp>
      <p:sp>
        <p:nvSpPr>
          <p:cNvPr id="795" name="Google Shape;795;p37"/>
          <p:cNvSpPr/>
          <p:nvPr/>
        </p:nvSpPr>
        <p:spPr>
          <a:xfrm>
            <a:off x="256032" y="4078224"/>
            <a:ext cx="8631936" cy="932688"/>
          </a:xfrm>
          <a:prstGeom prst="rect">
            <a:avLst/>
          </a:prstGeom>
          <a:solidFill>
            <a:srgbClr val="192D44"/>
          </a:solidFill>
          <a:ln w="12700" cap="flat" cmpd="sng">
            <a:solidFill>
              <a:srgbClr val="163050"/>
            </a:solidFill>
            <a:prstDash val="solid"/>
            <a:round/>
            <a:headEnd type="none" w="sm" len="sm"/>
            <a:tailEnd type="none" w="sm" len="sm"/>
          </a:ln>
          <a:effectLst>
            <a:outerShdw blurRad="762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37"/>
          <p:cNvSpPr/>
          <p:nvPr/>
        </p:nvSpPr>
        <p:spPr>
          <a:xfrm>
            <a:off x="402336" y="4151376"/>
            <a:ext cx="8284464" cy="76809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C8E0EF"/>
              </a:buClr>
              <a:buSzPts val="1000"/>
              <a:buFont typeface="Calibri"/>
              <a:buNone/>
            </a:pPr>
            <a:r>
              <a:rPr lang="en-US" sz="1000" b="0" i="0" u="none" strike="noStrike" cap="none">
                <a:solidFill>
                  <a:srgbClr val="C8E0EF"/>
                </a:solidFill>
                <a:latin typeface="Calibri"/>
                <a:ea typeface="Calibri"/>
                <a:cs typeface="Calibri"/>
                <a:sym typeface="Calibri"/>
              </a:rPr>
              <a:t>Interpretation: Emotion profile varies meaningfully by topic — not just by overall election sentiment. Policy topics are more emotionally charged (angry &amp; fearful), while cultural topics (democracy sausage, voting participation) are more joyful and anticipatory. This nuance is lost in aggregate emotion analysis and represents a novel cross-cutting insight.</a:t>
            </a:r>
            <a:endParaRPr sz="1000" b="0" i="0" u="none" strike="noStrike" cap="none">
              <a:solidFill>
                <a:schemeClr val="dk1"/>
              </a:solidFill>
              <a:latin typeface="Calibri"/>
              <a:ea typeface="Calibri"/>
              <a:cs typeface="Calibri"/>
              <a:sym typeface="Calibri"/>
            </a:endParaRPr>
          </a:p>
        </p:txBody>
      </p:sp>
      <p:pic>
        <p:nvPicPr>
          <p:cNvPr id="797" name="Google Shape;797;p37"/>
          <p:cNvPicPr preferRelativeResize="0"/>
          <p:nvPr/>
        </p:nvPicPr>
        <p:blipFill>
          <a:blip r:embed="rId3">
            <a:alphaModFix/>
          </a:blip>
          <a:stretch>
            <a:fillRect/>
          </a:stretch>
        </p:blipFill>
        <p:spPr>
          <a:xfrm>
            <a:off x="152400" y="774201"/>
            <a:ext cx="5913125" cy="317600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802"/>
        <p:cNvGrpSpPr/>
        <p:nvPr/>
      </p:nvGrpSpPr>
      <p:grpSpPr>
        <a:xfrm>
          <a:off x="0" y="0"/>
          <a:ext cx="0" cy="0"/>
          <a:chOff x="0" y="0"/>
          <a:chExt cx="0" cy="0"/>
        </a:xfrm>
      </p:grpSpPr>
      <p:sp>
        <p:nvSpPr>
          <p:cNvPr id="803" name="Google Shape;803;p38"/>
          <p:cNvSpPr/>
          <p:nvPr/>
        </p:nvSpPr>
        <p:spPr>
          <a:xfrm>
            <a:off x="0" y="0"/>
            <a:ext cx="9144000" cy="621792"/>
          </a:xfrm>
          <a:prstGeom prst="rect">
            <a:avLst/>
          </a:prstGeom>
          <a:solidFill>
            <a:srgbClr val="112236"/>
          </a:solidFill>
          <a:ln w="12700" cap="flat" cmpd="sng">
            <a:solidFill>
              <a:srgbClr val="1122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8"/>
          <p:cNvSpPr/>
          <p:nvPr/>
        </p:nvSpPr>
        <p:spPr>
          <a:xfrm>
            <a:off x="0" y="0"/>
            <a:ext cx="128016" cy="621792"/>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8"/>
          <p:cNvSpPr/>
          <p:nvPr/>
        </p:nvSpPr>
        <p:spPr>
          <a:xfrm>
            <a:off x="219456" y="0"/>
            <a:ext cx="877824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3.5  TEMPORAL ANALYSIS — Pre / Election Day / Post-Election</a:t>
            </a:r>
            <a:endParaRPr sz="2000" b="0" i="0" u="none" strike="noStrike" cap="none">
              <a:solidFill>
                <a:schemeClr val="dk1"/>
              </a:solidFill>
              <a:latin typeface="Calibri"/>
              <a:ea typeface="Calibri"/>
              <a:cs typeface="Calibri"/>
              <a:sym typeface="Calibri"/>
            </a:endParaRPr>
          </a:p>
        </p:txBody>
      </p:sp>
      <p:pic>
        <p:nvPicPr>
          <p:cNvPr id="806" name="Google Shape;806;p38"/>
          <p:cNvPicPr preferRelativeResize="0"/>
          <p:nvPr/>
        </p:nvPicPr>
        <p:blipFill>
          <a:blip r:embed="rId3">
            <a:alphaModFix/>
          </a:blip>
          <a:stretch>
            <a:fillRect/>
          </a:stretch>
        </p:blipFill>
        <p:spPr>
          <a:xfrm>
            <a:off x="152400" y="774199"/>
            <a:ext cx="5058274" cy="3660474"/>
          </a:xfrm>
          <a:prstGeom prst="rect">
            <a:avLst/>
          </a:prstGeom>
          <a:noFill/>
          <a:ln>
            <a:noFill/>
          </a:ln>
        </p:spPr>
      </p:pic>
      <p:sp>
        <p:nvSpPr>
          <p:cNvPr id="807" name="Google Shape;807;p38"/>
          <p:cNvSpPr txBox="1"/>
          <p:nvPr/>
        </p:nvSpPr>
        <p:spPr>
          <a:xfrm>
            <a:off x="5210674" y="953077"/>
            <a:ext cx="3933300" cy="2339072"/>
          </a:xfrm>
          <a:prstGeom prst="rect">
            <a:avLst/>
          </a:prstGeom>
          <a:noFill/>
          <a:ln>
            <a:noFill/>
          </a:ln>
        </p:spPr>
        <p:txBody>
          <a:bodyPr spcFirstLastPara="1" wrap="square" lIns="91425" tIns="91425" rIns="91425" bIns="91425" anchor="t" anchorCtr="0">
            <a:spAutoFit/>
          </a:bodyPr>
          <a:lstStyle/>
          <a:p>
            <a:pPr marL="171450" lvl="0" indent="-171450" algn="l" rtl="0">
              <a:spcBef>
                <a:spcPts val="0"/>
              </a:spcBef>
              <a:spcAft>
                <a:spcPts val="0"/>
              </a:spcAft>
              <a:buClr>
                <a:schemeClr val="bg1"/>
              </a:buClr>
              <a:buFont typeface="Arial" panose="020B0604020202020204" pitchFamily="34" charset="0"/>
              <a:buChar char="•"/>
            </a:pPr>
            <a:r>
              <a:rPr lang="en-US" sz="1000" dirty="0">
                <a:solidFill>
                  <a:schemeClr val="lt1"/>
                </a:solidFill>
                <a:highlight>
                  <a:schemeClr val="dk1"/>
                </a:highlight>
              </a:rPr>
              <a:t>Tweet volume peaked sharply on May 18 (Election Day), reflecting the surge in civic engagement as polls opened. Volume dropped noticeably the following day, suggesting most discourse was concentrated in the act of voting itself rather than the aftermath.</a:t>
            </a:r>
            <a:endParaRPr sz="1000" dirty="0">
              <a:solidFill>
                <a:schemeClr val="lt1"/>
              </a:solidFill>
              <a:highlight>
                <a:schemeClr val="dk1"/>
              </a:highlight>
            </a:endParaRPr>
          </a:p>
          <a:p>
            <a:pPr marL="171450" lvl="0" indent="-171450" algn="l" rtl="0">
              <a:spcBef>
                <a:spcPts val="0"/>
              </a:spcBef>
              <a:spcAft>
                <a:spcPts val="0"/>
              </a:spcAft>
              <a:buClr>
                <a:schemeClr val="bg1"/>
              </a:buClr>
              <a:buFont typeface="Arial" panose="020B0604020202020204" pitchFamily="34" charset="0"/>
              <a:buChar char="•"/>
            </a:pPr>
            <a:endParaRPr sz="1000" dirty="0">
              <a:solidFill>
                <a:schemeClr val="lt1"/>
              </a:solidFill>
              <a:highlight>
                <a:schemeClr val="dk1"/>
              </a:highlight>
            </a:endParaRPr>
          </a:p>
          <a:p>
            <a:pPr marL="171450" lvl="0" indent="-171450" algn="l" rtl="0">
              <a:spcBef>
                <a:spcPts val="0"/>
              </a:spcBef>
              <a:spcAft>
                <a:spcPts val="0"/>
              </a:spcAft>
              <a:buClr>
                <a:schemeClr val="bg1"/>
              </a:buClr>
              <a:buFont typeface="Arial" panose="020B0604020202020204" pitchFamily="34" charset="0"/>
              <a:buChar char="•"/>
            </a:pPr>
            <a:r>
              <a:rPr lang="en-US" sz="1000" dirty="0">
                <a:solidFill>
                  <a:schemeClr val="lt1"/>
                </a:solidFill>
                <a:highlight>
                  <a:schemeClr val="dk1"/>
                </a:highlight>
              </a:rPr>
              <a:t>Sentiment trended slightly upward in the days leading to the election, consistent with rising anticipation and mobilization. A dip on Election Day itself likely reflects the mix of anxiety, uncertainty, and partisan conflict as results were awaited. </a:t>
            </a:r>
            <a:endParaRPr sz="1000" dirty="0">
              <a:solidFill>
                <a:schemeClr val="lt1"/>
              </a:solidFill>
              <a:highlight>
                <a:schemeClr val="dk1"/>
              </a:highlight>
            </a:endParaRPr>
          </a:p>
          <a:p>
            <a:pPr marL="171450" lvl="0" indent="-171450" algn="l" rtl="0">
              <a:spcBef>
                <a:spcPts val="0"/>
              </a:spcBef>
              <a:spcAft>
                <a:spcPts val="0"/>
              </a:spcAft>
              <a:buClr>
                <a:schemeClr val="bg1"/>
              </a:buClr>
              <a:buFont typeface="Arial" panose="020B0604020202020204" pitchFamily="34" charset="0"/>
              <a:buChar char="•"/>
            </a:pPr>
            <a:endParaRPr sz="1000" dirty="0">
              <a:solidFill>
                <a:schemeClr val="lt1"/>
              </a:solidFill>
              <a:highlight>
                <a:schemeClr val="dk1"/>
              </a:highlight>
            </a:endParaRPr>
          </a:p>
          <a:p>
            <a:pPr marL="171450" lvl="0" indent="-171450">
              <a:buClr>
                <a:schemeClr val="bg1"/>
              </a:buClr>
              <a:buFont typeface="Arial" panose="020B0604020202020204" pitchFamily="34" charset="0"/>
              <a:buChar char="•"/>
            </a:pPr>
            <a:r>
              <a:rPr lang="en-US" sz="1000" dirty="0">
                <a:solidFill>
                  <a:schemeClr val="lt1"/>
                </a:solidFill>
              </a:rPr>
              <a:t>Median popularity (retweets + favorites) spiked well before the Election Day, suggesting that the most viral content and opinion forming was concentrated before the elections.</a:t>
            </a:r>
            <a:endParaRPr sz="1000" dirty="0">
              <a:solidFill>
                <a:schemeClr val="lt1"/>
              </a:solidFill>
              <a:highlight>
                <a:schemeClr val="dk1"/>
              </a:highligh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812"/>
        <p:cNvGrpSpPr/>
        <p:nvPr/>
      </p:nvGrpSpPr>
      <p:grpSpPr>
        <a:xfrm>
          <a:off x="0" y="0"/>
          <a:ext cx="0" cy="0"/>
          <a:chOff x="0" y="0"/>
          <a:chExt cx="0" cy="0"/>
        </a:xfrm>
      </p:grpSpPr>
      <p:sp>
        <p:nvSpPr>
          <p:cNvPr id="813" name="Google Shape;813;p39"/>
          <p:cNvSpPr/>
          <p:nvPr/>
        </p:nvSpPr>
        <p:spPr>
          <a:xfrm>
            <a:off x="0" y="0"/>
            <a:ext cx="9144000" cy="621900"/>
          </a:xfrm>
          <a:prstGeom prst="rect">
            <a:avLst/>
          </a:prstGeom>
          <a:solidFill>
            <a:srgbClr val="112236"/>
          </a:solidFill>
          <a:ln w="12700" cap="flat" cmpd="sng">
            <a:solidFill>
              <a:srgbClr val="1122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39"/>
          <p:cNvSpPr/>
          <p:nvPr/>
        </p:nvSpPr>
        <p:spPr>
          <a:xfrm>
            <a:off x="0" y="0"/>
            <a:ext cx="128100" cy="621900"/>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39"/>
          <p:cNvSpPr/>
          <p:nvPr/>
        </p:nvSpPr>
        <p:spPr>
          <a:xfrm>
            <a:off x="219456" y="0"/>
            <a:ext cx="8778300" cy="621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3.5  TEMPORAL ANALYSIS — Pre / Election Day / Post-Election</a:t>
            </a:r>
            <a:endParaRPr sz="2000" b="0" i="0" u="none" strike="noStrike" cap="none">
              <a:solidFill>
                <a:schemeClr val="dk1"/>
              </a:solidFill>
              <a:latin typeface="Calibri"/>
              <a:ea typeface="Calibri"/>
              <a:cs typeface="Calibri"/>
              <a:sym typeface="Calibri"/>
            </a:endParaRPr>
          </a:p>
        </p:txBody>
      </p:sp>
      <p:pic>
        <p:nvPicPr>
          <p:cNvPr id="816" name="Google Shape;816;p39"/>
          <p:cNvPicPr preferRelativeResize="0"/>
          <p:nvPr/>
        </p:nvPicPr>
        <p:blipFill>
          <a:blip r:embed="rId3">
            <a:alphaModFix/>
          </a:blip>
          <a:stretch>
            <a:fillRect/>
          </a:stretch>
        </p:blipFill>
        <p:spPr>
          <a:xfrm>
            <a:off x="152401" y="774300"/>
            <a:ext cx="5655972" cy="3845925"/>
          </a:xfrm>
          <a:prstGeom prst="rect">
            <a:avLst/>
          </a:prstGeom>
          <a:noFill/>
          <a:ln>
            <a:noFill/>
          </a:ln>
        </p:spPr>
      </p:pic>
      <p:sp>
        <p:nvSpPr>
          <p:cNvPr id="2" name="InsightBox1">
            <a:extLst>
              <a:ext uri="{FF2B5EF4-FFF2-40B4-BE49-F238E27FC236}">
                <a16:creationId xmlns:a16="http://schemas.microsoft.com/office/drawing/2014/main" id="{4E70EDE3-775A-C366-851D-6542AF93022E}"/>
              </a:ext>
            </a:extLst>
          </p:cNvPr>
          <p:cNvSpPr/>
          <p:nvPr/>
        </p:nvSpPr>
        <p:spPr>
          <a:xfrm>
            <a:off x="5900000" y="700000"/>
            <a:ext cx="3100000" cy="4300000"/>
          </a:xfrm>
          <a:prstGeom prst="rect">
            <a:avLst/>
          </a:prstGeom>
          <a:solidFill>
            <a:srgbClr val="112236"/>
          </a:solidFill>
          <a:ln>
            <a:noFill/>
          </a:ln>
        </p:spPr>
        <p:txBody>
          <a:bodyPr spcFirstLastPara="1" wrap="square" lIns="137160" tIns="137160" rIns="137160" bIns="91425" anchor="t" anchorCtr="0">
            <a:noAutofit/>
          </a:bodyPr>
          <a:lstStyle/>
          <a:p>
            <a:pPr>
              <a:buClr>
                <a:schemeClr val="bg1"/>
              </a:buClr>
            </a:pPr>
            <a:r>
              <a:rPr lang="en-US" sz="1000" b="1" dirty="0">
                <a:solidFill>
                  <a:schemeClr val="bg1"/>
                </a:solidFill>
                <a:latin typeface="Calibri"/>
              </a:rPr>
              <a:t>Emotion Shift Insights</a:t>
            </a:r>
          </a:p>
          <a:p>
            <a:pPr marL="171450" indent="-171450">
              <a:buClr>
                <a:schemeClr val="bg1"/>
              </a:buClr>
              <a:buFont typeface="Arial" panose="020B0604020202020204" pitchFamily="34" charset="0"/>
              <a:buChar char="•"/>
            </a:pPr>
            <a:r>
              <a:rPr lang="en-US" sz="1000" b="1" dirty="0">
                <a:solidFill>
                  <a:schemeClr val="bg1"/>
                </a:solidFill>
                <a:latin typeface="Calibri"/>
              </a:rPr>
              <a:t>Post-Election</a:t>
            </a:r>
          </a:p>
          <a:p>
            <a:pPr marL="171450" indent="-171450">
              <a:buClr>
                <a:schemeClr val="bg1"/>
              </a:buClr>
              <a:buFontTx/>
              <a:buChar char="-"/>
            </a:pPr>
            <a:r>
              <a:rPr lang="en-US" sz="1000" dirty="0">
                <a:solidFill>
                  <a:schemeClr val="bg1"/>
                </a:solidFill>
                <a:latin typeface="Calibri"/>
              </a:rPr>
              <a:t>Anticipation highest — voters &amp; parties are eagerly waiting for results</a:t>
            </a:r>
          </a:p>
          <a:p>
            <a:pPr marL="171450" indent="-171450">
              <a:buClr>
                <a:schemeClr val="bg1"/>
              </a:buClr>
              <a:buFont typeface="Arial" panose="020B0604020202020204" pitchFamily="34" charset="0"/>
              <a:buChar char="•"/>
            </a:pPr>
            <a:r>
              <a:rPr lang="en-US" sz="1000" b="1" dirty="0">
                <a:solidFill>
                  <a:schemeClr val="bg1"/>
                </a:solidFill>
                <a:latin typeface="Calibri"/>
              </a:rPr>
              <a:t>Election Day</a:t>
            </a:r>
          </a:p>
          <a:p>
            <a:pPr marL="171450" indent="-171450">
              <a:buClr>
                <a:schemeClr val="bg1"/>
              </a:buClr>
              <a:buFontTx/>
              <a:buChar char="-"/>
            </a:pPr>
            <a:r>
              <a:rPr lang="en-US" sz="1000" dirty="0">
                <a:solidFill>
                  <a:schemeClr val="bg1"/>
                </a:solidFill>
                <a:latin typeface="Calibri"/>
              </a:rPr>
              <a:t>Trust &amp; Anticipation at peak — Decisions are already formed and nervousness regarding outcome grows.</a:t>
            </a:r>
          </a:p>
          <a:p>
            <a:pPr marL="171450" indent="-171450">
              <a:buClr>
                <a:schemeClr val="bg1"/>
              </a:buClr>
              <a:buFont typeface="Arial" panose="020B0604020202020204" pitchFamily="34" charset="0"/>
              <a:buChar char="•"/>
            </a:pPr>
            <a:r>
              <a:rPr lang="en-US" sz="1000" b="1" dirty="0">
                <a:solidFill>
                  <a:schemeClr val="bg1"/>
                </a:solidFill>
                <a:latin typeface="Calibri"/>
              </a:rPr>
              <a:t>Post-Election</a:t>
            </a:r>
          </a:p>
          <a:p>
            <a:pPr marL="171450" indent="-171450">
              <a:buClr>
                <a:schemeClr val="bg1"/>
              </a:buClr>
              <a:buFontTx/>
              <a:buChar char="-"/>
            </a:pPr>
            <a:r>
              <a:rPr lang="en-US" sz="1000" dirty="0">
                <a:solidFill>
                  <a:schemeClr val="bg1"/>
                </a:solidFill>
                <a:latin typeface="Calibri"/>
              </a:rPr>
              <a:t>Trust, Sadness &amp; Joy — Winning sides and voters show joy and trust in their candidates. The losing side naturally shows sadness</a:t>
            </a:r>
          </a:p>
          <a:p>
            <a:pPr marL="171450" indent="-171450">
              <a:buClr>
                <a:schemeClr val="bg1"/>
              </a:buClr>
              <a:buFont typeface="Arial" panose="020B0604020202020204" pitchFamily="34" charset="0"/>
              <a:buChar char="•"/>
            </a:pPr>
            <a:r>
              <a:rPr lang="en-US" sz="1000" b="1" dirty="0">
                <a:solidFill>
                  <a:schemeClr val="bg1"/>
                </a:solidFill>
                <a:latin typeface="Calibri"/>
              </a:rPr>
              <a:t>Key</a:t>
            </a:r>
            <a:r>
              <a:rPr lang="en-US" sz="1000" dirty="0">
                <a:solidFill>
                  <a:schemeClr val="bg1"/>
                </a:solidFill>
                <a:latin typeface="Calibri"/>
              </a:rPr>
              <a:t>: Discourse evolved from policy debate → civic mobilization → emotional reaction, tracking the real-world rhythm of the election.</a:t>
            </a:r>
            <a:endParaRPr lang="en-US" sz="1000" i="1" dirty="0">
              <a:solidFill>
                <a:schemeClr val="bg1"/>
              </a:solidFill>
              <a:latin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821"/>
        <p:cNvGrpSpPr/>
        <p:nvPr/>
      </p:nvGrpSpPr>
      <p:grpSpPr>
        <a:xfrm>
          <a:off x="0" y="0"/>
          <a:ext cx="0" cy="0"/>
          <a:chOff x="0" y="0"/>
          <a:chExt cx="0" cy="0"/>
        </a:xfrm>
      </p:grpSpPr>
      <p:sp>
        <p:nvSpPr>
          <p:cNvPr id="822" name="Google Shape;822;p40"/>
          <p:cNvSpPr/>
          <p:nvPr/>
        </p:nvSpPr>
        <p:spPr>
          <a:xfrm>
            <a:off x="0" y="0"/>
            <a:ext cx="9144000" cy="621900"/>
          </a:xfrm>
          <a:prstGeom prst="rect">
            <a:avLst/>
          </a:prstGeom>
          <a:solidFill>
            <a:srgbClr val="112236"/>
          </a:solidFill>
          <a:ln w="12700" cap="flat" cmpd="sng">
            <a:solidFill>
              <a:srgbClr val="1122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23" name="Google Shape;823;p40"/>
          <p:cNvSpPr/>
          <p:nvPr/>
        </p:nvSpPr>
        <p:spPr>
          <a:xfrm>
            <a:off x="0" y="0"/>
            <a:ext cx="128100" cy="621900"/>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40"/>
          <p:cNvSpPr/>
          <p:nvPr/>
        </p:nvSpPr>
        <p:spPr>
          <a:xfrm>
            <a:off x="219456" y="0"/>
            <a:ext cx="8778300" cy="621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3.5  TEMPORAL ANALYSIS — Pre / Election Day / Post-Election</a:t>
            </a:r>
            <a:endParaRPr sz="2000" b="0" i="0" u="none" strike="noStrike" cap="none">
              <a:solidFill>
                <a:schemeClr val="dk1"/>
              </a:solidFill>
              <a:latin typeface="Calibri"/>
              <a:ea typeface="Calibri"/>
              <a:cs typeface="Calibri"/>
              <a:sym typeface="Calibri"/>
            </a:endParaRPr>
          </a:p>
        </p:txBody>
      </p:sp>
      <p:pic>
        <p:nvPicPr>
          <p:cNvPr id="825" name="Google Shape;825;p40"/>
          <p:cNvPicPr preferRelativeResize="0"/>
          <p:nvPr/>
        </p:nvPicPr>
        <p:blipFill>
          <a:blip r:embed="rId3">
            <a:alphaModFix/>
          </a:blip>
          <a:stretch>
            <a:fillRect/>
          </a:stretch>
        </p:blipFill>
        <p:spPr>
          <a:xfrm>
            <a:off x="128100" y="780740"/>
            <a:ext cx="5829837" cy="3839980"/>
          </a:xfrm>
          <a:prstGeom prst="rect">
            <a:avLst/>
          </a:prstGeom>
          <a:noFill/>
          <a:ln>
            <a:noFill/>
          </a:ln>
        </p:spPr>
      </p:pic>
      <p:sp>
        <p:nvSpPr>
          <p:cNvPr id="2" name="InsightBox1">
            <a:extLst>
              <a:ext uri="{FF2B5EF4-FFF2-40B4-BE49-F238E27FC236}">
                <a16:creationId xmlns:a16="http://schemas.microsoft.com/office/drawing/2014/main" id="{78FEC2A6-CE56-1394-264B-27B43D69F212}"/>
              </a:ext>
            </a:extLst>
          </p:cNvPr>
          <p:cNvSpPr/>
          <p:nvPr/>
        </p:nvSpPr>
        <p:spPr>
          <a:xfrm>
            <a:off x="5900000" y="700000"/>
            <a:ext cx="3100000" cy="4300000"/>
          </a:xfrm>
          <a:prstGeom prst="rect">
            <a:avLst/>
          </a:prstGeom>
          <a:solidFill>
            <a:srgbClr val="112236"/>
          </a:solidFill>
          <a:ln>
            <a:noFill/>
          </a:ln>
        </p:spPr>
        <p:txBody>
          <a:bodyPr spcFirstLastPara="1" wrap="square" lIns="137160" tIns="137160" rIns="137160" bIns="91425" anchor="t" anchorCtr="0">
            <a:noAutofit/>
          </a:bodyPr>
          <a:lstStyle/>
          <a:p>
            <a:pPr algn="l">
              <a:spcBef>
                <a:spcPts val="0"/>
              </a:spcBef>
              <a:buNone/>
            </a:pPr>
            <a:endParaRPr lang="en-US" sz="800" b="0" i="1" dirty="0">
              <a:solidFill>
                <a:srgbClr val="6B90AA"/>
              </a:solidFill>
              <a:latin typeface="Calibri"/>
            </a:endParaRPr>
          </a:p>
        </p:txBody>
      </p:sp>
      <p:sp>
        <p:nvSpPr>
          <p:cNvPr id="3" name="Rectangle 1">
            <a:extLst>
              <a:ext uri="{FF2B5EF4-FFF2-40B4-BE49-F238E27FC236}">
                <a16:creationId xmlns:a16="http://schemas.microsoft.com/office/drawing/2014/main" id="{A589E1DE-2BAF-3452-3CB1-61EE980103CD}"/>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E0835F16-B064-1E96-5BB8-485E894D0B66}"/>
              </a:ext>
            </a:extLst>
          </p:cNvPr>
          <p:cNvSpPr txBox="1"/>
          <p:nvPr/>
        </p:nvSpPr>
        <p:spPr>
          <a:xfrm>
            <a:off x="5957937" y="978009"/>
            <a:ext cx="2936083" cy="1015663"/>
          </a:xfrm>
          <a:prstGeom prst="rect">
            <a:avLst/>
          </a:prstGeom>
          <a:noFill/>
        </p:spPr>
        <p:txBody>
          <a:bodyPr wrap="square">
            <a:spAutoFit/>
          </a:bodyPr>
          <a:lstStyle/>
          <a:p>
            <a:pPr marL="171450" marR="0" lvl="0" indent="-171450" algn="l" defTabSz="914400" rtl="0" eaLnBrk="0" fontAlgn="base" latinLnBrk="0" hangingPunct="0">
              <a:lnSpc>
                <a:spcPct val="100000"/>
              </a:lnSpc>
              <a:spcBef>
                <a:spcPct val="0"/>
              </a:spcBef>
              <a:spcAft>
                <a:spcPct val="0"/>
              </a:spcAft>
              <a:buClr>
                <a:schemeClr val="bg1"/>
              </a:buClr>
              <a:buSzTx/>
              <a:buFont typeface="Arial" panose="020B0604020202020204" pitchFamily="34" charset="0"/>
              <a:buChar char="•"/>
              <a:tabLst/>
            </a:pPr>
            <a:r>
              <a:rPr kumimoji="0" lang="en-US" altLang="en-US" sz="10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Party Competition</a:t>
            </a:r>
            <a:r>
              <a:rPr kumimoji="0" lang="en-US" altLang="en-US" sz="10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dominates across all periods (~55%) </a:t>
            </a:r>
          </a:p>
          <a:p>
            <a:pPr marL="171450" marR="0" lvl="0" indent="-171450" algn="l" defTabSz="914400" rtl="0" eaLnBrk="0" fontAlgn="base" latinLnBrk="0" hangingPunct="0">
              <a:lnSpc>
                <a:spcPct val="100000"/>
              </a:lnSpc>
              <a:spcBef>
                <a:spcPct val="0"/>
              </a:spcBef>
              <a:spcAft>
                <a:spcPct val="0"/>
              </a:spcAft>
              <a:buClr>
                <a:schemeClr val="bg1"/>
              </a:buClr>
              <a:buSzTx/>
              <a:buFont typeface="Arial" panose="020B0604020202020204" pitchFamily="34" charset="0"/>
              <a:buChar char="•"/>
              <a:tabLst/>
            </a:pPr>
            <a:r>
              <a:rPr kumimoji="0" lang="en-US" altLang="en-US" sz="10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Voting Activity</a:t>
            </a:r>
            <a:r>
              <a:rPr kumimoji="0" lang="en-US" altLang="en-US" sz="10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peaks on </a:t>
            </a:r>
            <a:r>
              <a:rPr kumimoji="0" lang="en-US" altLang="en-US" sz="10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Election Day</a:t>
            </a:r>
            <a:r>
              <a:rPr kumimoji="0" lang="en-US" altLang="en-US" sz="10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p>
          <a:p>
            <a:pPr marL="171450" marR="0" lvl="0" indent="-171450" algn="l" defTabSz="914400" rtl="0" eaLnBrk="0" fontAlgn="base" latinLnBrk="0" hangingPunct="0">
              <a:lnSpc>
                <a:spcPct val="100000"/>
              </a:lnSpc>
              <a:spcBef>
                <a:spcPct val="0"/>
              </a:spcBef>
              <a:spcAft>
                <a:spcPct val="0"/>
              </a:spcAft>
              <a:buClr>
                <a:schemeClr val="bg1"/>
              </a:buClr>
              <a:buSzTx/>
              <a:buFont typeface="Arial" panose="020B0604020202020204" pitchFamily="34" charset="0"/>
              <a:buChar char="•"/>
              <a:tabLst/>
            </a:pPr>
            <a:r>
              <a:rPr kumimoji="0" lang="en-US" altLang="en-US" sz="10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Policy Debate</a:t>
            </a:r>
            <a:r>
              <a:rPr kumimoji="0" lang="en-US" altLang="en-US" sz="10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is higher </a:t>
            </a:r>
            <a:r>
              <a:rPr kumimoji="0" lang="en-US" altLang="en-US" sz="10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before the election</a:t>
            </a:r>
            <a:r>
              <a:rPr kumimoji="0" lang="en-US" altLang="en-US" sz="10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p>
          <a:p>
            <a:pPr marL="171450" marR="0" lvl="0" indent="-171450" algn="l" defTabSz="914400" rtl="0" eaLnBrk="0" fontAlgn="base" latinLnBrk="0" hangingPunct="0">
              <a:lnSpc>
                <a:spcPct val="100000"/>
              </a:lnSpc>
              <a:spcBef>
                <a:spcPct val="0"/>
              </a:spcBef>
              <a:spcAft>
                <a:spcPct val="0"/>
              </a:spcAft>
              <a:buClr>
                <a:schemeClr val="bg1"/>
              </a:buClr>
              <a:buSzTx/>
              <a:buFont typeface="Arial" panose="020B0604020202020204" pitchFamily="34" charset="0"/>
              <a:buChar char="•"/>
              <a:tabLst/>
            </a:pPr>
            <a:r>
              <a:rPr kumimoji="0" lang="en-US" altLang="en-US" sz="10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Election Culture</a:t>
            </a:r>
            <a:r>
              <a:rPr kumimoji="0" lang="en-US" altLang="en-US" sz="10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increases </a:t>
            </a:r>
            <a:r>
              <a:rPr kumimoji="0" lang="en-US" altLang="en-US" sz="10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after Election Day</a:t>
            </a:r>
            <a:r>
              <a:rPr kumimoji="0" lang="en-US" altLang="en-US" sz="10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p>
          <a:p>
            <a:pPr marL="171450" marR="0" lvl="0" indent="-171450" algn="l" defTabSz="914400" rtl="0" eaLnBrk="0" fontAlgn="base" latinLnBrk="0" hangingPunct="0">
              <a:lnSpc>
                <a:spcPct val="100000"/>
              </a:lnSpc>
              <a:spcBef>
                <a:spcPct val="0"/>
              </a:spcBef>
              <a:spcAft>
                <a:spcPct val="0"/>
              </a:spcAft>
              <a:buClr>
                <a:schemeClr val="bg1"/>
              </a:buClr>
              <a:buSzTx/>
              <a:buFont typeface="Arial" panose="020B0604020202020204" pitchFamily="34" charset="0"/>
              <a:buChar char="•"/>
              <a:tabLst/>
            </a:pPr>
            <a:r>
              <a:rPr kumimoji="0" lang="en-US" altLang="en-US" sz="10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Political Leaders</a:t>
            </a:r>
            <a:r>
              <a:rPr kumimoji="0" lang="en-US" altLang="en-US" sz="10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remain relatively low and stable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830"/>
        <p:cNvGrpSpPr/>
        <p:nvPr/>
      </p:nvGrpSpPr>
      <p:grpSpPr>
        <a:xfrm>
          <a:off x="0" y="0"/>
          <a:ext cx="0" cy="0"/>
          <a:chOff x="0" y="0"/>
          <a:chExt cx="0" cy="0"/>
        </a:xfrm>
      </p:grpSpPr>
      <p:sp>
        <p:nvSpPr>
          <p:cNvPr id="831" name="Google Shape;831;p41"/>
          <p:cNvSpPr/>
          <p:nvPr/>
        </p:nvSpPr>
        <p:spPr>
          <a:xfrm>
            <a:off x="0" y="0"/>
            <a:ext cx="9144000" cy="621792"/>
          </a:xfrm>
          <a:prstGeom prst="rect">
            <a:avLst/>
          </a:prstGeom>
          <a:solidFill>
            <a:srgbClr val="112236"/>
          </a:solidFill>
          <a:ln w="12700" cap="flat" cmpd="sng">
            <a:solidFill>
              <a:srgbClr val="1122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41"/>
          <p:cNvSpPr/>
          <p:nvPr/>
        </p:nvSpPr>
        <p:spPr>
          <a:xfrm>
            <a:off x="0" y="0"/>
            <a:ext cx="128016" cy="621792"/>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41"/>
          <p:cNvSpPr/>
          <p:nvPr/>
        </p:nvSpPr>
        <p:spPr>
          <a:xfrm>
            <a:off x="182881" y="-73150"/>
            <a:ext cx="8778300" cy="621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3.5  TEMPORAL ANALYSIS — Topic Share by Period &amp; Popularity Heatmaps</a:t>
            </a:r>
            <a:endParaRPr sz="2000" b="0" i="0" u="none" strike="noStrike" cap="none">
              <a:solidFill>
                <a:schemeClr val="dk1"/>
              </a:solidFill>
              <a:latin typeface="Calibri"/>
              <a:ea typeface="Calibri"/>
              <a:cs typeface="Calibri"/>
              <a:sym typeface="Calibri"/>
            </a:endParaRPr>
          </a:p>
        </p:txBody>
      </p:sp>
      <p:pic>
        <p:nvPicPr>
          <p:cNvPr id="834" name="Google Shape;834;p41"/>
          <p:cNvPicPr preferRelativeResize="0"/>
          <p:nvPr/>
        </p:nvPicPr>
        <p:blipFill>
          <a:blip r:embed="rId3">
            <a:alphaModFix/>
          </a:blip>
          <a:stretch>
            <a:fillRect/>
          </a:stretch>
        </p:blipFill>
        <p:spPr>
          <a:xfrm>
            <a:off x="302607" y="694943"/>
            <a:ext cx="5530884" cy="4146772"/>
          </a:xfrm>
          <a:prstGeom prst="rect">
            <a:avLst/>
          </a:prstGeom>
          <a:noFill/>
          <a:ln>
            <a:noFill/>
          </a:ln>
        </p:spPr>
      </p:pic>
      <p:sp>
        <p:nvSpPr>
          <p:cNvPr id="2" name="InsightBox1">
            <a:extLst>
              <a:ext uri="{FF2B5EF4-FFF2-40B4-BE49-F238E27FC236}">
                <a16:creationId xmlns:a16="http://schemas.microsoft.com/office/drawing/2014/main" id="{BB82E5DA-8076-7833-D5D0-A5C9A02B7FA9}"/>
              </a:ext>
            </a:extLst>
          </p:cNvPr>
          <p:cNvSpPr/>
          <p:nvPr/>
        </p:nvSpPr>
        <p:spPr>
          <a:xfrm>
            <a:off x="5900000" y="700000"/>
            <a:ext cx="3100000" cy="4300000"/>
          </a:xfrm>
          <a:prstGeom prst="rect">
            <a:avLst/>
          </a:prstGeom>
          <a:solidFill>
            <a:srgbClr val="112236"/>
          </a:solidFill>
          <a:ln>
            <a:noFill/>
          </a:ln>
        </p:spPr>
        <p:txBody>
          <a:bodyPr spcFirstLastPara="1" wrap="square" lIns="137160" tIns="137160" rIns="137160" bIns="91425" anchor="t" anchorCtr="0">
            <a:noAutofit/>
          </a:bodyPr>
          <a:lstStyle/>
          <a:p>
            <a:pPr algn="l">
              <a:spcBef>
                <a:spcPts val="0"/>
              </a:spcBef>
              <a:buNone/>
            </a:pPr>
            <a:endParaRPr lang="en-US" sz="800" b="0" i="1" dirty="0">
              <a:solidFill>
                <a:srgbClr val="6B90AA"/>
              </a:solidFill>
              <a:latin typeface="Calibri"/>
            </a:endParaRPr>
          </a:p>
        </p:txBody>
      </p:sp>
      <p:sp>
        <p:nvSpPr>
          <p:cNvPr id="8" name="Rectangle 6">
            <a:extLst>
              <a:ext uri="{FF2B5EF4-FFF2-40B4-BE49-F238E27FC236}">
                <a16:creationId xmlns:a16="http://schemas.microsoft.com/office/drawing/2014/main" id="{621ECF50-7E40-CF3F-77FC-1F0D1D6E7D7A}"/>
              </a:ext>
            </a:extLst>
          </p:cNvPr>
          <p:cNvSpPr>
            <a:spLocks noChangeArrowheads="1"/>
          </p:cNvSpPr>
          <p:nvPr/>
        </p:nvSpPr>
        <p:spPr bwMode="auto">
          <a:xfrm>
            <a:off x="5872310" y="861302"/>
            <a:ext cx="3088871"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0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Highest engagement before election </a:t>
            </a:r>
          </a:p>
          <a:p>
            <a:pPr marR="0" lvl="0" algn="l" defTabSz="914400" rtl="0" eaLnBrk="0" fontAlgn="base" latinLnBrk="0" hangingPunct="0">
              <a:lnSpc>
                <a:spcPct val="100000"/>
              </a:lnSpc>
              <a:spcBef>
                <a:spcPct val="0"/>
              </a:spcBef>
              <a:spcAft>
                <a:spcPct val="0"/>
              </a:spcAft>
              <a:buClrTx/>
              <a:buSzTx/>
              <a:tabLst/>
            </a:pPr>
            <a:r>
              <a:rPr kumimoji="0" lang="en-US" altLang="en-US" sz="100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Retweets ≈ 0.65 </a:t>
            </a:r>
          </a:p>
          <a:p>
            <a:pPr marL="171450" marR="0" lvl="0" indent="-17145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Favorites ≈ 1.05 </a:t>
            </a:r>
          </a:p>
          <a:p>
            <a:pPr lvl="0" eaLnBrk="0" fontAlgn="base" hangingPunct="0">
              <a:spcBef>
                <a:spcPct val="0"/>
              </a:spcBef>
              <a:spcAft>
                <a:spcPct val="0"/>
              </a:spcAft>
              <a:buClrTx/>
            </a:pP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1000" b="1" dirty="0">
                <a:solidFill>
                  <a:schemeClr val="bg1"/>
                </a:solidFill>
                <a:latin typeface="Calibri" panose="020F0502020204030204" pitchFamily="34" charset="0"/>
                <a:ea typeface="Calibri" panose="020F0502020204030204" pitchFamily="34" charset="0"/>
                <a:cs typeface="Calibri" panose="020F0502020204030204" pitchFamily="34" charset="0"/>
              </a:rPr>
              <a:t>high interest &amp; anticipation</a:t>
            </a:r>
          </a:p>
          <a:p>
            <a:pPr lvl="0" eaLnBrk="0" fontAlgn="base" hangingPunct="0">
              <a:spcBef>
                <a:spcPct val="0"/>
              </a:spcBef>
              <a:spcAft>
                <a:spcPct val="0"/>
              </a:spcAft>
              <a:buClrTx/>
            </a:pPr>
            <a:endParaRPr kumimoji="0" lang="en-US" altLang="en-US" sz="100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0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Engagement drops on Election Day </a:t>
            </a:r>
          </a:p>
          <a:p>
            <a:pPr eaLnBrk="0" fontAlgn="base" hangingPunct="0">
              <a:spcBef>
                <a:spcPct val="0"/>
              </a:spcBef>
              <a:spcAft>
                <a:spcPct val="0"/>
              </a:spcAft>
              <a:buClrTx/>
            </a:pPr>
            <a:r>
              <a:rPr lang="en-US" alt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 Retweets ≈ 0.38 (lowest) </a:t>
            </a:r>
          </a:p>
          <a:p>
            <a:pPr marL="171450" lvl="0" indent="-171450" eaLnBrk="0" fontAlgn="base" hangingPunct="0">
              <a:spcBef>
                <a:spcPct val="0"/>
              </a:spcBef>
              <a:spcAft>
                <a:spcPct val="0"/>
              </a:spcAft>
              <a:buClrTx/>
              <a:buFontTx/>
              <a:buChar char="-"/>
            </a:pPr>
            <a:r>
              <a:rPr lang="en-US" alt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Fa</a:t>
            </a:r>
            <a:r>
              <a:rPr kumimoji="0" lang="en-US" altLang="en-US" sz="100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vorites ≈ 1.00 </a:t>
            </a:r>
          </a:p>
          <a:p>
            <a:pPr lvl="0" eaLnBrk="0" fontAlgn="base" hangingPunct="0">
              <a:spcBef>
                <a:spcPct val="0"/>
              </a:spcBef>
              <a:spcAft>
                <a:spcPct val="0"/>
              </a:spcAft>
              <a:buClrTx/>
            </a:pP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 more </a:t>
            </a:r>
            <a:r>
              <a:rPr lang="en-US" sz="1000" b="1" dirty="0">
                <a:solidFill>
                  <a:schemeClr val="bg1"/>
                </a:solidFill>
                <a:latin typeface="Calibri" panose="020F0502020204030204" pitchFamily="34" charset="0"/>
                <a:ea typeface="Calibri" panose="020F0502020204030204" pitchFamily="34" charset="0"/>
                <a:cs typeface="Calibri" panose="020F0502020204030204" pitchFamily="34" charset="0"/>
              </a:rPr>
              <a:t>information sharing, less engagement</a:t>
            </a:r>
          </a:p>
          <a:p>
            <a:pPr lvl="0" eaLnBrk="0" fontAlgn="base" hangingPunct="0">
              <a:spcBef>
                <a:spcPct val="0"/>
              </a:spcBef>
              <a:spcAft>
                <a:spcPct val="0"/>
              </a:spcAft>
              <a:buClrTx/>
            </a:pPr>
            <a:endParaRPr kumimoji="0" lang="en-US" altLang="en-US" sz="100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0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Further decline after election </a:t>
            </a:r>
          </a:p>
          <a:p>
            <a:pPr marL="171450" marR="0" lvl="0" indent="-171450" algn="l" defTabSz="914400" rtl="0" eaLnBrk="0" fontAlgn="base" latinLnBrk="0" hangingPunct="0">
              <a:lnSpc>
                <a:spcPct val="100000"/>
              </a:lnSpc>
              <a:spcBef>
                <a:spcPct val="0"/>
              </a:spcBef>
              <a:spcAft>
                <a:spcPct val="0"/>
              </a:spcAft>
              <a:buClrTx/>
              <a:buSzTx/>
              <a:buFontTx/>
              <a:buChar char="-"/>
              <a:tabLst/>
            </a:pPr>
            <a:r>
              <a:rPr kumimoji="0" lang="en-US" altLang="en-US" sz="100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Favorites drop noticeably (~0.83)</a:t>
            </a:r>
          </a:p>
          <a:p>
            <a:pPr lvl="0" eaLnBrk="0" fontAlgn="base" hangingPunct="0">
              <a:spcBef>
                <a:spcPct val="0"/>
              </a:spcBef>
              <a:spcAft>
                <a:spcPct val="0"/>
              </a:spcAft>
              <a:buClrTx/>
            </a:pPr>
            <a:r>
              <a:rPr lang="en-US" sz="1000"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1000" b="1" dirty="0">
                <a:solidFill>
                  <a:schemeClr val="bg1"/>
                </a:solidFill>
                <a:latin typeface="Calibri" panose="020F0502020204030204" pitchFamily="34" charset="0"/>
                <a:ea typeface="Calibri" panose="020F0502020204030204" pitchFamily="34" charset="0"/>
                <a:cs typeface="Calibri" panose="020F0502020204030204" pitchFamily="34" charset="0"/>
              </a:rPr>
              <a:t>declining attention</a:t>
            </a:r>
            <a:endParaRPr kumimoji="0" lang="en-US" altLang="en-US" sz="100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839"/>
        <p:cNvGrpSpPr/>
        <p:nvPr/>
      </p:nvGrpSpPr>
      <p:grpSpPr>
        <a:xfrm>
          <a:off x="0" y="0"/>
          <a:ext cx="0" cy="0"/>
          <a:chOff x="0" y="0"/>
          <a:chExt cx="0" cy="0"/>
        </a:xfrm>
      </p:grpSpPr>
      <p:sp>
        <p:nvSpPr>
          <p:cNvPr id="840" name="Google Shape;840;p42"/>
          <p:cNvSpPr/>
          <p:nvPr/>
        </p:nvSpPr>
        <p:spPr>
          <a:xfrm>
            <a:off x="0" y="0"/>
            <a:ext cx="9144000" cy="621900"/>
          </a:xfrm>
          <a:prstGeom prst="rect">
            <a:avLst/>
          </a:prstGeom>
          <a:solidFill>
            <a:srgbClr val="112236"/>
          </a:solidFill>
          <a:ln w="12700" cap="flat" cmpd="sng">
            <a:solidFill>
              <a:srgbClr val="1122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42"/>
          <p:cNvSpPr/>
          <p:nvPr/>
        </p:nvSpPr>
        <p:spPr>
          <a:xfrm>
            <a:off x="0" y="0"/>
            <a:ext cx="128100" cy="621900"/>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42"/>
          <p:cNvSpPr/>
          <p:nvPr/>
        </p:nvSpPr>
        <p:spPr>
          <a:xfrm>
            <a:off x="182881" y="-73150"/>
            <a:ext cx="8778300" cy="621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3.5  TEMPORAL ANALYSIS — Topic Share by Period &amp; Popularity Heatmaps</a:t>
            </a:r>
            <a:endParaRPr sz="2000" b="0" i="0" u="none" strike="noStrike" cap="none">
              <a:solidFill>
                <a:schemeClr val="dk1"/>
              </a:solidFill>
              <a:latin typeface="Calibri"/>
              <a:ea typeface="Calibri"/>
              <a:cs typeface="Calibri"/>
              <a:sym typeface="Calibri"/>
            </a:endParaRPr>
          </a:p>
        </p:txBody>
      </p:sp>
      <p:pic>
        <p:nvPicPr>
          <p:cNvPr id="843" name="Google Shape;843;p42"/>
          <p:cNvPicPr preferRelativeResize="0"/>
          <p:nvPr/>
        </p:nvPicPr>
        <p:blipFill>
          <a:blip r:embed="rId3">
            <a:alphaModFix/>
          </a:blip>
          <a:stretch>
            <a:fillRect/>
          </a:stretch>
        </p:blipFill>
        <p:spPr>
          <a:xfrm>
            <a:off x="182881" y="847727"/>
            <a:ext cx="4794809" cy="1803550"/>
          </a:xfrm>
          <a:prstGeom prst="rect">
            <a:avLst/>
          </a:prstGeom>
          <a:noFill/>
          <a:ln>
            <a:noFill/>
          </a:ln>
        </p:spPr>
      </p:pic>
      <p:pic>
        <p:nvPicPr>
          <p:cNvPr id="852" name="Google Shape;852;p43"/>
          <p:cNvPicPr preferRelativeResize="0"/>
          <p:nvPr/>
        </p:nvPicPr>
        <p:blipFill>
          <a:blip r:embed="rId4">
            <a:alphaModFix/>
          </a:blip>
          <a:stretch>
            <a:fillRect/>
          </a:stretch>
        </p:blipFill>
        <p:spPr>
          <a:xfrm>
            <a:off x="182881" y="2724427"/>
            <a:ext cx="4794809" cy="2000250"/>
          </a:xfrm>
          <a:prstGeom prst="rect">
            <a:avLst/>
          </a:prstGeom>
          <a:noFill/>
          <a:ln>
            <a:noFill/>
          </a:ln>
        </p:spPr>
      </p:pic>
      <p:sp>
        <p:nvSpPr>
          <p:cNvPr id="4" name="TextBox 3">
            <a:extLst>
              <a:ext uri="{FF2B5EF4-FFF2-40B4-BE49-F238E27FC236}">
                <a16:creationId xmlns:a16="http://schemas.microsoft.com/office/drawing/2014/main" id="{773ACD8D-C43C-5708-8D84-486E0353C28B}"/>
              </a:ext>
            </a:extLst>
          </p:cNvPr>
          <p:cNvSpPr txBox="1"/>
          <p:nvPr/>
        </p:nvSpPr>
        <p:spPr>
          <a:xfrm>
            <a:off x="5177307" y="1061222"/>
            <a:ext cx="3702676" cy="3477875"/>
          </a:xfrm>
          <a:prstGeom prst="rect">
            <a:avLst/>
          </a:prstGeom>
          <a:noFill/>
        </p:spPr>
        <p:txBody>
          <a:bodyPr wrap="square">
            <a:spAutoFit/>
          </a:bodyPr>
          <a:lstStyle/>
          <a:p>
            <a:pPr marL="171450" marR="0" lvl="0" indent="-171450" algn="l" defTabSz="914400" rtl="0" eaLnBrk="0" fontAlgn="base" latinLnBrk="0" hangingPunct="0">
              <a:lnSpc>
                <a:spcPct val="100000"/>
              </a:lnSpc>
              <a:spcBef>
                <a:spcPct val="0"/>
              </a:spcBef>
              <a:spcAft>
                <a:spcPct val="0"/>
              </a:spcAft>
              <a:buClr>
                <a:schemeClr val="bg1"/>
              </a:buClr>
              <a:buSzTx/>
              <a:buFont typeface="Arial" panose="020B0604020202020204" pitchFamily="34" charset="0"/>
              <a:buChar char="•"/>
              <a:tabLst/>
            </a:pPr>
            <a:r>
              <a:rPr kumimoji="0" lang="en-US" altLang="en-US" sz="110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Highest engagement occurs pre-election across most topics </a:t>
            </a:r>
          </a:p>
          <a:p>
            <a:pPr marL="171450" marR="0" lvl="0" indent="-171450" algn="l" defTabSz="914400" rtl="0" eaLnBrk="0" fontAlgn="base" latinLnBrk="0" hangingPunct="0">
              <a:lnSpc>
                <a:spcPct val="100000"/>
              </a:lnSpc>
              <a:spcBef>
                <a:spcPct val="0"/>
              </a:spcBef>
              <a:spcAft>
                <a:spcPct val="0"/>
              </a:spcAft>
              <a:buClr>
                <a:schemeClr val="bg1"/>
              </a:buClr>
              <a:buSzTx/>
              <a:buFont typeface="Arial" panose="020B0604020202020204" pitchFamily="34" charset="0"/>
              <a:buChar char="•"/>
              <a:tabLst/>
            </a:pPr>
            <a:r>
              <a:rPr kumimoji="0" lang="en-US" altLang="en-US" sz="110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Party Competition &amp; Policy Debate generate the most engagement </a:t>
            </a:r>
          </a:p>
          <a:p>
            <a:pPr marL="171450" marR="0" lvl="0" indent="-171450" algn="l" defTabSz="914400" rtl="0" eaLnBrk="0" fontAlgn="base" latinLnBrk="0" hangingPunct="0">
              <a:lnSpc>
                <a:spcPct val="100000"/>
              </a:lnSpc>
              <a:spcBef>
                <a:spcPct val="0"/>
              </a:spcBef>
              <a:spcAft>
                <a:spcPct val="0"/>
              </a:spcAft>
              <a:buClr>
                <a:schemeClr val="bg1"/>
              </a:buClr>
              <a:buSzTx/>
              <a:buFont typeface="Arial" panose="020B0604020202020204" pitchFamily="34" charset="0"/>
              <a:buChar char="•"/>
              <a:tabLst/>
            </a:pPr>
            <a:r>
              <a:rPr kumimoji="0" lang="en-US" altLang="en-US" sz="110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Political Leaders consistently receive the lowest engagement </a:t>
            </a:r>
          </a:p>
          <a:p>
            <a:pPr marL="171450" marR="0" lvl="0" indent="-171450" algn="l" defTabSz="914400" rtl="0" eaLnBrk="0" fontAlgn="base" latinLnBrk="0" hangingPunct="0">
              <a:lnSpc>
                <a:spcPct val="100000"/>
              </a:lnSpc>
              <a:spcBef>
                <a:spcPct val="0"/>
              </a:spcBef>
              <a:spcAft>
                <a:spcPct val="0"/>
              </a:spcAft>
              <a:buClr>
                <a:schemeClr val="bg1"/>
              </a:buClr>
              <a:buSzTx/>
              <a:buFont typeface="Arial" panose="020B0604020202020204" pitchFamily="34" charset="0"/>
              <a:buChar char="•"/>
              <a:tabLst/>
            </a:pPr>
            <a:r>
              <a:rPr kumimoji="0" lang="en-US" altLang="en-US" sz="110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Engagement drops on Election Day and post-election </a:t>
            </a:r>
          </a:p>
          <a:p>
            <a:pPr>
              <a:buClr>
                <a:schemeClr val="bg1"/>
              </a:buClr>
            </a:pPr>
            <a:endParaRPr lang="en-US" sz="1100"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a:buClr>
                <a:schemeClr val="bg1"/>
              </a:buClr>
            </a:pPr>
            <a:r>
              <a:rPr lang="en-US" sz="1100" b="1" dirty="0">
                <a:solidFill>
                  <a:schemeClr val="bg1"/>
                </a:solidFill>
                <a:latin typeface="Calibri" panose="020F0502020204030204" pitchFamily="34" charset="0"/>
                <a:ea typeface="Calibri" panose="020F0502020204030204" pitchFamily="34" charset="0"/>
                <a:cs typeface="Calibri" panose="020F0502020204030204" pitchFamily="34" charset="0"/>
              </a:rPr>
              <a:t>Topic-Level Insights</a:t>
            </a:r>
          </a:p>
          <a:p>
            <a:pPr marL="171450" indent="-171450">
              <a:buClr>
                <a:schemeClr val="bg1"/>
              </a:buClr>
              <a:buFont typeface="Arial" panose="020B0604020202020204" pitchFamily="34" charset="0"/>
              <a:buChar char="•"/>
            </a:pPr>
            <a:r>
              <a:rPr lang="en-US" sz="1100" dirty="0">
                <a:solidFill>
                  <a:schemeClr val="bg1"/>
                </a:solidFill>
                <a:latin typeface="Calibri" panose="020F0502020204030204" pitchFamily="34" charset="0"/>
                <a:ea typeface="Calibri" panose="020F0502020204030204" pitchFamily="34" charset="0"/>
                <a:cs typeface="Calibri" panose="020F0502020204030204" pitchFamily="34" charset="0"/>
              </a:rPr>
              <a:t>Party Competition → highest retweets &amp; favorites </a:t>
            </a:r>
          </a:p>
          <a:p>
            <a:pPr marL="171450" indent="-171450">
              <a:buClr>
                <a:schemeClr val="bg1"/>
              </a:buClr>
              <a:buFont typeface="Arial" panose="020B0604020202020204" pitchFamily="34" charset="0"/>
              <a:buChar char="•"/>
            </a:pPr>
            <a:r>
              <a:rPr lang="en-US" sz="1100" dirty="0">
                <a:solidFill>
                  <a:schemeClr val="bg1"/>
                </a:solidFill>
                <a:latin typeface="Calibri" panose="020F0502020204030204" pitchFamily="34" charset="0"/>
                <a:ea typeface="Calibri" panose="020F0502020204030204" pitchFamily="34" charset="0"/>
                <a:cs typeface="Calibri" panose="020F0502020204030204" pitchFamily="34" charset="0"/>
              </a:rPr>
              <a:t>Policy Debate → also highly engaging </a:t>
            </a:r>
          </a:p>
          <a:p>
            <a:pPr marL="171450" indent="-171450">
              <a:buClr>
                <a:schemeClr val="bg1"/>
              </a:buClr>
              <a:buFont typeface="Arial" panose="020B0604020202020204" pitchFamily="34" charset="0"/>
              <a:buChar char="•"/>
            </a:pPr>
            <a:r>
              <a:rPr lang="en-US" sz="1100" dirty="0">
                <a:solidFill>
                  <a:schemeClr val="bg1"/>
                </a:solidFill>
                <a:latin typeface="Calibri" panose="020F0502020204030204" pitchFamily="34" charset="0"/>
                <a:ea typeface="Calibri" panose="020F0502020204030204" pitchFamily="34" charset="0"/>
                <a:cs typeface="Calibri" panose="020F0502020204030204" pitchFamily="34" charset="0"/>
              </a:rPr>
              <a:t>Voting Activity → moderate engagement </a:t>
            </a:r>
          </a:p>
          <a:p>
            <a:pPr marL="171450" indent="-171450">
              <a:buClr>
                <a:schemeClr val="bg1"/>
              </a:buClr>
              <a:buFont typeface="Arial" panose="020B0604020202020204" pitchFamily="34" charset="0"/>
              <a:buChar char="•"/>
            </a:pPr>
            <a:r>
              <a:rPr lang="en-US" sz="1100" dirty="0">
                <a:solidFill>
                  <a:schemeClr val="bg1"/>
                </a:solidFill>
                <a:latin typeface="Calibri" panose="020F0502020204030204" pitchFamily="34" charset="0"/>
                <a:ea typeface="Calibri" panose="020F0502020204030204" pitchFamily="34" charset="0"/>
                <a:cs typeface="Calibri" panose="020F0502020204030204" pitchFamily="34" charset="0"/>
              </a:rPr>
              <a:t>Election Culture → lower engagement overall</a:t>
            </a:r>
          </a:p>
          <a:p>
            <a:pPr marL="0" marR="0" lvl="0" indent="0" algn="l" defTabSz="914400" rtl="0" eaLnBrk="0" fontAlgn="base" latinLnBrk="0" hangingPunct="0">
              <a:lnSpc>
                <a:spcPct val="100000"/>
              </a:lnSpc>
              <a:spcBef>
                <a:spcPct val="0"/>
              </a:spcBef>
              <a:spcAft>
                <a:spcPct val="0"/>
              </a:spcAft>
              <a:buClr>
                <a:schemeClr val="bg1"/>
              </a:buClr>
              <a:buSzTx/>
              <a:buFontTx/>
              <a:buChar char="•"/>
              <a:tabLst/>
            </a:pPr>
            <a:endParaRPr kumimoji="0" lang="en-US" altLang="en-US" sz="110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a:buClr>
                <a:schemeClr val="bg1"/>
              </a:buClr>
            </a:pPr>
            <a:r>
              <a:rPr lang="en-US" sz="1100" b="1" dirty="0">
                <a:solidFill>
                  <a:schemeClr val="bg1"/>
                </a:solidFill>
                <a:latin typeface="Calibri" panose="020F0502020204030204" pitchFamily="34" charset="0"/>
                <a:ea typeface="Calibri" panose="020F0502020204030204" pitchFamily="34" charset="0"/>
                <a:cs typeface="Calibri" panose="020F0502020204030204" pitchFamily="34" charset="0"/>
              </a:rPr>
              <a:t>Interpretation</a:t>
            </a:r>
          </a:p>
          <a:p>
            <a:pPr marL="171450" indent="-171450">
              <a:buClr>
                <a:schemeClr val="bg1"/>
              </a:buClr>
              <a:buFont typeface="Arial" panose="020B0604020202020204" pitchFamily="34" charset="0"/>
              <a:buChar char="•"/>
            </a:pPr>
            <a:r>
              <a:rPr lang="en-US" sz="1100" dirty="0">
                <a:solidFill>
                  <a:schemeClr val="bg1"/>
                </a:solidFill>
                <a:latin typeface="Calibri" panose="020F0502020204030204" pitchFamily="34" charset="0"/>
                <a:ea typeface="Calibri" panose="020F0502020204030204" pitchFamily="34" charset="0"/>
                <a:cs typeface="Calibri" panose="020F0502020204030204" pitchFamily="34" charset="0"/>
              </a:rPr>
              <a:t>Content about competition and policies drives more interaction </a:t>
            </a:r>
          </a:p>
          <a:p>
            <a:pPr marL="171450" indent="-171450">
              <a:buClr>
                <a:schemeClr val="bg1"/>
              </a:buClr>
              <a:buFont typeface="Arial" panose="020B0604020202020204" pitchFamily="34" charset="0"/>
              <a:buChar char="•"/>
            </a:pPr>
            <a:r>
              <a:rPr lang="en-US" sz="1100" dirty="0">
                <a:solidFill>
                  <a:schemeClr val="bg1"/>
                </a:solidFill>
                <a:latin typeface="Calibri" panose="020F0502020204030204" pitchFamily="34" charset="0"/>
                <a:ea typeface="Calibri" panose="020F0502020204030204" pitchFamily="34" charset="0"/>
                <a:cs typeface="Calibri" panose="020F0502020204030204" pitchFamily="34" charset="0"/>
              </a:rPr>
              <a:t>Informational topics (e.g., voting activity) get less engagement </a:t>
            </a:r>
          </a:p>
          <a:p>
            <a:pPr marL="171450" indent="-171450">
              <a:buClr>
                <a:schemeClr val="bg1"/>
              </a:buClr>
              <a:buFont typeface="Arial" panose="020B0604020202020204" pitchFamily="34" charset="0"/>
              <a:buChar char="•"/>
            </a:pPr>
            <a:r>
              <a:rPr lang="en-US" sz="1100" dirty="0">
                <a:solidFill>
                  <a:schemeClr val="bg1"/>
                </a:solidFill>
                <a:latin typeface="Calibri" panose="020F0502020204030204" pitchFamily="34" charset="0"/>
                <a:ea typeface="Calibri" panose="020F0502020204030204" pitchFamily="34" charset="0"/>
                <a:cs typeface="Calibri" panose="020F0502020204030204" pitchFamily="34" charset="0"/>
              </a:rPr>
              <a:t>Timing + topic together shape engagement pattern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857"/>
        <p:cNvGrpSpPr/>
        <p:nvPr/>
      </p:nvGrpSpPr>
      <p:grpSpPr>
        <a:xfrm>
          <a:off x="0" y="0"/>
          <a:ext cx="0" cy="0"/>
          <a:chOff x="0" y="0"/>
          <a:chExt cx="0" cy="0"/>
        </a:xfrm>
      </p:grpSpPr>
      <p:sp>
        <p:nvSpPr>
          <p:cNvPr id="858" name="Google Shape;858;p44"/>
          <p:cNvSpPr/>
          <p:nvPr/>
        </p:nvSpPr>
        <p:spPr>
          <a:xfrm>
            <a:off x="0" y="0"/>
            <a:ext cx="9144000" cy="621900"/>
          </a:xfrm>
          <a:prstGeom prst="rect">
            <a:avLst/>
          </a:prstGeom>
          <a:solidFill>
            <a:srgbClr val="112236"/>
          </a:solidFill>
          <a:ln w="12700" cap="flat" cmpd="sng">
            <a:solidFill>
              <a:srgbClr val="11223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44"/>
          <p:cNvSpPr/>
          <p:nvPr/>
        </p:nvSpPr>
        <p:spPr>
          <a:xfrm>
            <a:off x="0" y="0"/>
            <a:ext cx="128100" cy="621900"/>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44"/>
          <p:cNvSpPr/>
          <p:nvPr/>
        </p:nvSpPr>
        <p:spPr>
          <a:xfrm>
            <a:off x="182881" y="-73150"/>
            <a:ext cx="8778300" cy="621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3.5  TEMPORAL ANALYSIS — Topic Share by Period &amp; Popularity Heatmaps</a:t>
            </a:r>
            <a:endParaRPr sz="2000" b="0" i="0" u="none" strike="noStrike" cap="none">
              <a:solidFill>
                <a:schemeClr val="dk1"/>
              </a:solidFill>
              <a:latin typeface="Calibri"/>
              <a:ea typeface="Calibri"/>
              <a:cs typeface="Calibri"/>
              <a:sym typeface="Calibri"/>
            </a:endParaRPr>
          </a:p>
        </p:txBody>
      </p:sp>
      <p:pic>
        <p:nvPicPr>
          <p:cNvPr id="861" name="Google Shape;861;p44"/>
          <p:cNvPicPr preferRelativeResize="0"/>
          <p:nvPr/>
        </p:nvPicPr>
        <p:blipFill>
          <a:blip r:embed="rId3">
            <a:alphaModFix/>
          </a:blip>
          <a:stretch>
            <a:fillRect/>
          </a:stretch>
        </p:blipFill>
        <p:spPr>
          <a:xfrm>
            <a:off x="152425" y="1169200"/>
            <a:ext cx="8839199" cy="3124753"/>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857">
          <a:extLst>
            <a:ext uri="{FF2B5EF4-FFF2-40B4-BE49-F238E27FC236}">
              <a16:creationId xmlns:a16="http://schemas.microsoft.com/office/drawing/2014/main" id="{4429AF9A-7CC1-D4FE-0190-378AA65163C7}"/>
            </a:ext>
          </a:extLst>
        </p:cNvPr>
        <p:cNvGrpSpPr/>
        <p:nvPr/>
      </p:nvGrpSpPr>
      <p:grpSpPr>
        <a:xfrm>
          <a:off x="0" y="0"/>
          <a:ext cx="0" cy="0"/>
          <a:chOff x="0" y="0"/>
          <a:chExt cx="0" cy="0"/>
        </a:xfrm>
      </p:grpSpPr>
      <p:sp>
        <p:nvSpPr>
          <p:cNvPr id="859" name="Google Shape;859;p44">
            <a:extLst>
              <a:ext uri="{FF2B5EF4-FFF2-40B4-BE49-F238E27FC236}">
                <a16:creationId xmlns:a16="http://schemas.microsoft.com/office/drawing/2014/main" id="{2BF813C8-DD2E-7521-8CFA-D2C7314175B1}"/>
              </a:ext>
            </a:extLst>
          </p:cNvPr>
          <p:cNvSpPr/>
          <p:nvPr/>
        </p:nvSpPr>
        <p:spPr>
          <a:xfrm>
            <a:off x="0" y="0"/>
            <a:ext cx="128100" cy="621900"/>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869;p45">
            <a:extLst>
              <a:ext uri="{FF2B5EF4-FFF2-40B4-BE49-F238E27FC236}">
                <a16:creationId xmlns:a16="http://schemas.microsoft.com/office/drawing/2014/main" id="{101E2881-8A3D-F137-E985-B577B55D6CDD}"/>
              </a:ext>
            </a:extLst>
          </p:cNvPr>
          <p:cNvSpPr/>
          <p:nvPr/>
        </p:nvSpPr>
        <p:spPr>
          <a:xfrm>
            <a:off x="548640" y="1645920"/>
            <a:ext cx="91440" cy="1828800"/>
          </a:xfrm>
          <a:prstGeom prst="rect">
            <a:avLst/>
          </a:prstGeom>
          <a:solidFill>
            <a:srgbClr val="E67E22"/>
          </a:solidFill>
          <a:ln w="12700" cap="flat" cmpd="sng">
            <a:solidFill>
              <a:srgbClr val="E67E2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870;p45">
            <a:extLst>
              <a:ext uri="{FF2B5EF4-FFF2-40B4-BE49-F238E27FC236}">
                <a16:creationId xmlns:a16="http://schemas.microsoft.com/office/drawing/2014/main" id="{46D4830F-B1F6-B64E-8652-434FAC2EA096}"/>
              </a:ext>
            </a:extLst>
          </p:cNvPr>
          <p:cNvSpPr/>
          <p:nvPr/>
        </p:nvSpPr>
        <p:spPr>
          <a:xfrm>
            <a:off x="777240" y="1554480"/>
            <a:ext cx="2743200" cy="50292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E67E22"/>
              </a:buClr>
              <a:buSzPts val="1300"/>
              <a:buFont typeface="Calibri"/>
              <a:buNone/>
            </a:pPr>
            <a:r>
              <a:rPr lang="en-US" sz="1300" b="1" i="0" u="none" strike="noStrike" cap="none">
                <a:solidFill>
                  <a:srgbClr val="E67E22"/>
                </a:solidFill>
                <a:latin typeface="Calibri"/>
                <a:ea typeface="Calibri"/>
                <a:cs typeface="Calibri"/>
                <a:sym typeface="Calibri"/>
              </a:rPr>
              <a:t>SECTION 3.6</a:t>
            </a:r>
            <a:endParaRPr sz="1300" b="0" i="0" u="none" strike="noStrike" cap="none">
              <a:solidFill>
                <a:schemeClr val="dk1"/>
              </a:solidFill>
              <a:latin typeface="Calibri"/>
              <a:ea typeface="Calibri"/>
              <a:cs typeface="Calibri"/>
              <a:sym typeface="Calibri"/>
            </a:endParaRPr>
          </a:p>
        </p:txBody>
      </p:sp>
      <p:sp>
        <p:nvSpPr>
          <p:cNvPr id="4" name="Google Shape;871;p45">
            <a:extLst>
              <a:ext uri="{FF2B5EF4-FFF2-40B4-BE49-F238E27FC236}">
                <a16:creationId xmlns:a16="http://schemas.microsoft.com/office/drawing/2014/main" id="{63A70207-17D7-E0A1-6196-FA2C9DC01CE1}"/>
              </a:ext>
            </a:extLst>
          </p:cNvPr>
          <p:cNvSpPr/>
          <p:nvPr/>
        </p:nvSpPr>
        <p:spPr>
          <a:xfrm>
            <a:off x="777240" y="2011680"/>
            <a:ext cx="6858000" cy="109728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FFFFFF"/>
              </a:buClr>
              <a:buSzPts val="4000"/>
              <a:buFont typeface="Calibri"/>
              <a:buNone/>
            </a:pPr>
            <a:r>
              <a:rPr lang="en-US" sz="4000" b="1" i="0" u="none" strike="noStrike" cap="none" dirty="0">
                <a:solidFill>
                  <a:srgbClr val="FFFFFF"/>
                </a:solidFill>
                <a:latin typeface="Calibri"/>
                <a:ea typeface="Calibri"/>
                <a:cs typeface="Calibri"/>
                <a:sym typeface="Calibri"/>
              </a:rPr>
              <a:t>TRANSFORMER MODELS</a:t>
            </a:r>
            <a:endParaRPr sz="4000" b="0" i="0" u="none" strike="noStrike" cap="none" dirty="0">
              <a:solidFill>
                <a:schemeClr val="dk1"/>
              </a:solidFill>
              <a:latin typeface="Calibri"/>
              <a:ea typeface="Calibri"/>
              <a:cs typeface="Calibri"/>
              <a:sym typeface="Calibri"/>
            </a:endParaRPr>
          </a:p>
        </p:txBody>
      </p:sp>
      <p:sp>
        <p:nvSpPr>
          <p:cNvPr id="5" name="Google Shape;868;p45">
            <a:extLst>
              <a:ext uri="{FF2B5EF4-FFF2-40B4-BE49-F238E27FC236}">
                <a16:creationId xmlns:a16="http://schemas.microsoft.com/office/drawing/2014/main" id="{1087B810-AC16-9B25-D538-EF0DAEB6D6E1}"/>
              </a:ext>
            </a:extLst>
          </p:cNvPr>
          <p:cNvSpPr/>
          <p:nvPr/>
        </p:nvSpPr>
        <p:spPr>
          <a:xfrm>
            <a:off x="-914400" y="1828800"/>
            <a:ext cx="3200400" cy="3200400"/>
          </a:xfrm>
          <a:prstGeom prst="ellipse">
            <a:avLst/>
          </a:prstGeom>
          <a:solidFill>
            <a:srgbClr val="00C2D4">
              <a:alpha val="7843"/>
            </a:srgbClr>
          </a:solidFill>
          <a:ln w="12700" cap="flat" cmpd="sng">
            <a:solidFill>
              <a:srgbClr val="00C2D4">
                <a:alpha val="784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867;p45">
            <a:extLst>
              <a:ext uri="{FF2B5EF4-FFF2-40B4-BE49-F238E27FC236}">
                <a16:creationId xmlns:a16="http://schemas.microsoft.com/office/drawing/2014/main" id="{7A394D2D-4AA3-E4A3-869B-7B28A0496DDD}"/>
              </a:ext>
            </a:extLst>
          </p:cNvPr>
          <p:cNvSpPr/>
          <p:nvPr/>
        </p:nvSpPr>
        <p:spPr>
          <a:xfrm>
            <a:off x="5943600" y="-731520"/>
            <a:ext cx="4572000" cy="4572000"/>
          </a:xfrm>
          <a:prstGeom prst="ellipse">
            <a:avLst/>
          </a:prstGeom>
          <a:solidFill>
            <a:srgbClr val="E67E22">
              <a:alpha val="12156"/>
            </a:srgbClr>
          </a:solidFill>
          <a:ln w="12700" cap="flat" cmpd="sng">
            <a:solidFill>
              <a:srgbClr val="E67E22">
                <a:alpha val="12156"/>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57728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857">
          <a:extLst>
            <a:ext uri="{FF2B5EF4-FFF2-40B4-BE49-F238E27FC236}">
              <a16:creationId xmlns:a16="http://schemas.microsoft.com/office/drawing/2014/main" id="{9DCC33F3-AA77-75D5-41FB-88BF6839C846}"/>
            </a:ext>
          </a:extLst>
        </p:cNvPr>
        <p:cNvGrpSpPr/>
        <p:nvPr/>
      </p:nvGrpSpPr>
      <p:grpSpPr>
        <a:xfrm>
          <a:off x="0" y="0"/>
          <a:ext cx="0" cy="0"/>
          <a:chOff x="0" y="0"/>
          <a:chExt cx="0" cy="0"/>
        </a:xfrm>
      </p:grpSpPr>
      <p:sp>
        <p:nvSpPr>
          <p:cNvPr id="859" name="Google Shape;859;p44">
            <a:extLst>
              <a:ext uri="{FF2B5EF4-FFF2-40B4-BE49-F238E27FC236}">
                <a16:creationId xmlns:a16="http://schemas.microsoft.com/office/drawing/2014/main" id="{CE7BB9AB-87DA-1A7E-6EAD-703BA6CF6365}"/>
              </a:ext>
            </a:extLst>
          </p:cNvPr>
          <p:cNvSpPr/>
          <p:nvPr/>
        </p:nvSpPr>
        <p:spPr>
          <a:xfrm>
            <a:off x="0" y="0"/>
            <a:ext cx="128100" cy="621900"/>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868;p45">
            <a:extLst>
              <a:ext uri="{FF2B5EF4-FFF2-40B4-BE49-F238E27FC236}">
                <a16:creationId xmlns:a16="http://schemas.microsoft.com/office/drawing/2014/main" id="{2BCD42F4-563C-536A-BED8-CF4FF3C1EB29}"/>
              </a:ext>
            </a:extLst>
          </p:cNvPr>
          <p:cNvSpPr/>
          <p:nvPr/>
        </p:nvSpPr>
        <p:spPr>
          <a:xfrm>
            <a:off x="-914400" y="1828800"/>
            <a:ext cx="3200400" cy="3200400"/>
          </a:xfrm>
          <a:prstGeom prst="ellipse">
            <a:avLst/>
          </a:prstGeom>
          <a:solidFill>
            <a:srgbClr val="00C2D4">
              <a:alpha val="7843"/>
            </a:srgbClr>
          </a:solidFill>
          <a:ln w="12700" cap="flat" cmpd="sng">
            <a:solidFill>
              <a:srgbClr val="00C2D4">
                <a:alpha val="784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867;p45">
            <a:extLst>
              <a:ext uri="{FF2B5EF4-FFF2-40B4-BE49-F238E27FC236}">
                <a16:creationId xmlns:a16="http://schemas.microsoft.com/office/drawing/2014/main" id="{66BBE368-7DE0-69FC-9A9F-0C3DDFCC7F24}"/>
              </a:ext>
            </a:extLst>
          </p:cNvPr>
          <p:cNvSpPr/>
          <p:nvPr/>
        </p:nvSpPr>
        <p:spPr>
          <a:xfrm>
            <a:off x="5943600" y="-731520"/>
            <a:ext cx="4572000" cy="4572000"/>
          </a:xfrm>
          <a:prstGeom prst="ellipse">
            <a:avLst/>
          </a:prstGeom>
          <a:solidFill>
            <a:srgbClr val="E67E22">
              <a:alpha val="12156"/>
            </a:srgbClr>
          </a:solidFill>
          <a:ln w="12700" cap="flat" cmpd="sng">
            <a:solidFill>
              <a:srgbClr val="E67E22">
                <a:alpha val="12156"/>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878;p46">
            <a:extLst>
              <a:ext uri="{FF2B5EF4-FFF2-40B4-BE49-F238E27FC236}">
                <a16:creationId xmlns:a16="http://schemas.microsoft.com/office/drawing/2014/main" id="{DA0D334E-4231-FC69-E51E-773BE761D972}"/>
              </a:ext>
            </a:extLst>
          </p:cNvPr>
          <p:cNvSpPr/>
          <p:nvPr/>
        </p:nvSpPr>
        <p:spPr>
          <a:xfrm>
            <a:off x="0" y="0"/>
            <a:ext cx="128016" cy="621792"/>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79;p46">
            <a:extLst>
              <a:ext uri="{FF2B5EF4-FFF2-40B4-BE49-F238E27FC236}">
                <a16:creationId xmlns:a16="http://schemas.microsoft.com/office/drawing/2014/main" id="{8911BB06-B2DE-1D8E-15EE-BBF169DB0CFC}"/>
              </a:ext>
            </a:extLst>
          </p:cNvPr>
          <p:cNvSpPr/>
          <p:nvPr/>
        </p:nvSpPr>
        <p:spPr>
          <a:xfrm>
            <a:off x="219456" y="0"/>
            <a:ext cx="877824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3.6  TRANSFORMER MODELS — LLaMA-style Baseline (TF-IDF + LogReg)</a:t>
            </a:r>
            <a:endParaRPr sz="2000" b="0" i="0" u="none" strike="noStrike" cap="none">
              <a:solidFill>
                <a:schemeClr val="dk1"/>
              </a:solidFill>
              <a:latin typeface="Calibri"/>
              <a:ea typeface="Calibri"/>
              <a:cs typeface="Calibri"/>
              <a:sym typeface="Calibri"/>
            </a:endParaRPr>
          </a:p>
        </p:txBody>
      </p:sp>
      <p:pic>
        <p:nvPicPr>
          <p:cNvPr id="9" name="Picture 8">
            <a:extLst>
              <a:ext uri="{FF2B5EF4-FFF2-40B4-BE49-F238E27FC236}">
                <a16:creationId xmlns:a16="http://schemas.microsoft.com/office/drawing/2014/main" id="{708B3BFC-4EA6-4C87-03E6-B681CCD15E83}"/>
              </a:ext>
            </a:extLst>
          </p:cNvPr>
          <p:cNvPicPr>
            <a:picLocks noChangeAspect="1"/>
          </p:cNvPicPr>
          <p:nvPr/>
        </p:nvPicPr>
        <p:blipFill>
          <a:blip r:embed="rId3"/>
          <a:stretch>
            <a:fillRect/>
          </a:stretch>
        </p:blipFill>
        <p:spPr>
          <a:xfrm>
            <a:off x="559278" y="731502"/>
            <a:ext cx="4223163" cy="3887774"/>
          </a:xfrm>
          <a:prstGeom prst="rect">
            <a:avLst/>
          </a:prstGeom>
        </p:spPr>
      </p:pic>
      <p:pic>
        <p:nvPicPr>
          <p:cNvPr id="10" name="Picture 9">
            <a:extLst>
              <a:ext uri="{FF2B5EF4-FFF2-40B4-BE49-F238E27FC236}">
                <a16:creationId xmlns:a16="http://schemas.microsoft.com/office/drawing/2014/main" id="{A1558F59-E580-B099-1B4C-F6DAC2CEAB06}"/>
              </a:ext>
            </a:extLst>
          </p:cNvPr>
          <p:cNvPicPr>
            <a:picLocks noChangeAspect="1"/>
          </p:cNvPicPr>
          <p:nvPr/>
        </p:nvPicPr>
        <p:blipFill>
          <a:blip r:embed="rId4"/>
          <a:stretch>
            <a:fillRect/>
          </a:stretch>
        </p:blipFill>
        <p:spPr>
          <a:xfrm>
            <a:off x="5312533" y="673547"/>
            <a:ext cx="3187523" cy="4310644"/>
          </a:xfrm>
          <a:prstGeom prst="rect">
            <a:avLst/>
          </a:prstGeom>
        </p:spPr>
      </p:pic>
    </p:spTree>
    <p:extLst>
      <p:ext uri="{BB962C8B-B14F-4D97-AF65-F5344CB8AC3E}">
        <p14:creationId xmlns:p14="http://schemas.microsoft.com/office/powerpoint/2010/main" val="20391629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857">
          <a:extLst>
            <a:ext uri="{FF2B5EF4-FFF2-40B4-BE49-F238E27FC236}">
              <a16:creationId xmlns:a16="http://schemas.microsoft.com/office/drawing/2014/main" id="{C58D82D6-E435-4402-40C5-8F5593824720}"/>
            </a:ext>
          </a:extLst>
        </p:cNvPr>
        <p:cNvGrpSpPr/>
        <p:nvPr/>
      </p:nvGrpSpPr>
      <p:grpSpPr>
        <a:xfrm>
          <a:off x="0" y="0"/>
          <a:ext cx="0" cy="0"/>
          <a:chOff x="0" y="0"/>
          <a:chExt cx="0" cy="0"/>
        </a:xfrm>
      </p:grpSpPr>
      <p:sp>
        <p:nvSpPr>
          <p:cNvPr id="859" name="Google Shape;859;p44">
            <a:extLst>
              <a:ext uri="{FF2B5EF4-FFF2-40B4-BE49-F238E27FC236}">
                <a16:creationId xmlns:a16="http://schemas.microsoft.com/office/drawing/2014/main" id="{E1C2EA14-2BE0-A534-C7D2-C0BF100B8989}"/>
              </a:ext>
            </a:extLst>
          </p:cNvPr>
          <p:cNvSpPr/>
          <p:nvPr/>
        </p:nvSpPr>
        <p:spPr>
          <a:xfrm>
            <a:off x="0" y="0"/>
            <a:ext cx="128100" cy="621900"/>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868;p45">
            <a:extLst>
              <a:ext uri="{FF2B5EF4-FFF2-40B4-BE49-F238E27FC236}">
                <a16:creationId xmlns:a16="http://schemas.microsoft.com/office/drawing/2014/main" id="{DF2C6568-97C1-E203-91D1-A2AD0150A538}"/>
              </a:ext>
            </a:extLst>
          </p:cNvPr>
          <p:cNvSpPr/>
          <p:nvPr/>
        </p:nvSpPr>
        <p:spPr>
          <a:xfrm>
            <a:off x="-914400" y="1828800"/>
            <a:ext cx="3200400" cy="3200400"/>
          </a:xfrm>
          <a:prstGeom prst="ellipse">
            <a:avLst/>
          </a:prstGeom>
          <a:solidFill>
            <a:srgbClr val="00C2D4">
              <a:alpha val="7843"/>
            </a:srgbClr>
          </a:solidFill>
          <a:ln w="12700" cap="flat" cmpd="sng">
            <a:solidFill>
              <a:srgbClr val="00C2D4">
                <a:alpha val="784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867;p45">
            <a:extLst>
              <a:ext uri="{FF2B5EF4-FFF2-40B4-BE49-F238E27FC236}">
                <a16:creationId xmlns:a16="http://schemas.microsoft.com/office/drawing/2014/main" id="{E6C3AF75-0C25-CB62-90B6-0545B5ED7A49}"/>
              </a:ext>
            </a:extLst>
          </p:cNvPr>
          <p:cNvSpPr/>
          <p:nvPr/>
        </p:nvSpPr>
        <p:spPr>
          <a:xfrm>
            <a:off x="5943600" y="-731520"/>
            <a:ext cx="4572000" cy="4572000"/>
          </a:xfrm>
          <a:prstGeom prst="ellipse">
            <a:avLst/>
          </a:prstGeom>
          <a:solidFill>
            <a:srgbClr val="E67E22">
              <a:alpha val="12156"/>
            </a:srgbClr>
          </a:solidFill>
          <a:ln w="12700" cap="flat" cmpd="sng">
            <a:solidFill>
              <a:srgbClr val="E67E22">
                <a:alpha val="12156"/>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878;p46">
            <a:extLst>
              <a:ext uri="{FF2B5EF4-FFF2-40B4-BE49-F238E27FC236}">
                <a16:creationId xmlns:a16="http://schemas.microsoft.com/office/drawing/2014/main" id="{6CB81553-6680-C720-153A-B7D339336B07}"/>
              </a:ext>
            </a:extLst>
          </p:cNvPr>
          <p:cNvSpPr/>
          <p:nvPr/>
        </p:nvSpPr>
        <p:spPr>
          <a:xfrm>
            <a:off x="0" y="0"/>
            <a:ext cx="128016" cy="621792"/>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79;p46">
            <a:extLst>
              <a:ext uri="{FF2B5EF4-FFF2-40B4-BE49-F238E27FC236}">
                <a16:creationId xmlns:a16="http://schemas.microsoft.com/office/drawing/2014/main" id="{A4EC50AC-5719-D6A6-D1F3-1964C9F3EAB9}"/>
              </a:ext>
            </a:extLst>
          </p:cNvPr>
          <p:cNvSpPr/>
          <p:nvPr/>
        </p:nvSpPr>
        <p:spPr>
          <a:xfrm>
            <a:off x="219456" y="0"/>
            <a:ext cx="877824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3.6  TRANSFORMER MODELS — LLaMA-style Baseline (TF-IDF + LogReg)</a:t>
            </a:r>
            <a:endParaRPr sz="2000" b="0" i="0" u="none" strike="noStrike" cap="none">
              <a:solidFill>
                <a:schemeClr val="dk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D16E0237-7DCE-588A-B6B8-A4055F0947BA}"/>
              </a:ext>
            </a:extLst>
          </p:cNvPr>
          <p:cNvPicPr>
            <a:picLocks noChangeAspect="1"/>
          </p:cNvPicPr>
          <p:nvPr/>
        </p:nvPicPr>
        <p:blipFill>
          <a:blip r:embed="rId3"/>
          <a:stretch>
            <a:fillRect/>
          </a:stretch>
        </p:blipFill>
        <p:spPr>
          <a:xfrm>
            <a:off x="438389" y="645605"/>
            <a:ext cx="3366963" cy="4383595"/>
          </a:xfrm>
          <a:prstGeom prst="rect">
            <a:avLst/>
          </a:prstGeom>
        </p:spPr>
      </p:pic>
      <p:pic>
        <p:nvPicPr>
          <p:cNvPr id="3" name="Picture 2">
            <a:extLst>
              <a:ext uri="{FF2B5EF4-FFF2-40B4-BE49-F238E27FC236}">
                <a16:creationId xmlns:a16="http://schemas.microsoft.com/office/drawing/2014/main" id="{87B4A97E-B019-4345-365D-20B43E65E138}"/>
              </a:ext>
            </a:extLst>
          </p:cNvPr>
          <p:cNvPicPr>
            <a:picLocks noChangeAspect="1"/>
          </p:cNvPicPr>
          <p:nvPr/>
        </p:nvPicPr>
        <p:blipFill>
          <a:blip r:embed="rId4"/>
          <a:stretch>
            <a:fillRect/>
          </a:stretch>
        </p:blipFill>
        <p:spPr>
          <a:xfrm>
            <a:off x="3854816" y="1435068"/>
            <a:ext cx="4853615" cy="2026961"/>
          </a:xfrm>
          <a:prstGeom prst="rect">
            <a:avLst/>
          </a:prstGeom>
        </p:spPr>
      </p:pic>
    </p:spTree>
    <p:extLst>
      <p:ext uri="{BB962C8B-B14F-4D97-AF65-F5344CB8AC3E}">
        <p14:creationId xmlns:p14="http://schemas.microsoft.com/office/powerpoint/2010/main" val="21684882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857">
          <a:extLst>
            <a:ext uri="{FF2B5EF4-FFF2-40B4-BE49-F238E27FC236}">
              <a16:creationId xmlns:a16="http://schemas.microsoft.com/office/drawing/2014/main" id="{FEE2DFD7-1CB3-C616-D217-C6EBC9DC3A8F}"/>
            </a:ext>
          </a:extLst>
        </p:cNvPr>
        <p:cNvGrpSpPr/>
        <p:nvPr/>
      </p:nvGrpSpPr>
      <p:grpSpPr>
        <a:xfrm>
          <a:off x="0" y="0"/>
          <a:ext cx="0" cy="0"/>
          <a:chOff x="0" y="0"/>
          <a:chExt cx="0" cy="0"/>
        </a:xfrm>
      </p:grpSpPr>
      <p:sp>
        <p:nvSpPr>
          <p:cNvPr id="859" name="Google Shape;859;p44">
            <a:extLst>
              <a:ext uri="{FF2B5EF4-FFF2-40B4-BE49-F238E27FC236}">
                <a16:creationId xmlns:a16="http://schemas.microsoft.com/office/drawing/2014/main" id="{240D1A91-C159-2393-6DF9-C3673CD0E05B}"/>
              </a:ext>
            </a:extLst>
          </p:cNvPr>
          <p:cNvSpPr/>
          <p:nvPr/>
        </p:nvSpPr>
        <p:spPr>
          <a:xfrm>
            <a:off x="0" y="0"/>
            <a:ext cx="128100" cy="621900"/>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868;p45">
            <a:extLst>
              <a:ext uri="{FF2B5EF4-FFF2-40B4-BE49-F238E27FC236}">
                <a16:creationId xmlns:a16="http://schemas.microsoft.com/office/drawing/2014/main" id="{05804A4A-418C-9FF0-B621-E06BA97D3A93}"/>
              </a:ext>
            </a:extLst>
          </p:cNvPr>
          <p:cNvSpPr/>
          <p:nvPr/>
        </p:nvSpPr>
        <p:spPr>
          <a:xfrm>
            <a:off x="-914400" y="1828800"/>
            <a:ext cx="3200400" cy="3200400"/>
          </a:xfrm>
          <a:prstGeom prst="ellipse">
            <a:avLst/>
          </a:prstGeom>
          <a:solidFill>
            <a:srgbClr val="00C2D4">
              <a:alpha val="7843"/>
            </a:srgbClr>
          </a:solidFill>
          <a:ln w="12700" cap="flat" cmpd="sng">
            <a:solidFill>
              <a:srgbClr val="00C2D4">
                <a:alpha val="7843"/>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867;p45">
            <a:extLst>
              <a:ext uri="{FF2B5EF4-FFF2-40B4-BE49-F238E27FC236}">
                <a16:creationId xmlns:a16="http://schemas.microsoft.com/office/drawing/2014/main" id="{DBD28835-A280-E067-5C1A-1C66DD5B1E02}"/>
              </a:ext>
            </a:extLst>
          </p:cNvPr>
          <p:cNvSpPr/>
          <p:nvPr/>
        </p:nvSpPr>
        <p:spPr>
          <a:xfrm>
            <a:off x="5943600" y="-731520"/>
            <a:ext cx="4572000" cy="4572000"/>
          </a:xfrm>
          <a:prstGeom prst="ellipse">
            <a:avLst/>
          </a:prstGeom>
          <a:solidFill>
            <a:srgbClr val="E67E22">
              <a:alpha val="12156"/>
            </a:srgbClr>
          </a:solidFill>
          <a:ln w="12700" cap="flat" cmpd="sng">
            <a:solidFill>
              <a:srgbClr val="E67E22">
                <a:alpha val="12156"/>
              </a:srgb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878;p46">
            <a:extLst>
              <a:ext uri="{FF2B5EF4-FFF2-40B4-BE49-F238E27FC236}">
                <a16:creationId xmlns:a16="http://schemas.microsoft.com/office/drawing/2014/main" id="{2C354283-428F-4E8F-EBD7-A617BD8A1833}"/>
              </a:ext>
            </a:extLst>
          </p:cNvPr>
          <p:cNvSpPr/>
          <p:nvPr/>
        </p:nvSpPr>
        <p:spPr>
          <a:xfrm>
            <a:off x="0" y="0"/>
            <a:ext cx="128016" cy="621792"/>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79;p46">
            <a:extLst>
              <a:ext uri="{FF2B5EF4-FFF2-40B4-BE49-F238E27FC236}">
                <a16:creationId xmlns:a16="http://schemas.microsoft.com/office/drawing/2014/main" id="{7E2F6141-110D-9AFC-1915-0CDF53E81F13}"/>
              </a:ext>
            </a:extLst>
          </p:cNvPr>
          <p:cNvSpPr/>
          <p:nvPr/>
        </p:nvSpPr>
        <p:spPr>
          <a:xfrm>
            <a:off x="219456" y="0"/>
            <a:ext cx="8778240" cy="6217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i="0" u="none" strike="noStrike" cap="none">
                <a:solidFill>
                  <a:srgbClr val="FFFFFF"/>
                </a:solidFill>
                <a:latin typeface="Calibri"/>
                <a:ea typeface="Calibri"/>
                <a:cs typeface="Calibri"/>
                <a:sym typeface="Calibri"/>
              </a:rPr>
              <a:t>3.6  TRANSFORMER MODELS — LLaMA-style Baseline (TF-IDF + LogReg)</a:t>
            </a:r>
            <a:endParaRPr sz="2000" b="0" i="0" u="none" strike="noStrike" cap="none">
              <a:solidFill>
                <a:schemeClr val="dk1"/>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6682E93D-FDA1-900D-4CA3-3F693A7752BD}"/>
              </a:ext>
            </a:extLst>
          </p:cNvPr>
          <p:cNvPicPr>
            <a:picLocks noChangeAspect="1"/>
          </p:cNvPicPr>
          <p:nvPr/>
        </p:nvPicPr>
        <p:blipFill>
          <a:blip r:embed="rId3"/>
          <a:stretch>
            <a:fillRect/>
          </a:stretch>
        </p:blipFill>
        <p:spPr>
          <a:xfrm>
            <a:off x="128016" y="2989127"/>
            <a:ext cx="4572773" cy="1900857"/>
          </a:xfrm>
          <a:prstGeom prst="rect">
            <a:avLst/>
          </a:prstGeom>
        </p:spPr>
      </p:pic>
      <p:pic>
        <p:nvPicPr>
          <p:cNvPr id="9" name="Picture 8">
            <a:extLst>
              <a:ext uri="{FF2B5EF4-FFF2-40B4-BE49-F238E27FC236}">
                <a16:creationId xmlns:a16="http://schemas.microsoft.com/office/drawing/2014/main" id="{9403E199-C037-DC12-2860-815BE0482CC9}"/>
              </a:ext>
            </a:extLst>
          </p:cNvPr>
          <p:cNvPicPr>
            <a:picLocks noChangeAspect="1"/>
          </p:cNvPicPr>
          <p:nvPr/>
        </p:nvPicPr>
        <p:blipFill>
          <a:blip r:embed="rId4"/>
          <a:stretch>
            <a:fillRect/>
          </a:stretch>
        </p:blipFill>
        <p:spPr>
          <a:xfrm>
            <a:off x="128016" y="802100"/>
            <a:ext cx="4572773" cy="2006719"/>
          </a:xfrm>
          <a:prstGeom prst="rect">
            <a:avLst/>
          </a:prstGeom>
        </p:spPr>
      </p:pic>
      <p:pic>
        <p:nvPicPr>
          <p:cNvPr id="10" name="Picture 9">
            <a:extLst>
              <a:ext uri="{FF2B5EF4-FFF2-40B4-BE49-F238E27FC236}">
                <a16:creationId xmlns:a16="http://schemas.microsoft.com/office/drawing/2014/main" id="{5E29DB78-5FED-A8D3-3C89-65B084631FD7}"/>
              </a:ext>
            </a:extLst>
          </p:cNvPr>
          <p:cNvPicPr>
            <a:picLocks noChangeAspect="1"/>
          </p:cNvPicPr>
          <p:nvPr/>
        </p:nvPicPr>
        <p:blipFill>
          <a:blip r:embed="rId5"/>
          <a:stretch>
            <a:fillRect/>
          </a:stretch>
        </p:blipFill>
        <p:spPr>
          <a:xfrm>
            <a:off x="4800406" y="1648495"/>
            <a:ext cx="4215578" cy="1629178"/>
          </a:xfrm>
          <a:prstGeom prst="rect">
            <a:avLst/>
          </a:prstGeom>
        </p:spPr>
      </p:pic>
    </p:spTree>
    <p:extLst>
      <p:ext uri="{BB962C8B-B14F-4D97-AF65-F5344CB8AC3E}">
        <p14:creationId xmlns:p14="http://schemas.microsoft.com/office/powerpoint/2010/main" val="35694815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9144000" cy="51435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428625" y="1307306"/>
            <a:ext cx="2643188" cy="1543050"/>
          </a:xfrm>
          <a:prstGeom prst="rect">
            <a:avLst/>
          </a:prstGeom>
          <a:noFill/>
          <a:ln>
            <a:noFill/>
          </a:ln>
        </p:spPr>
      </p:pic>
      <p:pic>
        <p:nvPicPr>
          <p:cNvPr id="86" name="Google Shape;86;p13" descr="image.png"/>
          <p:cNvPicPr preferRelativeResize="0"/>
          <p:nvPr/>
        </p:nvPicPr>
        <p:blipFill rotWithShape="1">
          <a:blip r:embed="rId4">
            <a:alphaModFix/>
          </a:blip>
          <a:srcRect/>
          <a:stretch/>
        </p:blipFill>
        <p:spPr>
          <a:xfrm>
            <a:off x="3250406" y="1307306"/>
            <a:ext cx="2643188" cy="1543050"/>
          </a:xfrm>
          <a:prstGeom prst="rect">
            <a:avLst/>
          </a:prstGeom>
          <a:noFill/>
          <a:ln>
            <a:noFill/>
          </a:ln>
        </p:spPr>
      </p:pic>
      <p:pic>
        <p:nvPicPr>
          <p:cNvPr id="88" name="Google Shape;88;p13" descr="image.png"/>
          <p:cNvPicPr preferRelativeResize="0"/>
          <p:nvPr/>
        </p:nvPicPr>
        <p:blipFill rotWithShape="1">
          <a:blip r:embed="rId4">
            <a:alphaModFix/>
          </a:blip>
          <a:srcRect/>
          <a:stretch/>
        </p:blipFill>
        <p:spPr>
          <a:xfrm>
            <a:off x="428625" y="3028950"/>
            <a:ext cx="2643188" cy="1543050"/>
          </a:xfrm>
          <a:prstGeom prst="rect">
            <a:avLst/>
          </a:prstGeom>
          <a:noFill/>
          <a:ln>
            <a:noFill/>
          </a:ln>
        </p:spPr>
      </p:pic>
      <p:pic>
        <p:nvPicPr>
          <p:cNvPr id="89" name="Google Shape;89;p13" descr="image.png"/>
          <p:cNvPicPr preferRelativeResize="0"/>
          <p:nvPr/>
        </p:nvPicPr>
        <p:blipFill rotWithShape="1">
          <a:blip r:embed="rId4">
            <a:alphaModFix/>
          </a:blip>
          <a:srcRect/>
          <a:stretch/>
        </p:blipFill>
        <p:spPr>
          <a:xfrm>
            <a:off x="3250406" y="3028950"/>
            <a:ext cx="2643188" cy="1543050"/>
          </a:xfrm>
          <a:prstGeom prst="rect">
            <a:avLst/>
          </a:prstGeom>
          <a:noFill/>
          <a:ln>
            <a:noFill/>
          </a:ln>
        </p:spPr>
      </p:pic>
      <p:pic>
        <p:nvPicPr>
          <p:cNvPr id="90" name="Google Shape;90;p13" descr="image.png"/>
          <p:cNvPicPr preferRelativeResize="0"/>
          <p:nvPr/>
        </p:nvPicPr>
        <p:blipFill rotWithShape="1">
          <a:blip r:embed="rId4">
            <a:alphaModFix/>
          </a:blip>
          <a:srcRect/>
          <a:stretch/>
        </p:blipFill>
        <p:spPr>
          <a:xfrm>
            <a:off x="6072187" y="3028950"/>
            <a:ext cx="2643188" cy="1543050"/>
          </a:xfrm>
          <a:prstGeom prst="rect">
            <a:avLst/>
          </a:prstGeom>
          <a:noFill/>
          <a:ln>
            <a:noFill/>
          </a:ln>
        </p:spPr>
      </p:pic>
      <p:sp>
        <p:nvSpPr>
          <p:cNvPr id="91" name="Google Shape;91;p13"/>
          <p:cNvSpPr txBox="1"/>
          <p:nvPr/>
        </p:nvSpPr>
        <p:spPr>
          <a:xfrm>
            <a:off x="607219" y="1800225"/>
            <a:ext cx="2400300" cy="173124"/>
          </a:xfrm>
          <a:prstGeom prst="rect">
            <a:avLst/>
          </a:prstGeom>
          <a:noFill/>
          <a:ln>
            <a:noFill/>
          </a:ln>
        </p:spPr>
        <p:txBody>
          <a:bodyPr spcFirstLastPara="1" wrap="square" lIns="0" tIns="0" rIns="0" bIns="0" anchor="t" anchorCtr="0">
            <a:spAutoFit/>
          </a:bodyPr>
          <a:lstStyle/>
          <a:p>
            <a:r>
              <a:rPr lang="en-US" sz="1125" b="1">
                <a:solidFill>
                  <a:srgbClr val="FFFFFF"/>
                </a:solidFill>
                <a:latin typeface="Poppins"/>
                <a:ea typeface="Poppins"/>
                <a:cs typeface="Poppins"/>
                <a:sym typeface="Poppins"/>
              </a:rPr>
              <a:t>EDA &amp; Sentiment</a:t>
            </a:r>
            <a:endParaRPr sz="1050"/>
          </a:p>
        </p:txBody>
      </p:sp>
      <p:sp>
        <p:nvSpPr>
          <p:cNvPr id="92" name="Google Shape;92;p13"/>
          <p:cNvSpPr txBox="1"/>
          <p:nvPr/>
        </p:nvSpPr>
        <p:spPr>
          <a:xfrm>
            <a:off x="607219" y="2071687"/>
            <a:ext cx="2286000" cy="545534"/>
          </a:xfrm>
          <a:prstGeom prst="rect">
            <a:avLst/>
          </a:prstGeom>
          <a:noFill/>
          <a:ln>
            <a:noFill/>
          </a:ln>
        </p:spPr>
        <p:txBody>
          <a:bodyPr spcFirstLastPara="1" wrap="square" lIns="0" tIns="0" rIns="0" bIns="0" anchor="t" anchorCtr="0">
            <a:spAutoFit/>
          </a:bodyPr>
          <a:lstStyle/>
          <a:p>
            <a:pPr>
              <a:lnSpc>
                <a:spcPct val="140000"/>
              </a:lnSpc>
            </a:pPr>
            <a:r>
              <a:rPr lang="en-US" sz="844" dirty="0">
                <a:solidFill>
                  <a:srgbClr val="BDC3C7"/>
                </a:solidFill>
                <a:latin typeface="Lato"/>
                <a:ea typeface="Lato"/>
                <a:cs typeface="Lato"/>
                <a:sym typeface="Lato"/>
              </a:rPr>
              <a:t>Tweet volume peaked on </a:t>
            </a:r>
            <a:r>
              <a:rPr lang="en-US" sz="844" b="1" dirty="0">
                <a:solidFill>
                  <a:srgbClr val="F1C40F"/>
                </a:solidFill>
                <a:latin typeface="Lato"/>
                <a:ea typeface="Lato"/>
                <a:cs typeface="Lato"/>
                <a:sym typeface="Lato"/>
              </a:rPr>
              <a:t>18 May 2019</a:t>
            </a:r>
            <a:r>
              <a:rPr lang="en-US" sz="844" dirty="0">
                <a:solidFill>
                  <a:srgbClr val="BDC3C7"/>
                </a:solidFill>
                <a:latin typeface="Lato"/>
                <a:ea typeface="Lato"/>
                <a:cs typeface="Lato"/>
                <a:sym typeface="Lato"/>
              </a:rPr>
              <a:t>. Sentiment remained volatile and event-driven, showing no sustained pre/post-election shifts.</a:t>
            </a:r>
            <a:endParaRPr sz="1050" dirty="0"/>
          </a:p>
        </p:txBody>
      </p:sp>
      <p:sp>
        <p:nvSpPr>
          <p:cNvPr id="93" name="Google Shape;93;p13"/>
          <p:cNvSpPr txBox="1"/>
          <p:nvPr/>
        </p:nvSpPr>
        <p:spPr>
          <a:xfrm>
            <a:off x="3429000" y="1800225"/>
            <a:ext cx="2400300" cy="173124"/>
          </a:xfrm>
          <a:prstGeom prst="rect">
            <a:avLst/>
          </a:prstGeom>
          <a:noFill/>
          <a:ln>
            <a:noFill/>
          </a:ln>
        </p:spPr>
        <p:txBody>
          <a:bodyPr spcFirstLastPara="1" wrap="square" lIns="0" tIns="0" rIns="0" bIns="0" anchor="t" anchorCtr="0">
            <a:spAutoFit/>
          </a:bodyPr>
          <a:lstStyle/>
          <a:p>
            <a:r>
              <a:rPr lang="en-US" sz="1125" b="1">
                <a:solidFill>
                  <a:srgbClr val="FFFFFF"/>
                </a:solidFill>
                <a:latin typeface="Poppins"/>
                <a:ea typeface="Poppins"/>
                <a:cs typeface="Poppins"/>
                <a:sym typeface="Poppins"/>
              </a:rPr>
              <a:t>Topic Modeling</a:t>
            </a:r>
            <a:endParaRPr sz="1050"/>
          </a:p>
        </p:txBody>
      </p:sp>
      <p:sp>
        <p:nvSpPr>
          <p:cNvPr id="94" name="Google Shape;94;p13"/>
          <p:cNvSpPr txBox="1"/>
          <p:nvPr/>
        </p:nvSpPr>
        <p:spPr>
          <a:xfrm>
            <a:off x="3429000" y="2071688"/>
            <a:ext cx="2286000" cy="545534"/>
          </a:xfrm>
          <a:prstGeom prst="rect">
            <a:avLst/>
          </a:prstGeom>
          <a:noFill/>
          <a:ln>
            <a:noFill/>
          </a:ln>
        </p:spPr>
        <p:txBody>
          <a:bodyPr spcFirstLastPara="1" wrap="square" lIns="0" tIns="0" rIns="0" bIns="0" anchor="t" anchorCtr="0">
            <a:spAutoFit/>
          </a:bodyPr>
          <a:lstStyle/>
          <a:p>
            <a:pPr>
              <a:lnSpc>
                <a:spcPct val="140000"/>
              </a:lnSpc>
            </a:pPr>
            <a:r>
              <a:rPr lang="en-US" sz="844">
                <a:solidFill>
                  <a:srgbClr val="BDC3C7"/>
                </a:solidFill>
                <a:latin typeface="Lato"/>
                <a:ea typeface="Lato"/>
                <a:cs typeface="Lato"/>
                <a:sym typeface="Lato"/>
              </a:rPr>
              <a:t>LDA revealed 5 key themes: </a:t>
            </a:r>
            <a:r>
              <a:rPr lang="en-US" sz="844" b="1">
                <a:solidFill>
                  <a:srgbClr val="F1C40F"/>
                </a:solidFill>
                <a:latin typeface="Lato"/>
                <a:ea typeface="Lato"/>
                <a:cs typeface="Lato"/>
                <a:sym typeface="Lato"/>
              </a:rPr>
              <a:t>Civic Sentiment</a:t>
            </a:r>
            <a:r>
              <a:rPr lang="en-US" sz="844">
                <a:solidFill>
                  <a:srgbClr val="BDC3C7"/>
                </a:solidFill>
                <a:latin typeface="Lato"/>
                <a:ea typeface="Lato"/>
                <a:cs typeface="Lato"/>
                <a:sym typeface="Lato"/>
              </a:rPr>
              <a:t>, </a:t>
            </a:r>
            <a:r>
              <a:rPr lang="en-US" sz="844" b="1">
                <a:solidFill>
                  <a:srgbClr val="F1C40F"/>
                </a:solidFill>
                <a:latin typeface="Lato"/>
                <a:ea typeface="Lato"/>
                <a:cs typeface="Lato"/>
                <a:sym typeface="Lato"/>
              </a:rPr>
              <a:t>Leaders/Parties</a:t>
            </a:r>
            <a:r>
              <a:rPr lang="en-US" sz="844">
                <a:solidFill>
                  <a:srgbClr val="BDC3C7"/>
                </a:solidFill>
                <a:latin typeface="Lato"/>
                <a:ea typeface="Lato"/>
                <a:cs typeface="Lato"/>
                <a:sym typeface="Lato"/>
              </a:rPr>
              <a:t>, </a:t>
            </a:r>
            <a:r>
              <a:rPr lang="en-US" sz="844" b="1">
                <a:solidFill>
                  <a:srgbClr val="F1C40F"/>
                </a:solidFill>
                <a:latin typeface="Lato"/>
                <a:ea typeface="Lato"/>
                <a:cs typeface="Lato"/>
                <a:sym typeface="Lato"/>
              </a:rPr>
              <a:t>Electoral History</a:t>
            </a:r>
            <a:r>
              <a:rPr lang="en-US" sz="844">
                <a:solidFill>
                  <a:srgbClr val="BDC3C7"/>
                </a:solidFill>
                <a:latin typeface="Lato"/>
                <a:ea typeface="Lato"/>
                <a:cs typeface="Lato"/>
                <a:sym typeface="Lato"/>
              </a:rPr>
              <a:t>, </a:t>
            </a:r>
            <a:r>
              <a:rPr lang="en-US" sz="844" b="1">
                <a:solidFill>
                  <a:srgbClr val="F1C40F"/>
                </a:solidFill>
                <a:latin typeface="Lato"/>
                <a:ea typeface="Lato"/>
                <a:cs typeface="Lato"/>
                <a:sym typeface="Lato"/>
              </a:rPr>
              <a:t>Democracy Sausage</a:t>
            </a:r>
            <a:r>
              <a:rPr lang="en-US" sz="844">
                <a:solidFill>
                  <a:srgbClr val="BDC3C7"/>
                </a:solidFill>
                <a:latin typeface="Lato"/>
                <a:ea typeface="Lato"/>
                <a:cs typeface="Lato"/>
                <a:sym typeface="Lato"/>
              </a:rPr>
              <a:t>, and </a:t>
            </a:r>
            <a:r>
              <a:rPr lang="en-US" sz="844" b="1">
                <a:solidFill>
                  <a:srgbClr val="F1C40F"/>
                </a:solidFill>
                <a:latin typeface="Lato"/>
                <a:ea typeface="Lato"/>
                <a:cs typeface="Lato"/>
                <a:sym typeface="Lato"/>
              </a:rPr>
              <a:t>Policy Debate</a:t>
            </a:r>
            <a:r>
              <a:rPr lang="en-US" sz="844">
                <a:solidFill>
                  <a:srgbClr val="BDC3C7"/>
                </a:solidFill>
                <a:latin typeface="Lato"/>
                <a:ea typeface="Lato"/>
                <a:cs typeface="Lato"/>
                <a:sym typeface="Lato"/>
              </a:rPr>
              <a:t>.</a:t>
            </a:r>
            <a:endParaRPr sz="1050"/>
          </a:p>
        </p:txBody>
      </p:sp>
      <p:sp>
        <p:nvSpPr>
          <p:cNvPr id="97" name="Google Shape;97;p13"/>
          <p:cNvSpPr txBox="1"/>
          <p:nvPr/>
        </p:nvSpPr>
        <p:spPr>
          <a:xfrm>
            <a:off x="607219" y="3521869"/>
            <a:ext cx="2400300" cy="173124"/>
          </a:xfrm>
          <a:prstGeom prst="rect">
            <a:avLst/>
          </a:prstGeom>
          <a:noFill/>
          <a:ln>
            <a:noFill/>
          </a:ln>
        </p:spPr>
        <p:txBody>
          <a:bodyPr spcFirstLastPara="1" wrap="square" lIns="0" tIns="0" rIns="0" bIns="0" anchor="t" anchorCtr="0">
            <a:spAutoFit/>
          </a:bodyPr>
          <a:lstStyle/>
          <a:p>
            <a:r>
              <a:rPr lang="en-US" sz="1125" b="1">
                <a:solidFill>
                  <a:srgbClr val="FFFFFF"/>
                </a:solidFill>
                <a:latin typeface="Poppins"/>
                <a:ea typeface="Poppins"/>
                <a:cs typeface="Poppins"/>
                <a:sym typeface="Poppins"/>
              </a:rPr>
              <a:t>The Emotion Myth</a:t>
            </a:r>
            <a:endParaRPr sz="1050"/>
          </a:p>
        </p:txBody>
      </p:sp>
      <p:sp>
        <p:nvSpPr>
          <p:cNvPr id="98" name="Google Shape;98;p13"/>
          <p:cNvSpPr txBox="1"/>
          <p:nvPr/>
        </p:nvSpPr>
        <p:spPr>
          <a:xfrm>
            <a:off x="607219" y="3793331"/>
            <a:ext cx="2286000" cy="727379"/>
          </a:xfrm>
          <a:prstGeom prst="rect">
            <a:avLst/>
          </a:prstGeom>
          <a:noFill/>
          <a:ln>
            <a:noFill/>
          </a:ln>
        </p:spPr>
        <p:txBody>
          <a:bodyPr spcFirstLastPara="1" wrap="square" lIns="0" tIns="0" rIns="0" bIns="0" anchor="t" anchorCtr="0">
            <a:spAutoFit/>
          </a:bodyPr>
          <a:lstStyle/>
          <a:p>
            <a:pPr>
              <a:lnSpc>
                <a:spcPct val="140000"/>
              </a:lnSpc>
            </a:pPr>
            <a:r>
              <a:rPr lang="en-US" sz="844">
                <a:solidFill>
                  <a:srgbClr val="BDC3C7"/>
                </a:solidFill>
                <a:latin typeface="Lato"/>
                <a:ea typeface="Lato"/>
                <a:cs typeface="Lato"/>
                <a:sym typeface="Lato"/>
              </a:rPr>
              <a:t>Contrary to common belief, negative emotions </a:t>
            </a:r>
            <a:r>
              <a:rPr lang="en-US" sz="844" b="1">
                <a:solidFill>
                  <a:srgbClr val="F1C40F"/>
                </a:solidFill>
                <a:latin typeface="Lato"/>
                <a:ea typeface="Lato"/>
                <a:cs typeface="Lato"/>
                <a:sym typeface="Lato"/>
              </a:rPr>
              <a:t>did not drive virality</a:t>
            </a:r>
            <a:r>
              <a:rPr lang="en-US" sz="844">
                <a:solidFill>
                  <a:srgbClr val="BDC3C7"/>
                </a:solidFill>
                <a:latin typeface="Lato"/>
                <a:ea typeface="Lato"/>
                <a:cs typeface="Lato"/>
                <a:sym typeface="Lato"/>
              </a:rPr>
              <a:t>. Correlations between engagement and all NRC emotions were negligible (|r| ≤ 0.03).</a:t>
            </a:r>
            <a:endParaRPr sz="1050"/>
          </a:p>
        </p:txBody>
      </p:sp>
      <p:sp>
        <p:nvSpPr>
          <p:cNvPr id="99" name="Google Shape;99;p13"/>
          <p:cNvSpPr txBox="1"/>
          <p:nvPr/>
        </p:nvSpPr>
        <p:spPr>
          <a:xfrm>
            <a:off x="3429000" y="3521869"/>
            <a:ext cx="2400300" cy="173124"/>
          </a:xfrm>
          <a:prstGeom prst="rect">
            <a:avLst/>
          </a:prstGeom>
          <a:noFill/>
          <a:ln>
            <a:noFill/>
          </a:ln>
        </p:spPr>
        <p:txBody>
          <a:bodyPr spcFirstLastPara="1" wrap="square" lIns="0" tIns="0" rIns="0" bIns="0" anchor="t" anchorCtr="0">
            <a:spAutoFit/>
          </a:bodyPr>
          <a:lstStyle/>
          <a:p>
            <a:r>
              <a:rPr lang="en-US" sz="1125" b="1">
                <a:solidFill>
                  <a:srgbClr val="FFFFFF"/>
                </a:solidFill>
                <a:latin typeface="Poppins"/>
                <a:ea typeface="Poppins"/>
                <a:cs typeface="Poppins"/>
                <a:sym typeface="Poppins"/>
              </a:rPr>
              <a:t>Transformer Evaluation</a:t>
            </a:r>
            <a:endParaRPr sz="1050"/>
          </a:p>
        </p:txBody>
      </p:sp>
      <p:sp>
        <p:nvSpPr>
          <p:cNvPr id="100" name="Google Shape;100;p13"/>
          <p:cNvSpPr txBox="1"/>
          <p:nvPr/>
        </p:nvSpPr>
        <p:spPr>
          <a:xfrm>
            <a:off x="3429000" y="3793331"/>
            <a:ext cx="2286000" cy="545534"/>
          </a:xfrm>
          <a:prstGeom prst="rect">
            <a:avLst/>
          </a:prstGeom>
          <a:noFill/>
          <a:ln>
            <a:noFill/>
          </a:ln>
        </p:spPr>
        <p:txBody>
          <a:bodyPr spcFirstLastPara="1" wrap="square" lIns="0" tIns="0" rIns="0" bIns="0" anchor="t" anchorCtr="0">
            <a:spAutoFit/>
          </a:bodyPr>
          <a:lstStyle/>
          <a:p>
            <a:pPr>
              <a:lnSpc>
                <a:spcPct val="140000"/>
              </a:lnSpc>
            </a:pPr>
            <a:r>
              <a:rPr lang="en-US" sz="844">
                <a:solidFill>
                  <a:srgbClr val="BDC3C7"/>
                </a:solidFill>
                <a:latin typeface="Lato"/>
                <a:ea typeface="Lato"/>
                <a:cs typeface="Lato"/>
                <a:sym typeface="Lato"/>
              </a:rPr>
              <a:t>BERT-based models disagreed with "Silver Labels" (TextBlob). Evaluation rewards mimicry of rule-based signals rather than human nuance.</a:t>
            </a:r>
            <a:endParaRPr sz="1050"/>
          </a:p>
        </p:txBody>
      </p:sp>
      <p:sp>
        <p:nvSpPr>
          <p:cNvPr id="101" name="Google Shape;101;p13"/>
          <p:cNvSpPr txBox="1"/>
          <p:nvPr/>
        </p:nvSpPr>
        <p:spPr>
          <a:xfrm>
            <a:off x="6250781" y="3521869"/>
            <a:ext cx="2400300" cy="173124"/>
          </a:xfrm>
          <a:prstGeom prst="rect">
            <a:avLst/>
          </a:prstGeom>
          <a:noFill/>
          <a:ln>
            <a:noFill/>
          </a:ln>
        </p:spPr>
        <p:txBody>
          <a:bodyPr spcFirstLastPara="1" wrap="square" lIns="0" tIns="0" rIns="0" bIns="0" anchor="t" anchorCtr="0">
            <a:spAutoFit/>
          </a:bodyPr>
          <a:lstStyle/>
          <a:p>
            <a:r>
              <a:rPr lang="en-US" sz="1125" b="1">
                <a:solidFill>
                  <a:srgbClr val="FFFFFF"/>
                </a:solidFill>
                <a:latin typeface="Poppins"/>
                <a:ea typeface="Poppins"/>
                <a:cs typeface="Poppins"/>
                <a:sym typeface="Poppins"/>
              </a:rPr>
              <a:t>Key Takeaway</a:t>
            </a:r>
            <a:endParaRPr sz="1050"/>
          </a:p>
        </p:txBody>
      </p:sp>
      <p:sp>
        <p:nvSpPr>
          <p:cNvPr id="102" name="Google Shape;102;p13"/>
          <p:cNvSpPr txBox="1"/>
          <p:nvPr/>
        </p:nvSpPr>
        <p:spPr>
          <a:xfrm>
            <a:off x="6250781" y="3793331"/>
            <a:ext cx="2286000" cy="545534"/>
          </a:xfrm>
          <a:prstGeom prst="rect">
            <a:avLst/>
          </a:prstGeom>
          <a:noFill/>
          <a:ln>
            <a:noFill/>
          </a:ln>
        </p:spPr>
        <p:txBody>
          <a:bodyPr spcFirstLastPara="1" wrap="square" lIns="0" tIns="0" rIns="0" bIns="0" anchor="t" anchorCtr="0">
            <a:spAutoFit/>
          </a:bodyPr>
          <a:lstStyle/>
          <a:p>
            <a:pPr>
              <a:lnSpc>
                <a:spcPct val="140000"/>
              </a:lnSpc>
            </a:pPr>
            <a:r>
              <a:rPr lang="en-US" sz="844">
                <a:solidFill>
                  <a:srgbClr val="BDC3C7"/>
                </a:solidFill>
                <a:latin typeface="Lato"/>
                <a:ea typeface="Lato"/>
                <a:cs typeface="Lato"/>
                <a:sym typeface="Lato"/>
              </a:rPr>
              <a:t>The strongest predictor of retweets was </a:t>
            </a:r>
            <a:r>
              <a:rPr lang="en-US" sz="844" b="1">
                <a:solidFill>
                  <a:srgbClr val="F1C40F"/>
                </a:solidFill>
                <a:latin typeface="Lato"/>
                <a:ea typeface="Lato"/>
                <a:cs typeface="Lato"/>
                <a:sym typeface="Lato"/>
              </a:rPr>
              <a:t>favorite count (0.92)</a:t>
            </a:r>
            <a:r>
              <a:rPr lang="en-US" sz="844">
                <a:solidFill>
                  <a:srgbClr val="BDC3C7"/>
                </a:solidFill>
                <a:latin typeface="Lato"/>
                <a:ea typeface="Lato"/>
                <a:cs typeface="Lato"/>
                <a:sym typeface="Lato"/>
              </a:rPr>
              <a:t>—a mechanical byproduct of popularity rather than a content-driven signal.</a:t>
            </a:r>
            <a:endParaRPr sz="1050"/>
          </a:p>
        </p:txBody>
      </p:sp>
      <p:pic>
        <p:nvPicPr>
          <p:cNvPr id="103" name="Google Shape;103;p13" descr="image.png"/>
          <p:cNvPicPr preferRelativeResize="0"/>
          <p:nvPr/>
        </p:nvPicPr>
        <p:blipFill rotWithShape="1">
          <a:blip r:embed="rId5">
            <a:alphaModFix/>
          </a:blip>
          <a:srcRect/>
          <a:stretch/>
        </p:blipFill>
        <p:spPr>
          <a:xfrm>
            <a:off x="607219" y="1507331"/>
            <a:ext cx="171450" cy="171450"/>
          </a:xfrm>
          <a:prstGeom prst="rect">
            <a:avLst/>
          </a:prstGeom>
          <a:noFill/>
          <a:ln>
            <a:noFill/>
          </a:ln>
        </p:spPr>
      </p:pic>
      <p:pic>
        <p:nvPicPr>
          <p:cNvPr id="104" name="Google Shape;104;p13" descr="image.png"/>
          <p:cNvPicPr preferRelativeResize="0"/>
          <p:nvPr/>
        </p:nvPicPr>
        <p:blipFill rotWithShape="1">
          <a:blip r:embed="rId6">
            <a:alphaModFix/>
          </a:blip>
          <a:srcRect/>
          <a:stretch/>
        </p:blipFill>
        <p:spPr>
          <a:xfrm>
            <a:off x="3429000" y="1507331"/>
            <a:ext cx="171450" cy="171450"/>
          </a:xfrm>
          <a:prstGeom prst="rect">
            <a:avLst/>
          </a:prstGeom>
          <a:noFill/>
          <a:ln>
            <a:noFill/>
          </a:ln>
        </p:spPr>
      </p:pic>
      <p:pic>
        <p:nvPicPr>
          <p:cNvPr id="106" name="Google Shape;106;p13" descr="image.png"/>
          <p:cNvPicPr preferRelativeResize="0"/>
          <p:nvPr/>
        </p:nvPicPr>
        <p:blipFill rotWithShape="1">
          <a:blip r:embed="rId7">
            <a:alphaModFix/>
          </a:blip>
          <a:srcRect/>
          <a:stretch/>
        </p:blipFill>
        <p:spPr>
          <a:xfrm>
            <a:off x="607219" y="3228975"/>
            <a:ext cx="171450" cy="171450"/>
          </a:xfrm>
          <a:prstGeom prst="rect">
            <a:avLst/>
          </a:prstGeom>
          <a:noFill/>
          <a:ln>
            <a:noFill/>
          </a:ln>
        </p:spPr>
      </p:pic>
      <p:pic>
        <p:nvPicPr>
          <p:cNvPr id="107" name="Google Shape;107;p13" descr="image.png"/>
          <p:cNvPicPr preferRelativeResize="0"/>
          <p:nvPr/>
        </p:nvPicPr>
        <p:blipFill rotWithShape="1">
          <a:blip r:embed="rId8">
            <a:alphaModFix/>
          </a:blip>
          <a:srcRect/>
          <a:stretch/>
        </p:blipFill>
        <p:spPr>
          <a:xfrm>
            <a:off x="3429000" y="3228975"/>
            <a:ext cx="171450" cy="171450"/>
          </a:xfrm>
          <a:prstGeom prst="rect">
            <a:avLst/>
          </a:prstGeom>
          <a:noFill/>
          <a:ln>
            <a:noFill/>
          </a:ln>
        </p:spPr>
      </p:pic>
      <p:pic>
        <p:nvPicPr>
          <p:cNvPr id="108" name="Google Shape;108;p13" descr="image.png"/>
          <p:cNvPicPr preferRelativeResize="0"/>
          <p:nvPr/>
        </p:nvPicPr>
        <p:blipFill rotWithShape="1">
          <a:blip r:embed="rId9">
            <a:alphaModFix/>
          </a:blip>
          <a:srcRect/>
          <a:stretch/>
        </p:blipFill>
        <p:spPr>
          <a:xfrm>
            <a:off x="6250781" y="3228975"/>
            <a:ext cx="128588" cy="171450"/>
          </a:xfrm>
          <a:prstGeom prst="rect">
            <a:avLst/>
          </a:prstGeom>
          <a:noFill/>
          <a:ln>
            <a:noFill/>
          </a:ln>
        </p:spPr>
      </p:pic>
      <p:sp>
        <p:nvSpPr>
          <p:cNvPr id="109" name="Google Shape;109;p13"/>
          <p:cNvSpPr txBox="1"/>
          <p:nvPr/>
        </p:nvSpPr>
        <p:spPr>
          <a:xfrm>
            <a:off x="571500" y="428625"/>
            <a:ext cx="8551069" cy="363626"/>
          </a:xfrm>
          <a:prstGeom prst="rect">
            <a:avLst/>
          </a:prstGeom>
          <a:noFill/>
          <a:ln>
            <a:noFill/>
          </a:ln>
        </p:spPr>
        <p:txBody>
          <a:bodyPr spcFirstLastPara="1" wrap="square" lIns="0" tIns="0" rIns="0" bIns="0" anchor="t" anchorCtr="0">
            <a:spAutoFit/>
          </a:bodyPr>
          <a:lstStyle/>
          <a:p>
            <a:r>
              <a:rPr lang="en-US" sz="2363" b="1" dirty="0">
                <a:solidFill>
                  <a:schemeClr val="bg1"/>
                </a:solidFill>
                <a:latin typeface="Poppins"/>
                <a:ea typeface="Poppins"/>
                <a:cs typeface="Poppins"/>
                <a:sym typeface="Poppins"/>
              </a:rPr>
              <a:t>EXECUTIVE SUMMARY: KEY FINDINGS</a:t>
            </a:r>
            <a:endParaRPr sz="1050" dirty="0">
              <a:solidFill>
                <a:schemeClr val="bg1"/>
              </a:solidFill>
            </a:endParaRPr>
          </a:p>
        </p:txBody>
      </p:sp>
      <p:sp>
        <p:nvSpPr>
          <p:cNvPr id="110" name="Google Shape;110;p13"/>
          <p:cNvSpPr/>
          <p:nvPr/>
        </p:nvSpPr>
        <p:spPr>
          <a:xfrm>
            <a:off x="428625" y="428626"/>
            <a:ext cx="42863" cy="450056"/>
          </a:xfrm>
          <a:prstGeom prst="rect">
            <a:avLst/>
          </a:prstGeom>
          <a:solidFill>
            <a:srgbClr val="F1C40F"/>
          </a:solidFill>
          <a:ln>
            <a:noFill/>
          </a:ln>
        </p:spPr>
        <p:txBody>
          <a:bodyPr spcFirstLastPara="1" wrap="square" lIns="68569" tIns="34275" rIns="68569" bIns="34275" anchor="ctr" anchorCtr="0">
            <a:noAutofit/>
          </a:bodyPr>
          <a:lstStyle/>
          <a:p>
            <a:pPr algn="ctr"/>
            <a:endParaRPr sz="135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pic>
        <p:nvPicPr>
          <p:cNvPr id="115" name="Google Shape;115;p14" descr="image.png"/>
          <p:cNvPicPr preferRelativeResize="0"/>
          <p:nvPr/>
        </p:nvPicPr>
        <p:blipFill rotWithShape="1">
          <a:blip r:embed="rId3">
            <a:alphaModFix/>
          </a:blip>
          <a:srcRect/>
          <a:stretch/>
        </p:blipFill>
        <p:spPr>
          <a:xfrm>
            <a:off x="0" y="0"/>
            <a:ext cx="9144000" cy="5143500"/>
          </a:xfrm>
          <a:prstGeom prst="rect">
            <a:avLst/>
          </a:prstGeom>
          <a:noFill/>
          <a:ln>
            <a:noFill/>
          </a:ln>
        </p:spPr>
      </p:pic>
      <p:pic>
        <p:nvPicPr>
          <p:cNvPr id="116" name="Google Shape;116;p14" descr="image.png"/>
          <p:cNvPicPr preferRelativeResize="0"/>
          <p:nvPr/>
        </p:nvPicPr>
        <p:blipFill rotWithShape="1">
          <a:blip r:embed="rId4">
            <a:alphaModFix/>
          </a:blip>
          <a:srcRect/>
          <a:stretch/>
        </p:blipFill>
        <p:spPr>
          <a:xfrm>
            <a:off x="4572000" y="0"/>
            <a:ext cx="4572000" cy="5143500"/>
          </a:xfrm>
          <a:prstGeom prst="rect">
            <a:avLst/>
          </a:prstGeom>
          <a:noFill/>
          <a:ln>
            <a:noFill/>
          </a:ln>
        </p:spPr>
      </p:pic>
      <p:sp>
        <p:nvSpPr>
          <p:cNvPr id="117" name="Google Shape;117;p14"/>
          <p:cNvSpPr txBox="1"/>
          <p:nvPr/>
        </p:nvSpPr>
        <p:spPr>
          <a:xfrm>
            <a:off x="428625" y="1757363"/>
            <a:ext cx="3900488" cy="173124"/>
          </a:xfrm>
          <a:prstGeom prst="rect">
            <a:avLst/>
          </a:prstGeom>
          <a:noFill/>
          <a:ln>
            <a:noFill/>
          </a:ln>
        </p:spPr>
        <p:txBody>
          <a:bodyPr spcFirstLastPara="1" wrap="square" lIns="0" tIns="0" rIns="0" bIns="0" anchor="t" anchorCtr="0">
            <a:spAutoFit/>
          </a:bodyPr>
          <a:lstStyle/>
          <a:p>
            <a:r>
              <a:rPr lang="en-US" sz="1125" b="1">
                <a:solidFill>
                  <a:srgbClr val="F1C40F"/>
                </a:solidFill>
                <a:latin typeface="Poppins"/>
                <a:ea typeface="Poppins"/>
                <a:cs typeface="Poppins"/>
                <a:sym typeface="Poppins"/>
              </a:rPr>
              <a:t>Key Limitations</a:t>
            </a:r>
            <a:endParaRPr sz="1050"/>
          </a:p>
        </p:txBody>
      </p:sp>
      <p:sp>
        <p:nvSpPr>
          <p:cNvPr id="118" name="Google Shape;118;p14"/>
          <p:cNvSpPr/>
          <p:nvPr/>
        </p:nvSpPr>
        <p:spPr>
          <a:xfrm>
            <a:off x="428625" y="2043113"/>
            <a:ext cx="3714750" cy="7144"/>
          </a:xfrm>
          <a:prstGeom prst="rect">
            <a:avLst/>
          </a:prstGeom>
          <a:solidFill>
            <a:srgbClr val="333333"/>
          </a:solidFill>
          <a:ln>
            <a:noFill/>
          </a:ln>
        </p:spPr>
        <p:txBody>
          <a:bodyPr spcFirstLastPara="1" wrap="square" lIns="68569" tIns="34275" rIns="68569" bIns="34275" anchor="ctr" anchorCtr="0">
            <a:noAutofit/>
          </a:bodyPr>
          <a:lstStyle/>
          <a:p>
            <a:pPr algn="ctr"/>
            <a:endParaRPr sz="1350">
              <a:solidFill>
                <a:schemeClr val="dk1"/>
              </a:solidFill>
              <a:latin typeface="Calibri"/>
              <a:ea typeface="Calibri"/>
              <a:cs typeface="Calibri"/>
              <a:sym typeface="Calibri"/>
            </a:endParaRPr>
          </a:p>
        </p:txBody>
      </p:sp>
      <p:sp>
        <p:nvSpPr>
          <p:cNvPr id="119" name="Google Shape;119;p14"/>
          <p:cNvSpPr txBox="1"/>
          <p:nvPr/>
        </p:nvSpPr>
        <p:spPr>
          <a:xfrm>
            <a:off x="428625" y="3429000"/>
            <a:ext cx="3900488" cy="173124"/>
          </a:xfrm>
          <a:prstGeom prst="rect">
            <a:avLst/>
          </a:prstGeom>
          <a:noFill/>
          <a:ln>
            <a:noFill/>
          </a:ln>
        </p:spPr>
        <p:txBody>
          <a:bodyPr spcFirstLastPara="1" wrap="square" lIns="0" tIns="0" rIns="0" bIns="0" anchor="t" anchorCtr="0">
            <a:spAutoFit/>
          </a:bodyPr>
          <a:lstStyle/>
          <a:p>
            <a:r>
              <a:rPr lang="en-US" sz="1125" b="1">
                <a:solidFill>
                  <a:srgbClr val="F1C40F"/>
                </a:solidFill>
                <a:latin typeface="Poppins"/>
                <a:ea typeface="Poppins"/>
                <a:cs typeface="Poppins"/>
                <a:sym typeface="Poppins"/>
              </a:rPr>
              <a:t>Future Directions</a:t>
            </a:r>
            <a:endParaRPr sz="1050"/>
          </a:p>
        </p:txBody>
      </p:sp>
      <p:sp>
        <p:nvSpPr>
          <p:cNvPr id="120" name="Google Shape;120;p14"/>
          <p:cNvSpPr/>
          <p:nvPr/>
        </p:nvSpPr>
        <p:spPr>
          <a:xfrm>
            <a:off x="428625" y="3714750"/>
            <a:ext cx="3714750" cy="7144"/>
          </a:xfrm>
          <a:prstGeom prst="rect">
            <a:avLst/>
          </a:prstGeom>
          <a:solidFill>
            <a:srgbClr val="333333"/>
          </a:solidFill>
          <a:ln>
            <a:noFill/>
          </a:ln>
        </p:spPr>
        <p:txBody>
          <a:bodyPr spcFirstLastPara="1" wrap="square" lIns="68569" tIns="34275" rIns="68569" bIns="34275" anchor="ctr" anchorCtr="0">
            <a:noAutofit/>
          </a:bodyPr>
          <a:lstStyle/>
          <a:p>
            <a:pPr algn="ctr"/>
            <a:endParaRPr sz="1350">
              <a:solidFill>
                <a:schemeClr val="dk1"/>
              </a:solidFill>
              <a:latin typeface="Calibri"/>
              <a:ea typeface="Calibri"/>
              <a:cs typeface="Calibri"/>
              <a:sym typeface="Calibri"/>
            </a:endParaRPr>
          </a:p>
        </p:txBody>
      </p:sp>
      <p:sp>
        <p:nvSpPr>
          <p:cNvPr id="121" name="Google Shape;121;p14"/>
          <p:cNvSpPr txBox="1"/>
          <p:nvPr/>
        </p:nvSpPr>
        <p:spPr>
          <a:xfrm>
            <a:off x="607219" y="2157413"/>
            <a:ext cx="3536156" cy="276999"/>
          </a:xfrm>
          <a:prstGeom prst="rect">
            <a:avLst/>
          </a:prstGeom>
          <a:noFill/>
          <a:ln>
            <a:noFill/>
          </a:ln>
        </p:spPr>
        <p:txBody>
          <a:bodyPr spcFirstLastPara="1" wrap="square" lIns="0" tIns="0" rIns="0" bIns="0" anchor="t" anchorCtr="0">
            <a:spAutoFit/>
          </a:bodyPr>
          <a:lstStyle/>
          <a:p>
            <a:r>
              <a:rPr lang="en-US" sz="900" b="1">
                <a:solidFill>
                  <a:srgbClr val="BDC3C7"/>
                </a:solidFill>
                <a:latin typeface="Lato"/>
                <a:ea typeface="Lato"/>
                <a:cs typeface="Lato"/>
                <a:sym typeface="Lato"/>
              </a:rPr>
              <a:t>NRC Sparsity:</a:t>
            </a:r>
            <a:r>
              <a:rPr lang="en-US" sz="900">
                <a:solidFill>
                  <a:srgbClr val="BDC3C7"/>
                </a:solidFill>
                <a:latin typeface="Lato"/>
                <a:ea typeface="Lato"/>
                <a:cs typeface="Lato"/>
                <a:sym typeface="Lato"/>
              </a:rPr>
              <a:t> 21.7% of tweets yielded zero emotion scores, adding signal noise.</a:t>
            </a:r>
            <a:endParaRPr sz="1050"/>
          </a:p>
        </p:txBody>
      </p:sp>
      <p:sp>
        <p:nvSpPr>
          <p:cNvPr id="122" name="Google Shape;122;p14"/>
          <p:cNvSpPr txBox="1"/>
          <p:nvPr/>
        </p:nvSpPr>
        <p:spPr>
          <a:xfrm>
            <a:off x="607219" y="2514601"/>
            <a:ext cx="3536156" cy="276999"/>
          </a:xfrm>
          <a:prstGeom prst="rect">
            <a:avLst/>
          </a:prstGeom>
          <a:noFill/>
          <a:ln>
            <a:noFill/>
          </a:ln>
        </p:spPr>
        <p:txBody>
          <a:bodyPr spcFirstLastPara="1" wrap="square" lIns="0" tIns="0" rIns="0" bIns="0" anchor="t" anchorCtr="0">
            <a:spAutoFit/>
          </a:bodyPr>
          <a:lstStyle/>
          <a:p>
            <a:r>
              <a:rPr lang="en-US" sz="900" b="1">
                <a:solidFill>
                  <a:srgbClr val="BDC3C7"/>
                </a:solidFill>
                <a:latin typeface="Lato"/>
                <a:ea typeface="Lato"/>
                <a:cs typeface="Lato"/>
                <a:sym typeface="Lato"/>
              </a:rPr>
              <a:t>Silver-Label Bias:</a:t>
            </a:r>
            <a:r>
              <a:rPr lang="en-US" sz="900">
                <a:solidFill>
                  <a:srgbClr val="BDC3C7"/>
                </a:solidFill>
                <a:latin typeface="Lato"/>
                <a:ea typeface="Lato"/>
                <a:cs typeface="Lato"/>
                <a:sym typeface="Lato"/>
              </a:rPr>
              <a:t> Evaluation against TextBlob rewards rule-mimicry over accuracy.</a:t>
            </a:r>
            <a:endParaRPr sz="1050"/>
          </a:p>
        </p:txBody>
      </p:sp>
      <p:sp>
        <p:nvSpPr>
          <p:cNvPr id="123" name="Google Shape;123;p14"/>
          <p:cNvSpPr txBox="1"/>
          <p:nvPr/>
        </p:nvSpPr>
        <p:spPr>
          <a:xfrm>
            <a:off x="607219" y="2871788"/>
            <a:ext cx="3536156" cy="276999"/>
          </a:xfrm>
          <a:prstGeom prst="rect">
            <a:avLst/>
          </a:prstGeom>
          <a:noFill/>
          <a:ln>
            <a:noFill/>
          </a:ln>
        </p:spPr>
        <p:txBody>
          <a:bodyPr spcFirstLastPara="1" wrap="square" lIns="0" tIns="0" rIns="0" bIns="0" anchor="t" anchorCtr="0">
            <a:spAutoFit/>
          </a:bodyPr>
          <a:lstStyle/>
          <a:p>
            <a:r>
              <a:rPr lang="en-US" sz="900" b="1">
                <a:solidFill>
                  <a:srgbClr val="BDC3C7"/>
                </a:solidFill>
                <a:latin typeface="Lato"/>
                <a:ea typeface="Lato"/>
                <a:cs typeface="Lato"/>
                <a:sym typeface="Lato"/>
              </a:rPr>
              <a:t>Feature Scope:</a:t>
            </a:r>
            <a:r>
              <a:rPr lang="en-US" sz="900">
                <a:solidFill>
                  <a:srgbClr val="BDC3C7"/>
                </a:solidFill>
                <a:latin typeface="Lato"/>
                <a:ea typeface="Lato"/>
                <a:cs typeface="Lato"/>
                <a:sym typeface="Lato"/>
              </a:rPr>
              <a:t> Omission of author metadata (followers) limits engagement variance explanation.</a:t>
            </a:r>
            <a:endParaRPr sz="1050"/>
          </a:p>
        </p:txBody>
      </p:sp>
      <p:sp>
        <p:nvSpPr>
          <p:cNvPr id="124" name="Google Shape;124;p14"/>
          <p:cNvSpPr txBox="1"/>
          <p:nvPr/>
        </p:nvSpPr>
        <p:spPr>
          <a:xfrm>
            <a:off x="607219" y="3829051"/>
            <a:ext cx="3536156" cy="276999"/>
          </a:xfrm>
          <a:prstGeom prst="rect">
            <a:avLst/>
          </a:prstGeom>
          <a:noFill/>
          <a:ln>
            <a:noFill/>
          </a:ln>
        </p:spPr>
        <p:txBody>
          <a:bodyPr spcFirstLastPara="1" wrap="square" lIns="0" tIns="0" rIns="0" bIns="0" anchor="t" anchorCtr="0">
            <a:spAutoFit/>
          </a:bodyPr>
          <a:lstStyle/>
          <a:p>
            <a:r>
              <a:rPr lang="en-US" sz="900" b="1">
                <a:solidFill>
                  <a:srgbClr val="BDC3C7"/>
                </a:solidFill>
                <a:latin typeface="Lato"/>
                <a:ea typeface="Lato"/>
                <a:cs typeface="Lato"/>
                <a:sym typeface="Lato"/>
              </a:rPr>
              <a:t>Human-in-the-loop:</a:t>
            </a:r>
            <a:r>
              <a:rPr lang="en-US" sz="900">
                <a:solidFill>
                  <a:srgbClr val="BDC3C7"/>
                </a:solidFill>
                <a:latin typeface="Lato"/>
                <a:ea typeface="Lato"/>
                <a:cs typeface="Lato"/>
                <a:sym typeface="Lato"/>
              </a:rPr>
              <a:t> Curate a small human-annotated "Gold Standard" test set for BERT.</a:t>
            </a:r>
            <a:endParaRPr sz="1050"/>
          </a:p>
        </p:txBody>
      </p:sp>
      <p:sp>
        <p:nvSpPr>
          <p:cNvPr id="125" name="Google Shape;125;p14"/>
          <p:cNvSpPr txBox="1"/>
          <p:nvPr/>
        </p:nvSpPr>
        <p:spPr>
          <a:xfrm>
            <a:off x="607219" y="4186238"/>
            <a:ext cx="3536156" cy="138499"/>
          </a:xfrm>
          <a:prstGeom prst="rect">
            <a:avLst/>
          </a:prstGeom>
          <a:noFill/>
          <a:ln>
            <a:noFill/>
          </a:ln>
        </p:spPr>
        <p:txBody>
          <a:bodyPr spcFirstLastPara="1" wrap="square" lIns="0" tIns="0" rIns="0" bIns="0" anchor="t" anchorCtr="0">
            <a:spAutoFit/>
          </a:bodyPr>
          <a:lstStyle/>
          <a:p>
            <a:r>
              <a:rPr lang="en-US" sz="900" b="1">
                <a:solidFill>
                  <a:srgbClr val="BDC3C7"/>
                </a:solidFill>
                <a:latin typeface="Lato"/>
                <a:ea typeface="Lato"/>
                <a:cs typeface="Lato"/>
                <a:sym typeface="Lato"/>
              </a:rPr>
              <a:t>Domain Specificity:</a:t>
            </a:r>
            <a:r>
              <a:rPr lang="en-US" sz="900">
                <a:solidFill>
                  <a:srgbClr val="BDC3C7"/>
                </a:solidFill>
                <a:latin typeface="Lato"/>
                <a:ea typeface="Lato"/>
                <a:cs typeface="Lato"/>
                <a:sym typeface="Lato"/>
              </a:rPr>
              <a:t> Fine-tune transformers on AU-political contexts.</a:t>
            </a:r>
            <a:endParaRPr sz="1050"/>
          </a:p>
        </p:txBody>
      </p:sp>
      <p:sp>
        <p:nvSpPr>
          <p:cNvPr id="126" name="Google Shape;126;p14"/>
          <p:cNvSpPr txBox="1"/>
          <p:nvPr/>
        </p:nvSpPr>
        <p:spPr>
          <a:xfrm>
            <a:off x="607219" y="4407694"/>
            <a:ext cx="3536156" cy="276999"/>
          </a:xfrm>
          <a:prstGeom prst="rect">
            <a:avLst/>
          </a:prstGeom>
          <a:noFill/>
          <a:ln>
            <a:noFill/>
          </a:ln>
        </p:spPr>
        <p:txBody>
          <a:bodyPr spcFirstLastPara="1" wrap="square" lIns="0" tIns="0" rIns="0" bIns="0" anchor="t" anchorCtr="0">
            <a:spAutoFit/>
          </a:bodyPr>
          <a:lstStyle/>
          <a:p>
            <a:r>
              <a:rPr lang="en-US" sz="900" b="1">
                <a:solidFill>
                  <a:srgbClr val="BDC3C7"/>
                </a:solidFill>
                <a:latin typeface="Lato"/>
                <a:ea typeface="Lato"/>
                <a:cs typeface="Lato"/>
                <a:sym typeface="Lato"/>
              </a:rPr>
              <a:t>Covariate Models:</a:t>
            </a:r>
            <a:r>
              <a:rPr lang="en-US" sz="900">
                <a:solidFill>
                  <a:srgbClr val="BDC3C7"/>
                </a:solidFill>
                <a:latin typeface="Lato"/>
                <a:ea typeface="Lato"/>
                <a:cs typeface="Lato"/>
                <a:sym typeface="Lato"/>
              </a:rPr>
              <a:t> Include author-level signals to improve engagement prediction.</a:t>
            </a:r>
            <a:endParaRPr sz="1050"/>
          </a:p>
        </p:txBody>
      </p:sp>
      <p:sp>
        <p:nvSpPr>
          <p:cNvPr id="127" name="Google Shape;127;p14"/>
          <p:cNvSpPr txBox="1"/>
          <p:nvPr/>
        </p:nvSpPr>
        <p:spPr>
          <a:xfrm>
            <a:off x="428625" y="2157413"/>
            <a:ext cx="114300" cy="138499"/>
          </a:xfrm>
          <a:prstGeom prst="rect">
            <a:avLst/>
          </a:prstGeom>
          <a:noFill/>
          <a:ln>
            <a:noFill/>
          </a:ln>
        </p:spPr>
        <p:txBody>
          <a:bodyPr spcFirstLastPara="1" wrap="square" lIns="0" tIns="0" rIns="0" bIns="0" anchor="t" anchorCtr="0">
            <a:spAutoFit/>
          </a:bodyPr>
          <a:lstStyle/>
          <a:p>
            <a:r>
              <a:rPr lang="en-US" sz="900">
                <a:solidFill>
                  <a:srgbClr val="F1C40F"/>
                </a:solidFill>
                <a:latin typeface="Lato"/>
                <a:ea typeface="Lato"/>
                <a:cs typeface="Lato"/>
                <a:sym typeface="Lato"/>
              </a:rPr>
              <a:t>→</a:t>
            </a:r>
            <a:endParaRPr sz="1050"/>
          </a:p>
        </p:txBody>
      </p:sp>
      <p:sp>
        <p:nvSpPr>
          <p:cNvPr id="128" name="Google Shape;128;p14"/>
          <p:cNvSpPr txBox="1"/>
          <p:nvPr/>
        </p:nvSpPr>
        <p:spPr>
          <a:xfrm>
            <a:off x="428625" y="2514601"/>
            <a:ext cx="114300" cy="138499"/>
          </a:xfrm>
          <a:prstGeom prst="rect">
            <a:avLst/>
          </a:prstGeom>
          <a:noFill/>
          <a:ln>
            <a:noFill/>
          </a:ln>
        </p:spPr>
        <p:txBody>
          <a:bodyPr spcFirstLastPara="1" wrap="square" lIns="0" tIns="0" rIns="0" bIns="0" anchor="t" anchorCtr="0">
            <a:spAutoFit/>
          </a:bodyPr>
          <a:lstStyle/>
          <a:p>
            <a:r>
              <a:rPr lang="en-US" sz="900">
                <a:solidFill>
                  <a:srgbClr val="F1C40F"/>
                </a:solidFill>
                <a:latin typeface="Lato"/>
                <a:ea typeface="Lato"/>
                <a:cs typeface="Lato"/>
                <a:sym typeface="Lato"/>
              </a:rPr>
              <a:t>→</a:t>
            </a:r>
            <a:endParaRPr sz="1050"/>
          </a:p>
        </p:txBody>
      </p:sp>
      <p:sp>
        <p:nvSpPr>
          <p:cNvPr id="129" name="Google Shape;129;p14"/>
          <p:cNvSpPr txBox="1"/>
          <p:nvPr/>
        </p:nvSpPr>
        <p:spPr>
          <a:xfrm>
            <a:off x="428625" y="2871788"/>
            <a:ext cx="114300" cy="138499"/>
          </a:xfrm>
          <a:prstGeom prst="rect">
            <a:avLst/>
          </a:prstGeom>
          <a:noFill/>
          <a:ln>
            <a:noFill/>
          </a:ln>
        </p:spPr>
        <p:txBody>
          <a:bodyPr spcFirstLastPara="1" wrap="square" lIns="0" tIns="0" rIns="0" bIns="0" anchor="t" anchorCtr="0">
            <a:spAutoFit/>
          </a:bodyPr>
          <a:lstStyle/>
          <a:p>
            <a:r>
              <a:rPr lang="en-US" sz="900">
                <a:solidFill>
                  <a:srgbClr val="F1C40F"/>
                </a:solidFill>
                <a:latin typeface="Lato"/>
                <a:ea typeface="Lato"/>
                <a:cs typeface="Lato"/>
                <a:sym typeface="Lato"/>
              </a:rPr>
              <a:t>→</a:t>
            </a:r>
            <a:endParaRPr sz="1050"/>
          </a:p>
        </p:txBody>
      </p:sp>
      <p:sp>
        <p:nvSpPr>
          <p:cNvPr id="130" name="Google Shape;130;p14"/>
          <p:cNvSpPr txBox="1"/>
          <p:nvPr/>
        </p:nvSpPr>
        <p:spPr>
          <a:xfrm>
            <a:off x="428625" y="3829051"/>
            <a:ext cx="114300" cy="138499"/>
          </a:xfrm>
          <a:prstGeom prst="rect">
            <a:avLst/>
          </a:prstGeom>
          <a:noFill/>
          <a:ln>
            <a:noFill/>
          </a:ln>
        </p:spPr>
        <p:txBody>
          <a:bodyPr spcFirstLastPara="1" wrap="square" lIns="0" tIns="0" rIns="0" bIns="0" anchor="t" anchorCtr="0">
            <a:spAutoFit/>
          </a:bodyPr>
          <a:lstStyle/>
          <a:p>
            <a:r>
              <a:rPr lang="en-US" sz="900">
                <a:solidFill>
                  <a:srgbClr val="F1C40F"/>
                </a:solidFill>
                <a:latin typeface="Lato"/>
                <a:ea typeface="Lato"/>
                <a:cs typeface="Lato"/>
                <a:sym typeface="Lato"/>
              </a:rPr>
              <a:t>→</a:t>
            </a:r>
            <a:endParaRPr sz="1050"/>
          </a:p>
        </p:txBody>
      </p:sp>
      <p:sp>
        <p:nvSpPr>
          <p:cNvPr id="131" name="Google Shape;131;p14"/>
          <p:cNvSpPr txBox="1"/>
          <p:nvPr/>
        </p:nvSpPr>
        <p:spPr>
          <a:xfrm>
            <a:off x="428625" y="4186238"/>
            <a:ext cx="114300" cy="138499"/>
          </a:xfrm>
          <a:prstGeom prst="rect">
            <a:avLst/>
          </a:prstGeom>
          <a:noFill/>
          <a:ln>
            <a:noFill/>
          </a:ln>
        </p:spPr>
        <p:txBody>
          <a:bodyPr spcFirstLastPara="1" wrap="square" lIns="0" tIns="0" rIns="0" bIns="0" anchor="t" anchorCtr="0">
            <a:spAutoFit/>
          </a:bodyPr>
          <a:lstStyle/>
          <a:p>
            <a:r>
              <a:rPr lang="en-US" sz="900">
                <a:solidFill>
                  <a:srgbClr val="F1C40F"/>
                </a:solidFill>
                <a:latin typeface="Lato"/>
                <a:ea typeface="Lato"/>
                <a:cs typeface="Lato"/>
                <a:sym typeface="Lato"/>
              </a:rPr>
              <a:t>→</a:t>
            </a:r>
            <a:endParaRPr sz="1050"/>
          </a:p>
        </p:txBody>
      </p:sp>
      <p:sp>
        <p:nvSpPr>
          <p:cNvPr id="132" name="Google Shape;132;p14"/>
          <p:cNvSpPr txBox="1"/>
          <p:nvPr/>
        </p:nvSpPr>
        <p:spPr>
          <a:xfrm>
            <a:off x="428625" y="4407694"/>
            <a:ext cx="114300" cy="138499"/>
          </a:xfrm>
          <a:prstGeom prst="rect">
            <a:avLst/>
          </a:prstGeom>
          <a:noFill/>
          <a:ln>
            <a:noFill/>
          </a:ln>
        </p:spPr>
        <p:txBody>
          <a:bodyPr spcFirstLastPara="1" wrap="square" lIns="0" tIns="0" rIns="0" bIns="0" anchor="t" anchorCtr="0">
            <a:spAutoFit/>
          </a:bodyPr>
          <a:lstStyle/>
          <a:p>
            <a:r>
              <a:rPr lang="en-US" sz="900">
                <a:solidFill>
                  <a:srgbClr val="F1C40F"/>
                </a:solidFill>
                <a:latin typeface="Lato"/>
                <a:ea typeface="Lato"/>
                <a:cs typeface="Lato"/>
                <a:sym typeface="Lato"/>
              </a:rPr>
              <a:t>→</a:t>
            </a:r>
            <a:endParaRPr sz="1050"/>
          </a:p>
        </p:txBody>
      </p:sp>
      <p:sp>
        <p:nvSpPr>
          <p:cNvPr id="133" name="Google Shape;133;p14"/>
          <p:cNvSpPr txBox="1"/>
          <p:nvPr/>
        </p:nvSpPr>
        <p:spPr>
          <a:xfrm>
            <a:off x="571500" y="571500"/>
            <a:ext cx="3750469" cy="727250"/>
          </a:xfrm>
          <a:prstGeom prst="rect">
            <a:avLst/>
          </a:prstGeom>
          <a:noFill/>
          <a:ln>
            <a:noFill/>
          </a:ln>
        </p:spPr>
        <p:txBody>
          <a:bodyPr spcFirstLastPara="1" wrap="square" lIns="0" tIns="0" rIns="0" bIns="0" anchor="t" anchorCtr="0">
            <a:spAutoFit/>
          </a:bodyPr>
          <a:lstStyle/>
          <a:p>
            <a:r>
              <a:rPr lang="en-US" sz="2363" b="1" dirty="0">
                <a:solidFill>
                  <a:schemeClr val="bg1"/>
                </a:solidFill>
                <a:latin typeface="Poppins"/>
                <a:ea typeface="Poppins"/>
                <a:cs typeface="Poppins"/>
                <a:sym typeface="Poppins"/>
              </a:rPr>
              <a:t>ROADMAP &amp; CONSTRAINTS</a:t>
            </a:r>
            <a:endParaRPr sz="1050" dirty="0">
              <a:solidFill>
                <a:schemeClr val="bg1"/>
              </a:solidFill>
            </a:endParaRPr>
          </a:p>
        </p:txBody>
      </p:sp>
      <p:sp>
        <p:nvSpPr>
          <p:cNvPr id="134" name="Google Shape;134;p14"/>
          <p:cNvSpPr/>
          <p:nvPr/>
        </p:nvSpPr>
        <p:spPr>
          <a:xfrm>
            <a:off x="428625" y="571500"/>
            <a:ext cx="42863" cy="900113"/>
          </a:xfrm>
          <a:prstGeom prst="rect">
            <a:avLst/>
          </a:prstGeom>
          <a:solidFill>
            <a:srgbClr val="F1C40F"/>
          </a:solidFill>
          <a:ln>
            <a:noFill/>
          </a:ln>
        </p:spPr>
        <p:txBody>
          <a:bodyPr spcFirstLastPara="1" wrap="square" lIns="68569" tIns="34275" rIns="68569" bIns="34275" anchor="ctr" anchorCtr="0">
            <a:noAutofit/>
          </a:bodyPr>
          <a:lstStyle/>
          <a:p>
            <a:pPr algn="ctr"/>
            <a:endParaRPr sz="135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B1829"/>
        </a:solidFill>
        <a:effectLst/>
      </p:bgPr>
    </p:bg>
    <p:spTree>
      <p:nvGrpSpPr>
        <p:cNvPr id="1" name="Shape 1062"/>
        <p:cNvGrpSpPr/>
        <p:nvPr/>
      </p:nvGrpSpPr>
      <p:grpSpPr>
        <a:xfrm>
          <a:off x="0" y="0"/>
          <a:ext cx="0" cy="0"/>
          <a:chOff x="0" y="0"/>
          <a:chExt cx="0" cy="0"/>
        </a:xfrm>
      </p:grpSpPr>
      <p:sp>
        <p:nvSpPr>
          <p:cNvPr id="1065" name="Google Shape;1065;p50"/>
          <p:cNvSpPr/>
          <p:nvPr/>
        </p:nvSpPr>
        <p:spPr>
          <a:xfrm>
            <a:off x="1371600" y="1143000"/>
            <a:ext cx="6400800" cy="96012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FFFFFF"/>
              </a:buClr>
              <a:buSzPts val="5400"/>
              <a:buFont typeface="Calibri"/>
              <a:buNone/>
            </a:pPr>
            <a:r>
              <a:rPr lang="en-US" sz="5400" b="1" i="0" u="none" strike="noStrike" cap="none">
                <a:solidFill>
                  <a:srgbClr val="FFFFFF"/>
                </a:solidFill>
                <a:latin typeface="Calibri"/>
                <a:ea typeface="Calibri"/>
                <a:cs typeface="Calibri"/>
                <a:sym typeface="Calibri"/>
              </a:rPr>
              <a:t>THANK YOU</a:t>
            </a:r>
            <a:endParaRPr sz="5400" b="0" i="0" u="none" strike="noStrike" cap="none">
              <a:solidFill>
                <a:schemeClr val="dk1"/>
              </a:solidFill>
              <a:latin typeface="Calibri"/>
              <a:ea typeface="Calibri"/>
              <a:cs typeface="Calibri"/>
              <a:sym typeface="Calibri"/>
            </a:endParaRPr>
          </a:p>
        </p:txBody>
      </p:sp>
      <p:sp>
        <p:nvSpPr>
          <p:cNvPr id="1066" name="Google Shape;1066;p50"/>
          <p:cNvSpPr/>
          <p:nvPr/>
        </p:nvSpPr>
        <p:spPr>
          <a:xfrm>
            <a:off x="3200400" y="2176272"/>
            <a:ext cx="2743200" cy="54864"/>
          </a:xfrm>
          <a:prstGeom prst="rect">
            <a:avLst/>
          </a:prstGeom>
          <a:solidFill>
            <a:srgbClr val="00C2D4"/>
          </a:solidFill>
          <a:ln w="12700" cap="flat" cmpd="sng">
            <a:solidFill>
              <a:srgbClr val="00C2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50"/>
          <p:cNvSpPr/>
          <p:nvPr/>
        </p:nvSpPr>
        <p:spPr>
          <a:xfrm>
            <a:off x="1371600" y="2286000"/>
            <a:ext cx="6400800" cy="384048"/>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B90AA"/>
              </a:buClr>
              <a:buSzPts val="1300"/>
              <a:buFont typeface="Calibri"/>
              <a:buNone/>
            </a:pPr>
            <a:r>
              <a:rPr lang="en-US" sz="1300" b="0" i="1" u="none" strike="noStrike" cap="none">
                <a:solidFill>
                  <a:srgbClr val="6B90AA"/>
                </a:solidFill>
                <a:latin typeface="Calibri"/>
                <a:ea typeface="Calibri"/>
                <a:cs typeface="Calibri"/>
                <a:sym typeface="Calibri"/>
              </a:rPr>
              <a:t>OPIM 5671 — Data Mining &amp; Time Series Forecasting</a:t>
            </a:r>
            <a:endParaRPr sz="1300" b="0" i="0" u="none" strike="noStrike" cap="none">
              <a:solidFill>
                <a:schemeClr val="dk1"/>
              </a:solidFill>
              <a:latin typeface="Calibri"/>
              <a:ea typeface="Calibri"/>
              <a:cs typeface="Calibri"/>
              <a:sym typeface="Calibri"/>
            </a:endParaRPr>
          </a:p>
        </p:txBody>
      </p:sp>
      <p:sp>
        <p:nvSpPr>
          <p:cNvPr id="1068" name="Google Shape;1068;p50"/>
          <p:cNvSpPr/>
          <p:nvPr/>
        </p:nvSpPr>
        <p:spPr>
          <a:xfrm>
            <a:off x="1371600" y="2724912"/>
            <a:ext cx="6400800" cy="34747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rgbClr val="6B90AA"/>
              </a:buClr>
              <a:buSzPts val="1200"/>
              <a:buFont typeface="Calibri"/>
              <a:buNone/>
            </a:pPr>
            <a:r>
              <a:rPr lang="en-US" sz="1200" b="0" i="0" u="none" strike="noStrike" cap="none">
                <a:solidFill>
                  <a:srgbClr val="6B90AA"/>
                </a:solidFill>
                <a:latin typeface="Calibri"/>
                <a:ea typeface="Calibri"/>
                <a:cs typeface="Calibri"/>
                <a:sym typeface="Calibri"/>
              </a:rPr>
              <a:t>University of Connecticut  |  Spring 2026</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317</TotalTime>
  <Words>3107</Words>
  <Application>Microsoft Office PowerPoint</Application>
  <PresentationFormat>On-screen Show (16:9)</PresentationFormat>
  <Paragraphs>532</Paragraphs>
  <Slides>46</Slides>
  <Notes>46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Arial</vt:lpstr>
      <vt:lpstr>Calibri</vt:lpstr>
      <vt:lpstr>Lato</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 Tracie</cp:lastModifiedBy>
  <cp:revision>3</cp:revision>
  <dcterms:modified xsi:type="dcterms:W3CDTF">2026-04-22T21:23:47Z</dcterms:modified>
</cp:coreProperties>
</file>